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81" r:id="rId3"/>
    <p:sldId id="282" r:id="rId4"/>
    <p:sldId id="259" r:id="rId5"/>
    <p:sldId id="260" r:id="rId6"/>
    <p:sldId id="262" r:id="rId7"/>
    <p:sldId id="283" r:id="rId8"/>
    <p:sldId id="264" r:id="rId9"/>
    <p:sldId id="265" r:id="rId10"/>
    <p:sldId id="266" r:id="rId11"/>
    <p:sldId id="267" r:id="rId12"/>
    <p:sldId id="268" r:id="rId13"/>
    <p:sldId id="284" r:id="rId14"/>
    <p:sldId id="270" r:id="rId15"/>
    <p:sldId id="271" r:id="rId16"/>
    <p:sldId id="285" r:id="rId17"/>
    <p:sldId id="273" r:id="rId18"/>
    <p:sldId id="274" r:id="rId19"/>
    <p:sldId id="275" r:id="rId20"/>
    <p:sldId id="286" r:id="rId21"/>
    <p:sldId id="276" r:id="rId22"/>
    <p:sldId id="277" r:id="rId23"/>
    <p:sldId id="278" r:id="rId24"/>
    <p:sldId id="287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E0B85-1570-42E5-A470-CD60031DA3F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7EB30-CA07-466F-B7CB-64BBF797E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18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537D-F53E-47C4-A83E-CCB095380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F79E6-0FED-429B-80CD-00E2D3D8C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9520F-A019-4EFF-B54D-ABC4699E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13CC-14BB-401F-97C5-EDCE5DFF6FF4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B5711-7F4F-46D9-8673-80AD7EED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03D27-E4BE-4544-81A8-674C728A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15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6875-0F16-4CD9-A7C9-D91E17E4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ABBA-62A1-4F0B-B722-4F5777667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C98D5-B3ED-46AF-A9EC-E3D129F5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3683-B418-4383-9D33-3DAAF9B5D79E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475EA-8743-4AF9-BA12-59F32836A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D018E-28F9-4A13-9F22-88FB189D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1AF00-55A1-400F-9982-9E10DE8F52A5}"/>
              </a:ext>
            </a:extLst>
          </p:cNvPr>
          <p:cNvSpPr/>
          <p:nvPr userDrawn="1"/>
        </p:nvSpPr>
        <p:spPr>
          <a:xfrm>
            <a:off x="0" y="0"/>
            <a:ext cx="12192000" cy="5378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5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2E0-6EF7-4057-AE4B-922D32EB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C9D60-D1C3-4808-A19B-7F0CE4E4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4C6B9-6AB9-4155-8FFB-684066CB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B97D-1085-4B64-8C1B-1D2060E561E7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9075C-5965-4646-A2FB-2505EA9E1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2EF72-410D-4D23-8AE1-F6A0EDD7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4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4739-C445-4FDE-85E6-5787B579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C0CAE-9A0A-45D0-A1C5-4A0798D3D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6A60E-AC76-4700-AD2F-FFF14020A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D22D3-6F16-4E34-95F2-9907D906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8282-EC73-4E57-8B04-43387C75DB91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ED560-122C-4F4F-9C92-17F4C05C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7812E-4006-49BF-9EBF-FB31381E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CCDC-7B5A-4933-8968-7F464C0D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16AF5-CD68-4892-8B8F-98DFE331C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2E97D-A99B-45ED-A321-3021630F7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38EE-5DCF-4BE3-8672-365481007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73FA7-52C4-47A4-A182-7DB50B47A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843564-31A9-4923-857C-4B67BC92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A055-C3F6-4E73-B086-0FD9FCD0C792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17A9E-6A08-4145-9BF9-10734AC0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7F86E-3CB0-40FE-BCB9-A248091D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6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F49F-87CF-485E-801A-360FDB21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8C38E-A794-46E7-912E-7016EA77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18BFC-7707-419B-8FE2-CC6169DF58AE}" type="datetime1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282E4-49E2-429B-AD93-2F7DC76C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A511-86BA-43E7-A9B3-DC2EFA50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9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090C0-CFC1-44AD-93CD-97425ABE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C33A-9B8A-4129-9955-5D8428B6433D}" type="datetime1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5B4722-8B4D-4D5E-91DA-78E31233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C4D7F-D798-403E-8BE0-D6885250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7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5E4C-6227-41D7-9C85-ADAF4F40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A568-5C62-49CC-8F83-5620456F2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5CE71-61F4-43A9-8039-AFCDE3A6C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E808B-9F69-4490-9809-09C688C9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6DA9-C19C-472C-805C-F949BAC7CEA5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5EE49-AEE6-45F5-812F-AA7880E2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5CE85-73F2-468A-A036-9AD3B89F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2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CEB9-56B2-48EA-A44F-FEAFD490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10298-534A-4034-9BED-CB5302382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5BDA7-AEF4-4EB5-9FB0-82D499EE2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92B6D-C9F5-421E-BF0F-751A3B68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D97-9938-4FB5-AAC4-1063A7D8846C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26656-26A9-4687-A7F9-26C27DEF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9E599-31BD-43E2-AE5E-8B0B353D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6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4B50-A9EB-4CFB-93FC-480FD956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BE907-3068-4B23-ACAD-FA2FF8539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177D-CEDF-408A-8188-3B357259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C1A2A-57AD-41C4-900C-44681F244EE1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CD38-42D3-4249-A35C-34C7D77A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5D8B7-8608-43B2-8040-A05AC9C8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31F88-EF31-4254-BCD6-BDE3B05F8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349AB-9C1F-4AEC-AD90-BE5DBE0B7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71E70-3486-40D4-861D-8D10D258D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7A2A-AEC8-494A-B814-DAA894641699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4E761-AC01-47DD-B8DE-9A5ACE94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710A2-B3EB-4BD2-A463-D8484C63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1B183-9EB6-465D-AF50-80E8E74A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6B928-8695-47CD-948A-87BEA3C65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6EC01-4D9A-40B3-8D28-D946ED04F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9207C-3B04-4B31-8A47-451F19E57622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8362-5976-4C11-B467-DDC6F3739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FC8A-BBF9-433F-8635-82EE9570E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8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80CD-E74B-4073-BE9D-31B4AE96C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959" y="714188"/>
            <a:ext cx="10520082" cy="277756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System Analysis and Design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Chapter 2: User requirements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23161-1052-4FF1-9CF5-A66CCD3B7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188" y="5009496"/>
            <a:ext cx="9493624" cy="1655762"/>
          </a:xfrm>
        </p:spPr>
        <p:txBody>
          <a:bodyPr/>
          <a:lstStyle/>
          <a:p>
            <a:r>
              <a:rPr lang="en-US" dirty="0" err="1"/>
              <a:t>Trương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r>
              <a:rPr lang="en-GB" dirty="0"/>
              <a:t>Faculty of Information Systems – CICT– Can Tho University</a:t>
            </a:r>
          </a:p>
        </p:txBody>
      </p:sp>
    </p:spTree>
    <p:extLst>
      <p:ext uri="{BB962C8B-B14F-4D97-AF65-F5344CB8AC3E}">
        <p14:creationId xmlns:p14="http://schemas.microsoft.com/office/powerpoint/2010/main" val="39646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9B5B-FFE3-5385-29A1-00D7EECF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5666-274B-E46E-7CA3-B05CC2BF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Basic concepts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70419B-03D7-34D1-5F11-AD6CEB20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6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35DBE-9463-C654-6AA2-0F97CA6A6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BF3D-9215-0430-6A51-62D8A293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D991D-C15C-0BDF-E27C-FF0E89A08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rgbClr val="FF0000"/>
                </a:solidFill>
              </a:rPr>
              <a:t>The As-Is system</a:t>
            </a:r>
            <a:r>
              <a:rPr lang="en-GB" dirty="0"/>
              <a:t> is the </a:t>
            </a:r>
            <a:r>
              <a:rPr lang="en-GB" dirty="0">
                <a:solidFill>
                  <a:srgbClr val="0070C0"/>
                </a:solidFill>
              </a:rPr>
              <a:t>current system</a:t>
            </a:r>
            <a:r>
              <a:rPr lang="en-GB" dirty="0"/>
              <a:t> and may or </a:t>
            </a:r>
            <a:r>
              <a:rPr lang="en-GB" dirty="0">
                <a:solidFill>
                  <a:srgbClr val="00B050"/>
                </a:solidFill>
              </a:rPr>
              <a:t>may not be computerized</a:t>
            </a:r>
            <a:r>
              <a:rPr lang="en-GB" dirty="0"/>
              <a:t>.</a:t>
            </a:r>
          </a:p>
          <a:p>
            <a:pPr algn="just"/>
            <a:r>
              <a:rPr lang="en-GB" dirty="0">
                <a:solidFill>
                  <a:srgbClr val="FF0000"/>
                </a:solidFill>
              </a:rPr>
              <a:t>The To-Be system</a:t>
            </a:r>
            <a:r>
              <a:rPr lang="en-GB" dirty="0"/>
              <a:t> is the </a:t>
            </a:r>
            <a:r>
              <a:rPr lang="en-GB" dirty="0">
                <a:solidFill>
                  <a:srgbClr val="0070C0"/>
                </a:solidFill>
              </a:rPr>
              <a:t>new system</a:t>
            </a:r>
            <a:r>
              <a:rPr lang="en-GB" dirty="0"/>
              <a:t> that is </a:t>
            </a:r>
            <a:r>
              <a:rPr lang="en-GB" dirty="0">
                <a:solidFill>
                  <a:srgbClr val="00B050"/>
                </a:solidFill>
              </a:rPr>
              <a:t>based on updated requirements</a:t>
            </a:r>
            <a:r>
              <a:rPr lang="en-GB" dirty="0"/>
              <a:t>.</a:t>
            </a:r>
          </a:p>
          <a:p>
            <a:pPr algn="just"/>
            <a:r>
              <a:rPr lang="en-GB" dirty="0">
                <a:solidFill>
                  <a:srgbClr val="FF0000"/>
                </a:solidFill>
              </a:rPr>
              <a:t>The System Proposal</a:t>
            </a:r>
            <a:r>
              <a:rPr lang="en-GB" dirty="0"/>
              <a:t> is the </a:t>
            </a:r>
            <a:r>
              <a:rPr lang="en-GB" dirty="0">
                <a:solidFill>
                  <a:srgbClr val="0070C0"/>
                </a:solidFill>
              </a:rPr>
              <a:t>key deliverable</a:t>
            </a:r>
            <a:r>
              <a:rPr lang="en-GB" dirty="0"/>
              <a:t> from the </a:t>
            </a:r>
            <a:r>
              <a:rPr lang="en-GB" dirty="0">
                <a:solidFill>
                  <a:srgbClr val="00B050"/>
                </a:solidFill>
              </a:rPr>
              <a:t>Analysis Phase</a:t>
            </a:r>
            <a:r>
              <a:rPr lang="en-GB" dirty="0"/>
              <a:t>.</a:t>
            </a:r>
          </a:p>
          <a:p>
            <a:pPr marL="0" indent="0" algn="just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50AD0-4B21-B087-E15E-C82AA4B8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BEBAE-A8A1-6885-45C8-E4C578FEFA63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  <p:pic>
        <p:nvPicPr>
          <p:cNvPr id="1026" name="Picture 2" descr="Sự khác nhau giữa As-Is và To-Be trong thuật ngữ quản lý dự án | AGILEAN  Solutions">
            <a:extLst>
              <a:ext uri="{FF2B5EF4-FFF2-40B4-BE49-F238E27FC236}">
                <a16:creationId xmlns:a16="http://schemas.microsoft.com/office/drawing/2014/main" id="{84AF47FD-D6C3-35B5-1A22-1C608C1F1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366" y="4193979"/>
            <a:ext cx="4559268" cy="252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84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DB4E-ABAA-4A88-8E6E-FD31E1829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B39F-D334-4982-99AA-3041CCC51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A11FA-19E6-48CD-BBED-03772E3C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D2DF5-F8AC-4D91-B07A-0CA68DE5CA7C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  <p:pic>
        <p:nvPicPr>
          <p:cNvPr id="5122" name="Picture 2" descr="Project Reqirements">
            <a:extLst>
              <a:ext uri="{FF2B5EF4-FFF2-40B4-BE49-F238E27FC236}">
                <a16:creationId xmlns:a16="http://schemas.microsoft.com/office/drawing/2014/main" id="{415AA26D-9824-4ACB-9ADD-2EF1E4FEF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969" y="1831051"/>
            <a:ext cx="9696061" cy="434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636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D6170-4E20-49C1-9F74-F9AAADA4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77E6D-BEEB-4595-9501-2BB1525D3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User requirement</a:t>
            </a:r>
          </a:p>
          <a:p>
            <a:pPr lvl="1"/>
            <a:r>
              <a:rPr lang="en-GB" dirty="0"/>
              <a:t>Expressed in </a:t>
            </a:r>
            <a:r>
              <a:rPr lang="en-GB" dirty="0">
                <a:solidFill>
                  <a:srgbClr val="FF0000"/>
                </a:solidFill>
              </a:rPr>
              <a:t>natural language</a:t>
            </a:r>
          </a:p>
          <a:p>
            <a:pPr lvl="1"/>
            <a:r>
              <a:rPr lang="en-GB" dirty="0"/>
              <a:t>May include </a:t>
            </a:r>
            <a:r>
              <a:rPr lang="en-GB" dirty="0">
                <a:solidFill>
                  <a:srgbClr val="FF0000"/>
                </a:solidFill>
              </a:rPr>
              <a:t>diagrams and visual models</a:t>
            </a:r>
          </a:p>
          <a:p>
            <a:pPr lvl="1"/>
            <a:r>
              <a:rPr lang="en-GB" dirty="0"/>
              <a:t>Specifies </a:t>
            </a:r>
            <a:r>
              <a:rPr lang="en-GB" dirty="0">
                <a:solidFill>
                  <a:srgbClr val="FF0000"/>
                </a:solidFill>
              </a:rPr>
              <a:t>system services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operational constraints</a:t>
            </a:r>
          </a:p>
          <a:p>
            <a:pPr lvl="1"/>
            <a:r>
              <a:rPr lang="en-GB" dirty="0"/>
              <a:t>Intended for the </a:t>
            </a:r>
            <a:r>
              <a:rPr lang="en-GB" dirty="0">
                <a:solidFill>
                  <a:srgbClr val="FF0000"/>
                </a:solidFill>
              </a:rPr>
              <a:t>end user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System requirement</a:t>
            </a:r>
          </a:p>
          <a:p>
            <a:pPr lvl="1"/>
            <a:r>
              <a:rPr lang="en-GB" dirty="0"/>
              <a:t>A detailed </a:t>
            </a:r>
            <a:r>
              <a:rPr lang="en-GB" dirty="0">
                <a:solidFill>
                  <a:srgbClr val="FF0000"/>
                </a:solidFill>
              </a:rPr>
              <a:t>specification document</a:t>
            </a:r>
          </a:p>
          <a:p>
            <a:pPr lvl="1"/>
            <a:r>
              <a:rPr lang="en-GB" dirty="0"/>
              <a:t>Describes </a:t>
            </a:r>
            <a:r>
              <a:rPr lang="en-GB" dirty="0">
                <a:solidFill>
                  <a:srgbClr val="FF0000"/>
                </a:solidFill>
              </a:rPr>
              <a:t>functions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services</a:t>
            </a:r>
            <a:r>
              <a:rPr lang="en-GB" dirty="0"/>
              <a:t>, and </a:t>
            </a:r>
            <a:r>
              <a:rPr lang="en-GB" dirty="0">
                <a:solidFill>
                  <a:srgbClr val="FF0000"/>
                </a:solidFill>
              </a:rPr>
              <a:t>constraints</a:t>
            </a:r>
            <a:r>
              <a:rPr lang="en-GB" dirty="0"/>
              <a:t> of the system</a:t>
            </a:r>
          </a:p>
          <a:p>
            <a:pPr lvl="1"/>
            <a:r>
              <a:rPr lang="en-GB" dirty="0"/>
              <a:t>Defines </a:t>
            </a:r>
            <a:r>
              <a:rPr lang="en-GB" dirty="0">
                <a:solidFill>
                  <a:srgbClr val="FF0000"/>
                </a:solidFill>
              </a:rPr>
              <a:t>implementation requirements</a:t>
            </a:r>
          </a:p>
          <a:p>
            <a:pPr lvl="1"/>
            <a:r>
              <a:rPr lang="en-GB" dirty="0"/>
              <a:t>Serves as a </a:t>
            </a:r>
            <a:r>
              <a:rPr lang="en-GB" dirty="0">
                <a:solidFill>
                  <a:srgbClr val="00B050"/>
                </a:solidFill>
              </a:rPr>
              <a:t>contractual basis</a:t>
            </a:r>
            <a:r>
              <a:rPr lang="en-GB" dirty="0"/>
              <a:t> for system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3410C-D27A-4805-8987-A2E8AED0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D7E6B-9D37-437F-B47A-AF8831D5B31B}"/>
              </a:ext>
            </a:extLst>
          </p:cNvPr>
          <p:cNvSpPr txBox="1"/>
          <p:nvPr/>
        </p:nvSpPr>
        <p:spPr>
          <a:xfrm>
            <a:off x="4329953" y="107577"/>
            <a:ext cx="7777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</p:spTree>
    <p:extLst>
      <p:ext uri="{BB962C8B-B14F-4D97-AF65-F5344CB8AC3E}">
        <p14:creationId xmlns:p14="http://schemas.microsoft.com/office/powerpoint/2010/main" val="411609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D6170-4E20-49C1-9F74-F9AAADA4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77E6D-BEEB-4595-9501-2BB1525D3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Functional Requirements</a:t>
            </a:r>
          </a:p>
          <a:p>
            <a:pPr lvl="1"/>
            <a:r>
              <a:rPr lang="en-GB" dirty="0"/>
              <a:t>A </a:t>
            </a:r>
            <a:r>
              <a:rPr lang="en-GB" dirty="0">
                <a:solidFill>
                  <a:srgbClr val="0070C0"/>
                </a:solidFill>
              </a:rPr>
              <a:t>process</a:t>
            </a:r>
            <a:r>
              <a:rPr lang="en-GB" dirty="0"/>
              <a:t> the system </a:t>
            </a:r>
            <a:r>
              <a:rPr lang="en-GB" dirty="0">
                <a:solidFill>
                  <a:srgbClr val="0070C0"/>
                </a:solidFill>
              </a:rPr>
              <a:t>has to perform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Information</a:t>
            </a:r>
            <a:r>
              <a:rPr lang="en-GB" dirty="0"/>
              <a:t> the system </a:t>
            </a:r>
            <a:r>
              <a:rPr lang="en-GB" dirty="0">
                <a:solidFill>
                  <a:srgbClr val="0070C0"/>
                </a:solidFill>
              </a:rPr>
              <a:t>must contain</a:t>
            </a:r>
          </a:p>
          <a:p>
            <a:r>
              <a:rPr lang="en-GB" dirty="0">
                <a:solidFill>
                  <a:srgbClr val="FF0000"/>
                </a:solidFill>
              </a:rPr>
              <a:t>Nonfunctional Requirements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Behavioral properties</a:t>
            </a:r>
            <a:r>
              <a:rPr lang="en-GB" dirty="0"/>
              <a:t> the system must have</a:t>
            </a:r>
          </a:p>
          <a:p>
            <a:pPr lvl="2"/>
            <a:r>
              <a:rPr lang="en-GB" dirty="0"/>
              <a:t>Operational</a:t>
            </a:r>
          </a:p>
          <a:p>
            <a:pPr lvl="2"/>
            <a:r>
              <a:rPr lang="en-GB" dirty="0"/>
              <a:t>Performance</a:t>
            </a:r>
          </a:p>
          <a:p>
            <a:pPr lvl="2"/>
            <a:r>
              <a:rPr lang="en-GB" dirty="0"/>
              <a:t>Security</a:t>
            </a:r>
          </a:p>
          <a:p>
            <a:pPr lvl="2"/>
            <a:r>
              <a:rPr lang="en-GB" dirty="0"/>
              <a:t>Cultural and political</a:t>
            </a:r>
          </a:p>
          <a:p>
            <a:pPr lvl="2"/>
            <a:r>
              <a:rPr lang="en-GB" dirty="0"/>
              <a:t>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3410C-D27A-4805-8987-A2E8AED0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D7E6B-9D37-437F-B47A-AF8831D5B31B}"/>
              </a:ext>
            </a:extLst>
          </p:cNvPr>
          <p:cNvSpPr txBox="1"/>
          <p:nvPr/>
        </p:nvSpPr>
        <p:spPr>
          <a:xfrm>
            <a:off x="4329953" y="107577"/>
            <a:ext cx="7777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  <p:pic>
        <p:nvPicPr>
          <p:cNvPr id="2050" name="Picture 2" descr="Non Functional Requirements – Caminao's Ways">
            <a:extLst>
              <a:ext uri="{FF2B5EF4-FFF2-40B4-BE49-F238E27FC236}">
                <a16:creationId xmlns:a16="http://schemas.microsoft.com/office/drawing/2014/main" id="{0E501FEF-97F4-9B40-04F1-10B6C1B81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124" y="2189583"/>
            <a:ext cx="4957666" cy="247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533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D3DD1-E9CC-FC27-0B4E-D9B70C34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7DD0-ED4A-3066-654F-CB7A6A9FF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Requirements Management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28778B-FAF8-EAB3-50A9-AA50C03B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76FB-1A5F-4674-BCC6-96FBE7EB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9DC21-1043-4478-ADDF-9A5AE1149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Feasibility studies</a:t>
            </a:r>
          </a:p>
          <a:p>
            <a:r>
              <a:rPr lang="en-US" dirty="0"/>
              <a:t>Requirements elicitation and analysis</a:t>
            </a:r>
          </a:p>
          <a:p>
            <a:r>
              <a:rPr lang="en-US" dirty="0"/>
              <a:t>Requirements validation</a:t>
            </a:r>
          </a:p>
          <a:p>
            <a:r>
              <a:rPr lang="en-US" dirty="0"/>
              <a:t>Requirements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69613-B209-47FB-B1E3-6938532D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DAAEC-A6AF-4A3C-9B62-D1B2AF23572F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Requirements Management Process</a:t>
            </a:r>
          </a:p>
        </p:txBody>
      </p:sp>
    </p:spTree>
    <p:extLst>
      <p:ext uri="{BB962C8B-B14F-4D97-AF65-F5344CB8AC3E}">
        <p14:creationId xmlns:p14="http://schemas.microsoft.com/office/powerpoint/2010/main" val="283526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379A-60ED-4F0E-B522-96957C42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D251C-E393-44C4-B8A6-F00AD57F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9931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Value Proposition</a:t>
            </a:r>
          </a:p>
          <a:p>
            <a:pPr lvl="1"/>
            <a:r>
              <a:rPr lang="en-GB" dirty="0"/>
              <a:t>Determine whether the proposed system delivers </a:t>
            </a:r>
            <a:r>
              <a:rPr lang="en-GB" dirty="0">
                <a:solidFill>
                  <a:srgbClr val="0070C0"/>
                </a:solidFill>
              </a:rPr>
              <a:t>tangible benefits</a:t>
            </a:r>
            <a:r>
              <a:rPr lang="en-GB" dirty="0"/>
              <a:t>.</a:t>
            </a:r>
          </a:p>
          <a:p>
            <a:r>
              <a:rPr lang="en-GB" dirty="0">
                <a:solidFill>
                  <a:srgbClr val="FF0000"/>
                </a:solidFill>
              </a:rPr>
              <a:t>Goal Alignment</a:t>
            </a:r>
          </a:p>
          <a:p>
            <a:pPr lvl="1"/>
            <a:r>
              <a:rPr lang="en-GB" dirty="0"/>
              <a:t>Assess if the system supports the organization in </a:t>
            </a:r>
            <a:r>
              <a:rPr lang="en-GB" dirty="0">
                <a:solidFill>
                  <a:srgbClr val="0070C0"/>
                </a:solidFill>
              </a:rPr>
              <a:t>achieving strategic objectives</a:t>
            </a:r>
            <a:r>
              <a:rPr lang="en-GB" dirty="0"/>
              <a:t>.</a:t>
            </a:r>
          </a:p>
          <a:p>
            <a:r>
              <a:rPr lang="en-GB" dirty="0">
                <a:solidFill>
                  <a:srgbClr val="FF0000"/>
                </a:solidFill>
              </a:rPr>
              <a:t>Technical &amp; Financial Viability</a:t>
            </a:r>
          </a:p>
          <a:p>
            <a:pPr lvl="1"/>
            <a:r>
              <a:rPr lang="en-GB" dirty="0"/>
              <a:t>Evaluate whether the system can be </a:t>
            </a:r>
            <a:r>
              <a:rPr lang="en-GB" dirty="0">
                <a:solidFill>
                  <a:srgbClr val="0070C0"/>
                </a:solidFill>
              </a:rPr>
              <a:t>implemented using current technologies and within budget constraints</a:t>
            </a:r>
            <a:r>
              <a:rPr lang="en-GB" dirty="0"/>
              <a:t>.</a:t>
            </a:r>
          </a:p>
          <a:p>
            <a:r>
              <a:rPr lang="en-GB" dirty="0">
                <a:solidFill>
                  <a:srgbClr val="FF0000"/>
                </a:solidFill>
              </a:rPr>
              <a:t>Integration Capability</a:t>
            </a:r>
          </a:p>
          <a:p>
            <a:pPr lvl="1"/>
            <a:r>
              <a:rPr lang="en-GB" dirty="0"/>
              <a:t>Confirm the system’s </a:t>
            </a:r>
            <a:r>
              <a:rPr lang="en-GB" dirty="0">
                <a:solidFill>
                  <a:srgbClr val="0070C0"/>
                </a:solidFill>
              </a:rPr>
              <a:t>compatibility with existing operational systems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69321-694C-4420-B443-77FEB8C8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A04DE-2CC5-4D1C-8916-E766AA3080E9}"/>
              </a:ext>
            </a:extLst>
          </p:cNvPr>
          <p:cNvSpPr txBox="1"/>
          <p:nvPr/>
        </p:nvSpPr>
        <p:spPr>
          <a:xfrm>
            <a:off x="5056095" y="107577"/>
            <a:ext cx="705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Requirements Management Process</a:t>
            </a:r>
          </a:p>
        </p:txBody>
      </p:sp>
      <p:pic>
        <p:nvPicPr>
          <p:cNvPr id="1026" name="Picture 2" descr="Feasibility Studies -- Yes, No or Maybe">
            <a:extLst>
              <a:ext uri="{FF2B5EF4-FFF2-40B4-BE49-F238E27FC236}">
                <a16:creationId xmlns:a16="http://schemas.microsoft.com/office/drawing/2014/main" id="{3F783F7A-01E9-45C0-A500-8D3504395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098" y="2958755"/>
            <a:ext cx="3122411" cy="2085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57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379A-60ED-4F0E-B522-96957C42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elicitation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D251C-E393-44C4-B8A6-F00AD57F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1779" cy="435133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Collect requirements</a:t>
            </a:r>
          </a:p>
          <a:p>
            <a:pPr lvl="1"/>
            <a:r>
              <a:rPr lang="en-GB" dirty="0"/>
              <a:t>Gather data on both the </a:t>
            </a:r>
            <a:r>
              <a:rPr lang="en-GB" dirty="0">
                <a:solidFill>
                  <a:srgbClr val="0070C0"/>
                </a:solidFill>
              </a:rPr>
              <a:t>proposed and existing systems</a:t>
            </a:r>
            <a:r>
              <a:rPr lang="en-GB" dirty="0"/>
              <a:t>.</a:t>
            </a:r>
          </a:p>
          <a:p>
            <a:r>
              <a:rPr lang="en-GB" dirty="0">
                <a:solidFill>
                  <a:srgbClr val="FF0000"/>
                </a:solidFill>
              </a:rPr>
              <a:t>Requirements Analysis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Identify and refine</a:t>
            </a:r>
            <a:r>
              <a:rPr lang="en-GB" dirty="0"/>
              <a:t> user and system requirements based on collected information.</a:t>
            </a:r>
          </a:p>
          <a:p>
            <a:r>
              <a:rPr lang="en-GB" dirty="0">
                <a:solidFill>
                  <a:srgbClr val="FF0000"/>
                </a:solidFill>
              </a:rPr>
              <a:t>Information Sources</a:t>
            </a:r>
          </a:p>
          <a:p>
            <a:pPr lvl="1"/>
            <a:r>
              <a:rPr lang="en-GB" dirty="0"/>
              <a:t>Documentation</a:t>
            </a:r>
          </a:p>
          <a:p>
            <a:pPr lvl="1"/>
            <a:r>
              <a:rPr lang="en-GB" dirty="0"/>
              <a:t>Stakeholders</a:t>
            </a:r>
          </a:p>
          <a:p>
            <a:pPr lvl="1"/>
            <a:r>
              <a:rPr lang="en-GB" dirty="0"/>
              <a:t>Technical specifications of similar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69321-694C-4420-B443-77FEB8C8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A04DE-2CC5-4D1C-8916-E766AA3080E9}"/>
              </a:ext>
            </a:extLst>
          </p:cNvPr>
          <p:cNvSpPr txBox="1"/>
          <p:nvPr/>
        </p:nvSpPr>
        <p:spPr>
          <a:xfrm>
            <a:off x="5056095" y="107577"/>
            <a:ext cx="705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Requirements Management Process</a:t>
            </a:r>
          </a:p>
        </p:txBody>
      </p:sp>
      <p:pic>
        <p:nvPicPr>
          <p:cNvPr id="2050" name="Picture 2" descr="The Requirements Discovery Canvas in a Nutshell | Lonsdale Systems">
            <a:extLst>
              <a:ext uri="{FF2B5EF4-FFF2-40B4-BE49-F238E27FC236}">
                <a16:creationId xmlns:a16="http://schemas.microsoft.com/office/drawing/2014/main" id="{30E39ED1-DB8F-4C30-8722-FADD119B3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969" y="2668555"/>
            <a:ext cx="3947121" cy="265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93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379A-60ED-4F0E-B522-96957C42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Requirements validation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D251C-E393-44C4-B8A6-F00AD57F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GB" dirty="0">
                <a:solidFill>
                  <a:srgbClr val="FF0000"/>
                </a:solidFill>
              </a:rPr>
              <a:t>Validity</a:t>
            </a:r>
          </a:p>
          <a:p>
            <a:pPr lvl="1"/>
            <a:r>
              <a:rPr lang="en-GB" dirty="0"/>
              <a:t>Does the system provide functionalities that best meet customer requirements?</a:t>
            </a:r>
          </a:p>
          <a:p>
            <a:r>
              <a:rPr lang="en-GB" dirty="0">
                <a:solidFill>
                  <a:srgbClr val="FF0000"/>
                </a:solidFill>
              </a:rPr>
              <a:t>Consistency</a:t>
            </a:r>
          </a:p>
          <a:p>
            <a:pPr lvl="1"/>
            <a:r>
              <a:rPr lang="en-GB" dirty="0"/>
              <a:t>Are there any conflicting or contradictory requirements?</a:t>
            </a:r>
          </a:p>
          <a:p>
            <a:r>
              <a:rPr lang="en-GB" dirty="0">
                <a:solidFill>
                  <a:srgbClr val="FF0000"/>
                </a:solidFill>
              </a:rPr>
              <a:t>Completeness</a:t>
            </a:r>
          </a:p>
          <a:p>
            <a:pPr lvl="1"/>
            <a:r>
              <a:rPr lang="en-GB" dirty="0"/>
              <a:t>Have all required functionalities been included according to customer expectations?</a:t>
            </a:r>
          </a:p>
          <a:p>
            <a:r>
              <a:rPr lang="en-GB" dirty="0">
                <a:solidFill>
                  <a:srgbClr val="FF0000"/>
                </a:solidFill>
              </a:rPr>
              <a:t>Realism</a:t>
            </a:r>
          </a:p>
          <a:p>
            <a:pPr lvl="1"/>
            <a:r>
              <a:rPr lang="en-GB" dirty="0"/>
              <a:t>Can the requirements be implemented within the available budget and technology?</a:t>
            </a:r>
          </a:p>
          <a:p>
            <a:r>
              <a:rPr lang="en-GB" dirty="0">
                <a:solidFill>
                  <a:srgbClr val="FF0000"/>
                </a:solidFill>
              </a:rPr>
              <a:t>Verifiability</a:t>
            </a:r>
          </a:p>
          <a:p>
            <a:pPr lvl="1"/>
            <a:r>
              <a:rPr lang="en-GB" dirty="0"/>
              <a:t>Can each requirement be validated through testing or other means?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69321-694C-4420-B443-77FEB8C8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A04DE-2CC5-4D1C-8916-E766AA3080E9}"/>
              </a:ext>
            </a:extLst>
          </p:cNvPr>
          <p:cNvSpPr txBox="1"/>
          <p:nvPr/>
        </p:nvSpPr>
        <p:spPr>
          <a:xfrm>
            <a:off x="5056095" y="107577"/>
            <a:ext cx="705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Requirements Management Process</a:t>
            </a:r>
          </a:p>
        </p:txBody>
      </p:sp>
    </p:spTree>
    <p:extLst>
      <p:ext uri="{BB962C8B-B14F-4D97-AF65-F5344CB8AC3E}">
        <p14:creationId xmlns:p14="http://schemas.microsoft.com/office/powerpoint/2010/main" val="271361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379A-60ED-4F0E-B522-96957C42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D251C-E393-44C4-B8A6-F00AD57F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Change Management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Oversee adjustments</a:t>
            </a:r>
            <a:r>
              <a:rPr lang="en-GB" dirty="0"/>
              <a:t> to requirements during system analysis and development.</a:t>
            </a:r>
          </a:p>
          <a:p>
            <a:r>
              <a:rPr lang="en-GB" dirty="0">
                <a:solidFill>
                  <a:srgbClr val="FF0000"/>
                </a:solidFill>
              </a:rPr>
              <a:t>Dynamic Nature of Requirements</a:t>
            </a:r>
          </a:p>
          <a:p>
            <a:pPr lvl="1"/>
            <a:r>
              <a:rPr lang="en-GB" dirty="0"/>
              <a:t>Requirements are often </a:t>
            </a:r>
            <a:r>
              <a:rPr lang="en-GB" dirty="0">
                <a:solidFill>
                  <a:srgbClr val="0070C0"/>
                </a:solidFill>
              </a:rPr>
              <a:t>incomplete and inconsistent</a:t>
            </a:r>
            <a:r>
              <a:rPr lang="en-GB" dirty="0"/>
              <a:t>—continuous refinement is necessary.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69321-694C-4420-B443-77FEB8C8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A04DE-2CC5-4D1C-8916-E766AA3080E9}"/>
              </a:ext>
            </a:extLst>
          </p:cNvPr>
          <p:cNvSpPr txBox="1"/>
          <p:nvPr/>
        </p:nvSpPr>
        <p:spPr>
          <a:xfrm>
            <a:off x="5056095" y="107577"/>
            <a:ext cx="705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Requirements Management Process</a:t>
            </a:r>
          </a:p>
        </p:txBody>
      </p:sp>
      <p:pic>
        <p:nvPicPr>
          <p:cNvPr id="3074" name="Picture 2" descr="Requirements Management Software - Xebrio">
            <a:extLst>
              <a:ext uri="{FF2B5EF4-FFF2-40B4-BE49-F238E27FC236}">
                <a16:creationId xmlns:a16="http://schemas.microsoft.com/office/drawing/2014/main" id="{C58E4B1B-EBE5-4C86-9925-AB6450D4B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387" y="4177098"/>
            <a:ext cx="4359225" cy="236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538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1CFD-F88D-E997-ADA5-88E492E6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016C-93BC-A4EF-8592-DEC5919E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Activities preparation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66CE91-BEEA-B9AE-3592-7A6421B2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12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2EE8-9F5E-433E-BA45-ED3D616B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 an understanding of the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75023-A94B-4832-8B25-FD417E0CC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>
                <a:solidFill>
                  <a:srgbClr val="FF0000"/>
                </a:solidFill>
              </a:rPr>
              <a:t>Analysis of Similar Systems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solidFill>
                  <a:srgbClr val="0070C0"/>
                </a:solidFill>
              </a:rPr>
              <a:t>Unique Functionalities</a:t>
            </a:r>
            <a:r>
              <a:rPr lang="en-GB" dirty="0"/>
              <a:t>: Document the distinct features offered by each system.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solidFill>
                  <a:srgbClr val="0070C0"/>
                </a:solidFill>
              </a:rPr>
              <a:t>Design Limitations</a:t>
            </a:r>
            <a:r>
              <a:rPr lang="en-GB" dirty="0"/>
              <a:t>: Evaluate weaknesses or drawbacks in system architecture or interface.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solidFill>
                  <a:srgbClr val="0070C0"/>
                </a:solidFill>
              </a:rPr>
              <a:t>User Community</a:t>
            </a:r>
            <a:r>
              <a:rPr lang="en-GB" dirty="0"/>
              <a:t>: Assess the size, activity level, and supportiveness of the system's user base.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solidFill>
                  <a:srgbClr val="0070C0"/>
                </a:solidFill>
              </a:rPr>
              <a:t>User Ratings</a:t>
            </a:r>
            <a:r>
              <a:rPr lang="en-GB" dirty="0"/>
              <a:t>: Compile feedback, reviews, and expert evaluations.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solidFill>
                  <a:srgbClr val="0070C0"/>
                </a:solidFill>
              </a:rPr>
              <a:t>Operating Environment</a:t>
            </a:r>
            <a:r>
              <a:rPr lang="en-GB" dirty="0"/>
              <a:t>: Identify the platforms, technical conditions, and system requirements for optimal operation.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solidFill>
                  <a:srgbClr val="0070C0"/>
                </a:solidFill>
              </a:rPr>
              <a:t>Core Functionalities</a:t>
            </a:r>
            <a:r>
              <a:rPr lang="en-GB" dirty="0"/>
              <a:t>: Summarize the essential features commonly adopted and valued in practice.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19BA7-4E49-4D7B-A125-0E5CB27D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A1743-B605-4DD0-A909-53216EF128BB}"/>
              </a:ext>
            </a:extLst>
          </p:cNvPr>
          <p:cNvSpPr txBox="1"/>
          <p:nvPr/>
        </p:nvSpPr>
        <p:spPr>
          <a:xfrm>
            <a:off x="5369859" y="107577"/>
            <a:ext cx="67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Activities preparation</a:t>
            </a:r>
          </a:p>
        </p:txBody>
      </p:sp>
    </p:spTree>
    <p:extLst>
      <p:ext uri="{BB962C8B-B14F-4D97-AF65-F5344CB8AC3E}">
        <p14:creationId xmlns:p14="http://schemas.microsoft.com/office/powerpoint/2010/main" val="256316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6846-284D-40DA-8566-CC76AA1C7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 an understanding of the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2557B-F3F8-4F7C-BAD8-84CCCC6E2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F494F-CF20-4B2D-9753-E82BD7776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2A121-C23F-48AE-9C79-9510F9B9B46B}"/>
              </a:ext>
            </a:extLst>
          </p:cNvPr>
          <p:cNvSpPr txBox="1"/>
          <p:nvPr/>
        </p:nvSpPr>
        <p:spPr>
          <a:xfrm>
            <a:off x="5369859" y="107577"/>
            <a:ext cx="67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Activities preparation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F85F68-BC5D-E779-3C94-F0163F2EBF65}"/>
              </a:ext>
            </a:extLst>
          </p:cNvPr>
          <p:cNvGrpSpPr/>
          <p:nvPr/>
        </p:nvGrpSpPr>
        <p:grpSpPr>
          <a:xfrm>
            <a:off x="520476" y="2264698"/>
            <a:ext cx="11151048" cy="3473191"/>
            <a:chOff x="362928" y="2401836"/>
            <a:chExt cx="11151048" cy="347319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B756E45-7248-4601-BF13-C2BD884CC1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212"/>
            <a:stretch/>
          </p:blipFill>
          <p:spPr bwMode="auto">
            <a:xfrm>
              <a:off x="362928" y="2401836"/>
              <a:ext cx="5231048" cy="3380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C842965D-25F2-43D3-9DE5-103C3F485C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677"/>
            <a:stretch/>
          </p:blipFill>
          <p:spPr bwMode="auto">
            <a:xfrm>
              <a:off x="5593976" y="2445480"/>
              <a:ext cx="5920000" cy="3429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68857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B4868-7B1D-8D1C-75C5-1B353F28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7B7C9-14CC-BC92-29CA-B121D91AE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 an understanding of the system’s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93C12-0071-4A2B-9F65-234D3A167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6666F-F0A0-9213-B7EF-3EA9DFF5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7545B-7530-97BE-C899-122F63AF6109}"/>
              </a:ext>
            </a:extLst>
          </p:cNvPr>
          <p:cNvSpPr txBox="1"/>
          <p:nvPr/>
        </p:nvSpPr>
        <p:spPr>
          <a:xfrm>
            <a:off x="5369859" y="107577"/>
            <a:ext cx="67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Activities preparation</a:t>
            </a:r>
          </a:p>
        </p:txBody>
      </p:sp>
      <p:pic>
        <p:nvPicPr>
          <p:cNvPr id="7" name="Picture 2" descr="Table&#10;&#10;Description automatically generated">
            <a:extLst>
              <a:ext uri="{FF2B5EF4-FFF2-40B4-BE49-F238E27FC236}">
                <a16:creationId xmlns:a16="http://schemas.microsoft.com/office/drawing/2014/main" id="{B1954D93-3A9A-069A-EE4D-A8C9E0527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67439" y="1800694"/>
            <a:ext cx="6057122" cy="437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090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5F80-960D-460D-B102-F2A3710D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 an understanding of the system’s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4633F-3107-41C8-82E5-9355CAD36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CD861-3B1D-43E5-9117-1070FCF0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C003B-680B-4611-83E0-2231D9D0508E}"/>
              </a:ext>
            </a:extLst>
          </p:cNvPr>
          <p:cNvSpPr txBox="1"/>
          <p:nvPr/>
        </p:nvSpPr>
        <p:spPr>
          <a:xfrm>
            <a:off x="5369859" y="107577"/>
            <a:ext cx="67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Activities preparation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E03EFB1-BA97-463D-970D-AB9823A1A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159" y="1698036"/>
            <a:ext cx="9209681" cy="4478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658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5F80-960D-460D-B102-F2A3710D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 an understanding of the system’s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4633F-3107-41C8-82E5-9355CAD36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CD861-3B1D-43E5-9117-1070FCF0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C003B-680B-4611-83E0-2231D9D0508E}"/>
              </a:ext>
            </a:extLst>
          </p:cNvPr>
          <p:cNvSpPr txBox="1"/>
          <p:nvPr/>
        </p:nvSpPr>
        <p:spPr>
          <a:xfrm>
            <a:off x="5369859" y="107577"/>
            <a:ext cx="67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Activities preparation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0A294EE-42BA-4C5E-9D0F-FFA0F41B0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352" y="1856760"/>
            <a:ext cx="6279296" cy="4320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852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5F80-960D-460D-B102-F2A3710D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 an understanding of the system’s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4633F-3107-41C8-82E5-9355CAD36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CD861-3B1D-43E5-9117-1070FCF0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C003B-680B-4611-83E0-2231D9D0508E}"/>
              </a:ext>
            </a:extLst>
          </p:cNvPr>
          <p:cNvSpPr txBox="1"/>
          <p:nvPr/>
        </p:nvSpPr>
        <p:spPr>
          <a:xfrm>
            <a:off x="5369859" y="107577"/>
            <a:ext cx="67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Activities preparation</a:t>
            </a:r>
          </a:p>
        </p:txBody>
      </p:sp>
      <p:pic>
        <p:nvPicPr>
          <p:cNvPr id="1028" name="Picture 4" descr="Activity Diagram with Swimlanes | EdrawMax Online">
            <a:extLst>
              <a:ext uri="{FF2B5EF4-FFF2-40B4-BE49-F238E27FC236}">
                <a16:creationId xmlns:a16="http://schemas.microsoft.com/office/drawing/2014/main" id="{1C3C80B1-38E3-DDE6-4920-189DD8500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573" y="1781036"/>
            <a:ext cx="6884854" cy="444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821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58481-6394-D9EA-73E5-A062755C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AC417-3B09-8E67-5C41-F5877C3F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Requirements gathering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1C671D-9518-0207-0B33-167C1125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50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649AB-B22B-49C6-9EFE-97DCEFF4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2CD7-9F51-471D-9E80-5DB669359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Interview</a:t>
            </a:r>
          </a:p>
          <a:p>
            <a:pPr lvl="1"/>
            <a:r>
              <a:rPr lang="en-GB" dirty="0"/>
              <a:t>The most widely used method.</a:t>
            </a:r>
          </a:p>
          <a:p>
            <a:pPr lvl="1"/>
            <a:r>
              <a:rPr lang="en-GB" dirty="0"/>
              <a:t>Can </a:t>
            </a:r>
            <a:r>
              <a:rPr lang="en-GB" dirty="0">
                <a:solidFill>
                  <a:srgbClr val="0070C0"/>
                </a:solidFill>
              </a:rPr>
              <a:t>be combined with other techniques</a:t>
            </a:r>
            <a:r>
              <a:rPr lang="en-GB" dirty="0"/>
              <a:t>.</a:t>
            </a:r>
          </a:p>
          <a:p>
            <a:r>
              <a:rPr lang="en-GB" dirty="0">
                <a:solidFill>
                  <a:srgbClr val="FF0000"/>
                </a:solidFill>
              </a:rPr>
              <a:t>Group Interview</a:t>
            </a:r>
          </a:p>
          <a:p>
            <a:pPr lvl="1"/>
            <a:r>
              <a:rPr lang="en-GB" dirty="0"/>
              <a:t>Gathers requirements from a group of similar users.</a:t>
            </a:r>
          </a:p>
          <a:p>
            <a:r>
              <a:rPr lang="en-GB" dirty="0">
                <a:solidFill>
                  <a:srgbClr val="FF0000"/>
                </a:solidFill>
              </a:rPr>
              <a:t>Survey / Questionnaire</a:t>
            </a:r>
          </a:p>
          <a:p>
            <a:pPr lvl="1"/>
            <a:r>
              <a:rPr lang="en-GB" dirty="0"/>
              <a:t>Helps collect </a:t>
            </a:r>
            <a:r>
              <a:rPr lang="en-GB" dirty="0">
                <a:solidFill>
                  <a:srgbClr val="00B050"/>
                </a:solidFill>
              </a:rPr>
              <a:t>structured information </a:t>
            </a:r>
            <a:r>
              <a:rPr lang="en-GB" dirty="0">
                <a:solidFill>
                  <a:srgbClr val="0070C0"/>
                </a:solidFill>
              </a:rPr>
              <a:t>for system design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Suitable for gathering requirements from a </a:t>
            </a:r>
            <a:r>
              <a:rPr lang="en-GB" dirty="0">
                <a:solidFill>
                  <a:srgbClr val="00B050"/>
                </a:solidFill>
              </a:rPr>
              <a:t>large user group</a:t>
            </a:r>
            <a:r>
              <a:rPr lang="en-GB" dirty="0"/>
              <a:t>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B68C0-B247-48DC-88D6-40B52D89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B2920-C468-4D4D-80AC-19741A18C72B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Requirements gathering methods</a:t>
            </a:r>
          </a:p>
        </p:txBody>
      </p:sp>
    </p:spTree>
    <p:extLst>
      <p:ext uri="{BB962C8B-B14F-4D97-AF65-F5344CB8AC3E}">
        <p14:creationId xmlns:p14="http://schemas.microsoft.com/office/powerpoint/2010/main" val="2637308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3215-FEDC-449B-8596-674AC316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72E08-DDC1-4E99-9340-99E40AF9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Define the objective</a:t>
            </a:r>
            <a:r>
              <a:rPr lang="en-GB" dirty="0"/>
              <a:t> of the interview.</a:t>
            </a:r>
          </a:p>
          <a:p>
            <a:r>
              <a:rPr lang="en-GB" dirty="0">
                <a:solidFill>
                  <a:srgbClr val="00B050"/>
                </a:solidFill>
              </a:rPr>
              <a:t>Select appropriate</a:t>
            </a:r>
            <a:r>
              <a:rPr lang="en-GB" dirty="0"/>
              <a:t> interviewees.</a:t>
            </a:r>
          </a:p>
          <a:p>
            <a:r>
              <a:rPr lang="en-GB" dirty="0"/>
              <a:t>Choose between </a:t>
            </a:r>
            <a:r>
              <a:rPr lang="en-GB" dirty="0">
                <a:solidFill>
                  <a:srgbClr val="0070C0"/>
                </a:solidFill>
              </a:rPr>
              <a:t>in-person</a:t>
            </a:r>
            <a:r>
              <a:rPr lang="en-GB" dirty="0"/>
              <a:t> or </a:t>
            </a:r>
            <a:r>
              <a:rPr lang="en-GB" dirty="0">
                <a:solidFill>
                  <a:srgbClr val="0070C0"/>
                </a:solidFill>
              </a:rPr>
              <a:t>phone interviews</a:t>
            </a:r>
            <a:r>
              <a:rPr lang="en-GB" dirty="0"/>
              <a:t>.</a:t>
            </a:r>
          </a:p>
          <a:p>
            <a:r>
              <a:rPr lang="en-GB" dirty="0">
                <a:solidFill>
                  <a:srgbClr val="FF0000"/>
                </a:solidFill>
              </a:rPr>
              <a:t>Pay attention</a:t>
            </a:r>
            <a:r>
              <a:rPr lang="en-GB" dirty="0"/>
              <a:t> to the phrasing of questions:</a:t>
            </a:r>
          </a:p>
          <a:p>
            <a:pPr lvl="1"/>
            <a:r>
              <a:rPr lang="en-GB" dirty="0"/>
              <a:t>Each question should be no longer than 20 words.</a:t>
            </a:r>
          </a:p>
          <a:p>
            <a:pPr lvl="1"/>
            <a:r>
              <a:rPr lang="en-GB" dirty="0"/>
              <a:t>Avoid addressing multiple topics in a single question.</a:t>
            </a:r>
          </a:p>
          <a:p>
            <a:pPr lvl="1"/>
            <a:r>
              <a:rPr lang="en-GB" dirty="0"/>
              <a:t>Do not use double negatives.</a:t>
            </a:r>
          </a:p>
          <a:p>
            <a:pPr lvl="1"/>
            <a:r>
              <a:rPr lang="en-GB" dirty="0"/>
              <a:t>Avoid asking for future predictions.</a:t>
            </a:r>
          </a:p>
          <a:p>
            <a:pPr lvl="1"/>
            <a:r>
              <a:rPr lang="en-GB" dirty="0"/>
              <a:t>Do not suggest answers within the question.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EF0B9-7888-4C21-A49A-D92E8C08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CC79A-4DF9-4B8E-90D4-6CE1760E3E77}"/>
              </a:ext>
            </a:extLst>
          </p:cNvPr>
          <p:cNvSpPr txBox="1"/>
          <p:nvPr/>
        </p:nvSpPr>
        <p:spPr>
          <a:xfrm>
            <a:off x="5118847" y="107577"/>
            <a:ext cx="69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Requirements gathering methods</a:t>
            </a:r>
          </a:p>
        </p:txBody>
      </p:sp>
    </p:spTree>
    <p:extLst>
      <p:ext uri="{BB962C8B-B14F-4D97-AF65-F5344CB8AC3E}">
        <p14:creationId xmlns:p14="http://schemas.microsoft.com/office/powerpoint/2010/main" val="643780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3215-FEDC-449B-8596-674AC316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/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72E08-DDC1-4E99-9340-99E40AF9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Select appropriate</a:t>
            </a:r>
            <a:r>
              <a:rPr lang="en-GB" dirty="0"/>
              <a:t> survey participants.</a:t>
            </a:r>
          </a:p>
          <a:p>
            <a:r>
              <a:rPr lang="en-GB" dirty="0"/>
              <a:t>Pay attention to </a:t>
            </a:r>
            <a:r>
              <a:rPr lang="en-GB" dirty="0">
                <a:solidFill>
                  <a:srgbClr val="0070C0"/>
                </a:solidFill>
              </a:rPr>
              <a:t>response rate</a:t>
            </a:r>
            <a:r>
              <a:rPr lang="en-GB" dirty="0"/>
              <a:t> (typically between 20% and 60%).</a:t>
            </a:r>
          </a:p>
          <a:p>
            <a:r>
              <a:rPr lang="en-GB" dirty="0"/>
              <a:t>Determine the </a:t>
            </a:r>
            <a:r>
              <a:rPr lang="en-GB" dirty="0">
                <a:solidFill>
                  <a:srgbClr val="FF0000"/>
                </a:solidFill>
              </a:rPr>
              <a:t>methods for distributing and collecting</a:t>
            </a:r>
            <a:r>
              <a:rPr lang="en-GB" dirty="0"/>
              <a:t> the survey.</a:t>
            </a:r>
          </a:p>
          <a:p>
            <a:r>
              <a:rPr lang="en-GB" dirty="0"/>
              <a:t>Choose suitable question types (open-ended or closed).</a:t>
            </a:r>
          </a:p>
          <a:p>
            <a:r>
              <a:rPr lang="en-GB" dirty="0"/>
              <a:t>Define </a:t>
            </a:r>
            <a:r>
              <a:rPr lang="en-GB" dirty="0">
                <a:solidFill>
                  <a:srgbClr val="FF0000"/>
                </a:solidFill>
              </a:rPr>
              <a:t>how to analyse response</a:t>
            </a:r>
            <a:r>
              <a:rPr lang="en-GB" dirty="0"/>
              <a:t> tables.</a:t>
            </a:r>
          </a:p>
          <a:p>
            <a:r>
              <a:rPr lang="en-GB" dirty="0"/>
              <a:t>Ensure anonymity:</a:t>
            </a:r>
          </a:p>
          <a:p>
            <a:pPr lvl="1"/>
            <a:r>
              <a:rPr lang="en-GB" dirty="0"/>
              <a:t>Do not collect personal information.</a:t>
            </a:r>
          </a:p>
          <a:p>
            <a:pPr lvl="1"/>
            <a:r>
              <a:rPr lang="en-GB" dirty="0"/>
              <a:t>If personal information is collected, do not link it to individual responses.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EF0B9-7888-4C21-A49A-D92E8C08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CC79A-4DF9-4B8E-90D4-6CE1760E3E77}"/>
              </a:ext>
            </a:extLst>
          </p:cNvPr>
          <p:cNvSpPr txBox="1"/>
          <p:nvPr/>
        </p:nvSpPr>
        <p:spPr>
          <a:xfrm>
            <a:off x="5118847" y="107577"/>
            <a:ext cx="69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Requirements gathering methods</a:t>
            </a:r>
          </a:p>
        </p:txBody>
      </p:sp>
    </p:spTree>
    <p:extLst>
      <p:ext uri="{BB962C8B-B14F-4D97-AF65-F5344CB8AC3E}">
        <p14:creationId xmlns:p14="http://schemas.microsoft.com/office/powerpoint/2010/main" val="1752988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47ED-C681-25A0-816A-2C955EDA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11FC5-CD11-3140-0726-E9A76DF36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Activities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B64074-98AF-EC18-B4BF-0F179971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36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5345-42A8-4209-B0EB-41529154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Consolidation and Prioritization of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3F3C4-E233-47B7-B52D-F680E03F1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Consolidate collected requirements</a:t>
            </a:r>
          </a:p>
          <a:p>
            <a:pPr lvl="1"/>
            <a:r>
              <a:rPr lang="en-GB" dirty="0"/>
              <a:t>Organize and categorize all gathered input from users and stakeholders.</a:t>
            </a:r>
          </a:p>
          <a:p>
            <a:r>
              <a:rPr lang="en-GB" dirty="0">
                <a:solidFill>
                  <a:srgbClr val="FF0000"/>
                </a:solidFill>
              </a:rPr>
              <a:t>Prioritize requirements</a:t>
            </a:r>
          </a:p>
          <a:p>
            <a:pPr lvl="1"/>
            <a:r>
              <a:rPr lang="en-GB" dirty="0"/>
              <a:t>Evaluate and rank the requirements.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E743D-7E6E-4515-93AC-86D8006A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6B337-651B-4984-848F-733B2E7C5D52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Activities summary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F4537B1-8EC7-4D3D-ADAC-4F16EDB4A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293" y="2753708"/>
            <a:ext cx="4442613" cy="396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950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5345-42A8-4209-B0EB-41529154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Requirements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3F3C4-E233-47B7-B52D-F680E03F1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5235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E743D-7E6E-4515-93AC-86D8006A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6B337-651B-4984-848F-733B2E7C5D52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Activities summary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87BED9F-644B-4D90-95DE-EE6986E42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073" y="1790440"/>
            <a:ext cx="3949854" cy="442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65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2493</TotalTime>
  <Words>774</Words>
  <Application>Microsoft Office PowerPoint</Application>
  <PresentationFormat>Widescreen</PresentationFormat>
  <Paragraphs>164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System Analysis and Design  Chapter 2: User requirements analysis</vt:lpstr>
      <vt:lpstr>Basic concepts</vt:lpstr>
      <vt:lpstr>PowerPoint Presentation</vt:lpstr>
      <vt:lpstr>PowerPoint Presentation</vt:lpstr>
      <vt:lpstr>Requirement Types</vt:lpstr>
      <vt:lpstr>Requirement Types</vt:lpstr>
      <vt:lpstr>Requirements Management Process</vt:lpstr>
      <vt:lpstr>PowerPoint Presentation</vt:lpstr>
      <vt:lpstr>Feasibility studies</vt:lpstr>
      <vt:lpstr>Requirements elicitation and analysis</vt:lpstr>
      <vt:lpstr>Requirements validation </vt:lpstr>
      <vt:lpstr>Requirements management</vt:lpstr>
      <vt:lpstr>Activities preparation</vt:lpstr>
      <vt:lpstr>Gain an understanding of the system</vt:lpstr>
      <vt:lpstr>Gain an understanding of the system</vt:lpstr>
      <vt:lpstr>Gain an understanding of the system’s users</vt:lpstr>
      <vt:lpstr>Gain an understanding of the system’s users</vt:lpstr>
      <vt:lpstr>Gain an understanding of the system’s users</vt:lpstr>
      <vt:lpstr>Gain an understanding of the system’s users</vt:lpstr>
      <vt:lpstr>Requirements gathering methods</vt:lpstr>
      <vt:lpstr>PowerPoint Presentation</vt:lpstr>
      <vt:lpstr>Interview</vt:lpstr>
      <vt:lpstr>Survey / Questionnaire</vt:lpstr>
      <vt:lpstr>Activities summary</vt:lpstr>
      <vt:lpstr>Consolidation and Prioritization of Requirements</vt:lpstr>
      <vt:lpstr>System Requirements Specification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THIẾT KẾ HỆ THỐNG  Chương 0: Giới thiệu học phần</dc:title>
  <dc:creator>Quoc Dinh Truong</dc:creator>
  <cp:lastModifiedBy>Quoc Dinh Truong</cp:lastModifiedBy>
  <cp:revision>177</cp:revision>
  <dcterms:created xsi:type="dcterms:W3CDTF">2021-07-03T03:36:42Z</dcterms:created>
  <dcterms:modified xsi:type="dcterms:W3CDTF">2025-07-21T09:29:26Z</dcterms:modified>
</cp:coreProperties>
</file>