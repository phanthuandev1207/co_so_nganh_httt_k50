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83" r:id="rId3"/>
    <p:sldId id="258" r:id="rId4"/>
    <p:sldId id="259" r:id="rId5"/>
    <p:sldId id="260" r:id="rId6"/>
    <p:sldId id="284" r:id="rId7"/>
    <p:sldId id="261" r:id="rId8"/>
    <p:sldId id="285" r:id="rId9"/>
    <p:sldId id="262" r:id="rId10"/>
    <p:sldId id="263" r:id="rId11"/>
    <p:sldId id="264" r:id="rId12"/>
    <p:sldId id="266" r:id="rId13"/>
    <p:sldId id="286" r:id="rId14"/>
    <p:sldId id="268" r:id="rId15"/>
    <p:sldId id="269" r:id="rId16"/>
    <p:sldId id="287" r:id="rId17"/>
    <p:sldId id="270" r:id="rId18"/>
    <p:sldId id="271" r:id="rId19"/>
    <p:sldId id="272" r:id="rId20"/>
    <p:sldId id="273" r:id="rId21"/>
    <p:sldId id="275" r:id="rId22"/>
    <p:sldId id="288" r:id="rId23"/>
    <p:sldId id="274" r:id="rId24"/>
    <p:sldId id="277" r:id="rId25"/>
    <p:sldId id="278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E0B85-1570-42E5-A470-CD60031DA3F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7EB30-CA07-466F-B7CB-64BBF797E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18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537D-F53E-47C4-A83E-CCB095380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F79E6-0FED-429B-80CD-00E2D3D8C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9520F-A019-4EFF-B54D-ABC4699E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13CC-14BB-401F-97C5-EDCE5DFF6FF4}" type="datetime1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B5711-7F4F-46D9-8673-80AD7EED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03D27-E4BE-4544-81A8-674C728A6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15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56875-0F16-4CD9-A7C9-D91E17E43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4ABBA-62A1-4F0B-B722-4F5777667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C98D5-B3ED-46AF-A9EC-E3D129F5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3683-B418-4383-9D33-3DAAF9B5D79E}" type="datetime1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475EA-8743-4AF9-BA12-59F32836A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D018E-28F9-4A13-9F22-88FB189D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E1AF00-55A1-400F-9982-9E10DE8F52A5}"/>
              </a:ext>
            </a:extLst>
          </p:cNvPr>
          <p:cNvSpPr/>
          <p:nvPr userDrawn="1"/>
        </p:nvSpPr>
        <p:spPr>
          <a:xfrm>
            <a:off x="0" y="0"/>
            <a:ext cx="12192000" cy="5378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54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52E0-6EF7-4057-AE4B-922D32EB0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C9D60-D1C3-4808-A19B-7F0CE4E48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4C6B9-6AB9-4155-8FFB-684066CB1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B97D-1085-4B64-8C1B-1D2060E561E7}" type="datetime1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9075C-5965-4646-A2FB-2505EA9E1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2EF72-410D-4D23-8AE1-F6A0EDD7E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4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4739-C445-4FDE-85E6-5787B579D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C0CAE-9A0A-45D0-A1C5-4A0798D3D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6A60E-AC76-4700-AD2F-FFF14020A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D22D3-6F16-4E34-95F2-9907D9065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8282-EC73-4E57-8B04-43387C75DB91}" type="datetime1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ED560-122C-4F4F-9C92-17F4C05C2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7812E-4006-49BF-9EBF-FB31381ED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CCDC-7B5A-4933-8968-7F464C0D9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16AF5-CD68-4892-8B8F-98DFE331C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2E97D-A99B-45ED-A321-3021630F7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538EE-5DCF-4BE3-8672-365481007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773FA7-52C4-47A4-A182-7DB50B47A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843564-31A9-4923-857C-4B67BC92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A055-C3F6-4E73-B086-0FD9FCD0C792}" type="datetime1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17A9E-6A08-4145-9BF9-10734AC0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7F86E-3CB0-40FE-BCB9-A248091D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62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7F49F-87CF-485E-801A-360FDB21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C8C38E-A794-46E7-912E-7016EA777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18BFC-7707-419B-8FE2-CC6169DF58AE}" type="datetime1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282E4-49E2-429B-AD93-2F7DC76C6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AA511-86BA-43E7-A9B3-DC2EFA50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9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090C0-CFC1-44AD-93CD-97425ABE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9C33A-9B8A-4129-9955-5D8428B6433D}" type="datetime1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5B4722-8B4D-4D5E-91DA-78E31233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C4D7F-D798-403E-8BE0-D6885250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76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D5E4C-6227-41D7-9C85-ADAF4F40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2A568-5C62-49CC-8F83-5620456F2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5CE71-61F4-43A9-8039-AFCDE3A6C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E808B-9F69-4490-9809-09C688C9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6DA9-C19C-472C-805C-F949BAC7CEA5}" type="datetime1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5EE49-AEE6-45F5-812F-AA7880E2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5CE85-73F2-468A-A036-9AD3B89F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23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DCEB9-56B2-48EA-A44F-FEAFD490D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10298-534A-4034-9BED-CB5302382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5BDA7-AEF4-4EB5-9FB0-82D499EE2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92B6D-C9F5-421E-BF0F-751A3B68B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D97-9938-4FB5-AAC4-1063A7D8846C}" type="datetime1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26656-26A9-4687-A7F9-26C27DEFA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9E599-31BD-43E2-AE5E-8B0B353D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6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4B50-A9EB-4CFB-93FC-480FD956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BE907-3068-4B23-ACAD-FA2FF8539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8177D-CEDF-408A-8188-3B357259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C1A2A-57AD-41C4-900C-44681F244EE1}" type="datetime1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CD38-42D3-4249-A35C-34C7D77A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5D8B7-8608-43B2-8040-A05AC9C8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6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31F88-EF31-4254-BCD6-BDE3B05F8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349AB-9C1F-4AEC-AD90-BE5DBE0B7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71E70-3486-40D4-861D-8D10D258D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7A2A-AEC8-494A-B814-DAA894641699}" type="datetime1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4E761-AC01-47DD-B8DE-9A5ACE942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710A2-B3EB-4BD2-A463-D8484C63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1B183-9EB6-465D-AF50-80E8E74A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6B928-8695-47CD-948A-87BEA3C65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6EC01-4D9A-40B3-8D28-D946ED04F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9207C-3B04-4B31-8A47-451F19E57622}" type="datetime1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F8362-5976-4C11-B467-DDC6F3739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7FC8A-BBF9-433F-8635-82EE9570E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8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NgaewywHymvjP1whUVoQCosxB7W7z-zE/view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980CD-E74B-4073-BE9D-31B4AE96C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959" y="714188"/>
            <a:ext cx="10520082" cy="2777565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C00000"/>
                </a:solidFill>
              </a:rPr>
              <a:t>SYSTEM ANALYSIS and DESIGN</a:t>
            </a:r>
            <a:br>
              <a:rPr lang="en-US" sz="4800" dirty="0"/>
            </a:br>
            <a:br>
              <a:rPr lang="en-US" sz="4800" dirty="0"/>
            </a:br>
            <a:r>
              <a:rPr lang="en-US" sz="4400" dirty="0">
                <a:solidFill>
                  <a:schemeClr val="accent6">
                    <a:lumMod val="50000"/>
                  </a:schemeClr>
                </a:solidFill>
              </a:rPr>
              <a:t>Chapter 5: System Processing Modelling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23161-1052-4FF1-9CF5-A66CCD3B7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9188" y="5009496"/>
            <a:ext cx="9493624" cy="1655762"/>
          </a:xfrm>
        </p:spPr>
        <p:txBody>
          <a:bodyPr/>
          <a:lstStyle/>
          <a:p>
            <a:r>
              <a:rPr lang="en-US" dirty="0" err="1"/>
              <a:t>Trương</a:t>
            </a:r>
            <a:r>
              <a:rPr lang="en-US" dirty="0"/>
              <a:t> </a:t>
            </a:r>
            <a:r>
              <a:rPr lang="en-US" dirty="0" err="1"/>
              <a:t>Quốc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r>
              <a:rPr lang="en-GB" dirty="0"/>
              <a:t>Faculty of Information Systems – CICT – Can Tho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6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D5E1-7219-6C0F-AEC1-DD9B5C6B6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Basic concepts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7E7CCC-FB72-B53C-4C61-A76F1DAF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94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3D986-75FD-465F-914D-1DAF6049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2C0CC-B4FE-4A15-A67A-062A289B6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Types of system processing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Data </a:t>
            </a:r>
            <a:r>
              <a:rPr lang="en-US" dirty="0">
                <a:solidFill>
                  <a:srgbClr val="0070C0"/>
                </a:solidFill>
              </a:rPr>
              <a:t>input/output</a:t>
            </a:r>
            <a:r>
              <a:rPr lang="en-US" dirty="0"/>
              <a:t>,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Processing</a:t>
            </a:r>
            <a:r>
              <a:rPr lang="en-GB" dirty="0"/>
              <a:t> </a:t>
            </a:r>
            <a:r>
              <a:rPr lang="en-GB" dirty="0">
                <a:solidFill>
                  <a:srgbClr val="00B050"/>
                </a:solidFill>
              </a:rPr>
              <a:t>input and persisted data</a:t>
            </a:r>
            <a:r>
              <a:rPr lang="en-GB" dirty="0"/>
              <a:t> to yield computed outputs or derived information</a:t>
            </a:r>
            <a:r>
              <a:rPr lang="en-US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Processing design is: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Outline processing components</a:t>
            </a:r>
            <a:r>
              <a:rPr lang="en-GB" dirty="0"/>
              <a:t> and </a:t>
            </a:r>
            <a:r>
              <a:rPr lang="en-GB" dirty="0">
                <a:solidFill>
                  <a:srgbClr val="00B050"/>
                </a:solidFill>
              </a:rPr>
              <a:t>detail system activities</a:t>
            </a:r>
            <a:r>
              <a:rPr lang="en-US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30C18-B72C-4E17-83BC-4A827B27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46E4DB-5530-4CBD-AF9B-A0AF3AB401FC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</a:p>
        </p:txBody>
      </p:sp>
    </p:spTree>
    <p:extLst>
      <p:ext uri="{BB962C8B-B14F-4D97-AF65-F5344CB8AC3E}">
        <p14:creationId xmlns:p14="http://schemas.microsoft.com/office/powerpoint/2010/main" val="664568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5E52985E-2553-471E-82AA-5ED7A3298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3308" y="352931"/>
            <a:ext cx="11438793" cy="18442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C4B278-9595-400D-A322-8FE58AAB1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70" y="506727"/>
            <a:ext cx="3885141" cy="1526741"/>
          </a:xfrm>
        </p:spPr>
        <p:txBody>
          <a:bodyPr>
            <a:norm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Processing design approach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AE3ABC6-4042-4293-A7DF-F01181363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739873" y="580963"/>
            <a:ext cx="0" cy="137160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29971-F6ED-4486-B7BB-2DB5C9A9C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5336" y="506727"/>
            <a:ext cx="6609921" cy="1526741"/>
          </a:xfrm>
        </p:spPr>
        <p:txBody>
          <a:bodyPr anchor="ctr">
            <a:normAutofit fontScale="92500" lnSpcReduction="10000"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900" dirty="0">
                <a:solidFill>
                  <a:srgbClr val="FFFF00"/>
                </a:solidFill>
              </a:rPr>
              <a:t>Classical Approach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</a:pPr>
            <a:r>
              <a:rPr lang="en-GB" sz="1900" dirty="0">
                <a:solidFill>
                  <a:srgbClr val="92D050"/>
                </a:solidFill>
              </a:rPr>
              <a:t>A static design methodology </a:t>
            </a:r>
            <a:r>
              <a:rPr lang="en-GB" sz="1900" dirty="0">
                <a:solidFill>
                  <a:schemeClr val="bg1"/>
                </a:solidFill>
              </a:rPr>
              <a:t>that </a:t>
            </a:r>
            <a:r>
              <a:rPr lang="en-GB" sz="1900" strike="sngStrike" dirty="0">
                <a:solidFill>
                  <a:schemeClr val="bg1"/>
                </a:solidFill>
              </a:rPr>
              <a:t>does not consider the interrelationships or coordination between processing units</a:t>
            </a:r>
            <a:r>
              <a:rPr lang="en-GB" sz="1900" dirty="0">
                <a:solidFill>
                  <a:schemeClr val="bg1"/>
                </a:solidFill>
              </a:rPr>
              <a:t>. 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</a:pPr>
            <a:r>
              <a:rPr lang="en-GB" sz="1900" dirty="0">
                <a:solidFill>
                  <a:schemeClr val="bg1"/>
                </a:solidFill>
              </a:rPr>
              <a:t>Utilizes organizational hierarchy charts and </a:t>
            </a:r>
            <a:r>
              <a:rPr lang="en-GB" sz="1900" dirty="0">
                <a:solidFill>
                  <a:srgbClr val="92D050"/>
                </a:solidFill>
              </a:rPr>
              <a:t>functional decomposition diagrams</a:t>
            </a:r>
            <a:r>
              <a:rPr lang="en-US" sz="1900" dirty="0">
                <a:solidFill>
                  <a:srgbClr val="92D050"/>
                </a:solidFill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31270-106E-4352-895D-5B214D6AE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FF8543-F9CB-4923-BC76-CA5367B4EDB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C003D7-6CEB-4F5E-BC55-8E063F41A3AE}"/>
              </a:ext>
            </a:extLst>
          </p:cNvPr>
          <p:cNvSpPr txBox="1"/>
          <p:nvPr/>
        </p:nvSpPr>
        <p:spPr>
          <a:xfrm>
            <a:off x="6978069" y="-51989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</a:p>
        </p:txBody>
      </p:sp>
      <p:pic>
        <p:nvPicPr>
          <p:cNvPr id="5" name="Picture 2" descr="Organizational Chart with Images">
            <a:extLst>
              <a:ext uri="{FF2B5EF4-FFF2-40B4-BE49-F238E27FC236}">
                <a16:creationId xmlns:a16="http://schemas.microsoft.com/office/drawing/2014/main" id="{D119F69F-B7D5-B76B-93C4-58E37F120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08" y="2520207"/>
            <a:ext cx="5559480" cy="383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2FB3FACC-FFA2-32B3-2FDA-7869EE5BB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788" y="2676281"/>
            <a:ext cx="6096000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9046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5E52985E-2553-471E-82AA-5ED7A3298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3308" y="352931"/>
            <a:ext cx="11438793" cy="18442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C4B278-9595-400D-A322-8FE58AAB1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70" y="506727"/>
            <a:ext cx="3885141" cy="1526741"/>
          </a:xfrm>
        </p:spPr>
        <p:txBody>
          <a:bodyPr>
            <a:norm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Processing design approach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AE3ABC6-4042-4293-A7DF-F01181363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739873" y="580963"/>
            <a:ext cx="0" cy="137160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29971-F6ED-4486-B7BB-2DB5C9A9C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5336" y="506727"/>
            <a:ext cx="6609921" cy="1526741"/>
          </a:xfrm>
        </p:spPr>
        <p:txBody>
          <a:bodyPr anchor="ctr">
            <a:norm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900" dirty="0">
                <a:solidFill>
                  <a:srgbClr val="FFFF00"/>
                </a:solidFill>
              </a:rPr>
              <a:t>Modern Approach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</a:pPr>
            <a:r>
              <a:rPr lang="en-GB" sz="1900" dirty="0">
                <a:solidFill>
                  <a:schemeClr val="bg1"/>
                </a:solidFill>
              </a:rPr>
              <a:t>When to initiate processing, what processes to combine, what data is required, and how the result is produced.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</a:pPr>
            <a:r>
              <a:rPr lang="en-GB" sz="1900" dirty="0">
                <a:solidFill>
                  <a:srgbClr val="92D050"/>
                </a:solidFill>
              </a:rPr>
              <a:t>Use data flow diagrams (DFD)</a:t>
            </a:r>
            <a:r>
              <a:rPr lang="en-US" sz="1900" dirty="0">
                <a:solidFill>
                  <a:schemeClr val="bg1"/>
                </a:solidFill>
              </a:rPr>
              <a:t>.</a:t>
            </a:r>
            <a:endParaRPr lang="en-GB" sz="19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31270-106E-4352-895D-5B214D6AE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FF8543-F9CB-4923-BC76-CA5367B4EDB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C003D7-6CEB-4F5E-BC55-8E063F41A3AE}"/>
              </a:ext>
            </a:extLst>
          </p:cNvPr>
          <p:cNvSpPr txBox="1"/>
          <p:nvPr/>
        </p:nvSpPr>
        <p:spPr>
          <a:xfrm>
            <a:off x="6978069" y="-51989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Chương</a:t>
            </a:r>
            <a:r>
              <a:rPr lang="en-US" dirty="0"/>
              <a:t> 5: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</p:txBody>
      </p:sp>
      <p:pic>
        <p:nvPicPr>
          <p:cNvPr id="1026" name="Picture 2" descr="student submitted image, transcription available below">
            <a:extLst>
              <a:ext uri="{FF2B5EF4-FFF2-40B4-BE49-F238E27FC236}">
                <a16:creationId xmlns:a16="http://schemas.microsoft.com/office/drawing/2014/main" id="{EEFB66F3-CD72-D191-AC75-3EA17EBB4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020" y="2768597"/>
            <a:ext cx="7281960" cy="378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925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45CEB-225B-BA6D-3CA6-8A66FE368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31C07-297C-4666-2577-F8BAFC5AF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DATA FLOW DIAGRAM - DFD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06C10F-C535-76C9-65A8-B2F3E5BC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78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0589-3EFD-4AE7-807F-DFBEA3CB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1C5C8-0D7F-4DD1-A11A-E2EEB566F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B050"/>
                </a:solidFill>
              </a:rPr>
              <a:t>Data Flow Diagram (DFD)</a:t>
            </a:r>
            <a:r>
              <a:rPr lang="en-GB" dirty="0"/>
              <a:t> illustrates the </a:t>
            </a:r>
            <a:r>
              <a:rPr lang="en-GB" dirty="0">
                <a:solidFill>
                  <a:srgbClr val="0070C0"/>
                </a:solidFill>
              </a:rPr>
              <a:t>interconnection between system processes</a:t>
            </a:r>
            <a:r>
              <a:rPr lang="en-GB" dirty="0"/>
              <a:t> through the </a:t>
            </a:r>
            <a:r>
              <a:rPr lang="en-GB" dirty="0">
                <a:solidFill>
                  <a:srgbClr val="FF0000"/>
                </a:solidFill>
              </a:rPr>
              <a:t>exchange of data</a:t>
            </a:r>
            <a:r>
              <a:rPr lang="en-GB" dirty="0"/>
              <a:t> during system operation.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A DFD should clearly show: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Which processes depend on others,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The data required</a:t>
            </a:r>
            <a:r>
              <a:rPr lang="en-GB" dirty="0"/>
              <a:t> for each process,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The output produced</a:t>
            </a:r>
            <a:r>
              <a:rPr lang="en-GB" dirty="0"/>
              <a:t> by each process.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vi-VN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AF59C-CD76-4291-B9DB-F48832A6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67E3D-6B5F-4CFF-91E6-8C87318127BE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DATA FLOW DIAGRAM - DFD</a:t>
            </a:r>
          </a:p>
        </p:txBody>
      </p:sp>
    </p:spTree>
    <p:extLst>
      <p:ext uri="{BB962C8B-B14F-4D97-AF65-F5344CB8AC3E}">
        <p14:creationId xmlns:p14="http://schemas.microsoft.com/office/powerpoint/2010/main" val="2013967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31D6B-B96F-1718-135C-A541C29A4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490CC-BE44-62F3-3B7E-9B9EA294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Components of DFD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CDE1AF-BD0E-9377-F049-FAD79B2F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18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C9FF-D2F9-4622-B2D1-F0860EB36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E84B-46C6-465E-B0F7-A0A69DC66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Work or actio</a:t>
            </a:r>
            <a:r>
              <a:rPr lang="en-GB" dirty="0"/>
              <a:t>n performed on data (inside the system).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Labels</a:t>
            </a:r>
            <a:r>
              <a:rPr lang="en-GB" dirty="0"/>
              <a:t> should be </a:t>
            </a:r>
            <a:r>
              <a:rPr lang="en-GB" dirty="0">
                <a:solidFill>
                  <a:srgbClr val="FF0000"/>
                </a:solidFill>
              </a:rPr>
              <a:t>verb phrases</a:t>
            </a:r>
            <a:r>
              <a:rPr lang="en-GB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Receives input data and produces output.</a:t>
            </a:r>
            <a:endParaRPr lang="vi-VN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099A1-18A0-4397-9572-D8D505027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FEFFBA-5942-4D51-9753-39EEEB77F215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Components of DFD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FE06E3B-1C1B-16C6-CE2F-798BA4F65606}"/>
              </a:ext>
            </a:extLst>
          </p:cNvPr>
          <p:cNvGrpSpPr/>
          <p:nvPr/>
        </p:nvGrpSpPr>
        <p:grpSpPr>
          <a:xfrm>
            <a:off x="3456209" y="4243176"/>
            <a:ext cx="5279581" cy="1933787"/>
            <a:chOff x="4738687" y="4378113"/>
            <a:chExt cx="5279581" cy="193378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09BAE86-F219-E04C-ADD6-410F777ED135}"/>
                </a:ext>
              </a:extLst>
            </p:cNvPr>
            <p:cNvSpPr txBox="1"/>
            <p:nvPr/>
          </p:nvSpPr>
          <p:spPr>
            <a:xfrm>
              <a:off x="8511637" y="5942568"/>
              <a:ext cx="1506631" cy="369332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Process Name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EDC5406-2A2E-2A3F-FD6A-08F98BFB0281}"/>
                </a:ext>
              </a:extLst>
            </p:cNvPr>
            <p:cNvGrpSpPr/>
            <p:nvPr/>
          </p:nvGrpSpPr>
          <p:grpSpPr>
            <a:xfrm>
              <a:off x="4738687" y="4378113"/>
              <a:ext cx="4920508" cy="1798850"/>
              <a:chOff x="4738687" y="4378113"/>
              <a:chExt cx="4920508" cy="179885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478867D0-99CF-FB5D-3413-AC193418AE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38687" y="4748213"/>
                <a:ext cx="2714625" cy="1428750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41CB43-184F-7957-09F3-A232257570EE}"/>
                  </a:ext>
                </a:extLst>
              </p:cNvPr>
              <p:cNvSpPr txBox="1"/>
              <p:nvPr/>
            </p:nvSpPr>
            <p:spPr>
              <a:xfrm>
                <a:off x="8511637" y="4378113"/>
                <a:ext cx="1147558" cy="369332"/>
              </a:xfrm>
              <a:prstGeom prst="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Process ID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04557A92-7DA8-DEBF-1B3C-8090AA6485AD}"/>
                  </a:ext>
                </a:extLst>
              </p:cNvPr>
              <p:cNvCxnSpPr>
                <a:stCxn id="18" idx="1"/>
              </p:cNvCxnSpPr>
              <p:nvPr/>
            </p:nvCxnSpPr>
            <p:spPr>
              <a:xfrm flipH="1">
                <a:off x="6184490" y="4562779"/>
                <a:ext cx="2327147" cy="7171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62759142-712A-0855-CA75-028EA4289E90}"/>
                  </a:ext>
                </a:extLst>
              </p:cNvPr>
              <p:cNvCxnSpPr>
                <a:stCxn id="21" idx="1"/>
              </p:cNvCxnSpPr>
              <p:nvPr/>
            </p:nvCxnSpPr>
            <p:spPr>
              <a:xfrm flipH="1" flipV="1">
                <a:off x="7236542" y="5683045"/>
                <a:ext cx="1275095" cy="44418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2786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E0428-DF3E-4CCC-B2FA-839F78C6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DF19C-C1A8-4E93-BE54-D93367BE4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401235" cy="4530725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Is </a:t>
            </a:r>
            <a:r>
              <a:rPr lang="en-GB" dirty="0">
                <a:solidFill>
                  <a:srgbClr val="FF0000"/>
                </a:solidFill>
              </a:rPr>
              <a:t>a path</a:t>
            </a:r>
            <a:r>
              <a:rPr lang="en-GB" dirty="0"/>
              <a:t> </a:t>
            </a:r>
            <a:r>
              <a:rPr lang="en-GB" dirty="0">
                <a:solidFill>
                  <a:srgbClr val="0070C0"/>
                </a:solidFill>
              </a:rPr>
              <a:t>for data move</a:t>
            </a:r>
            <a:r>
              <a:rPr lang="en-GB" dirty="0"/>
              <a:t> from one part of the information system to another.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B050"/>
                </a:solidFill>
              </a:rPr>
              <a:t>Arrows depicting movement</a:t>
            </a:r>
            <a:r>
              <a:rPr lang="en-GB" dirty="0"/>
              <a:t> of data.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Can represent flow between process and data store by two separate arrows.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Labels</a:t>
            </a:r>
            <a:r>
              <a:rPr lang="en-GB" dirty="0"/>
              <a:t> should be </a:t>
            </a:r>
            <a:r>
              <a:rPr lang="en-GB" dirty="0">
                <a:solidFill>
                  <a:srgbClr val="FF0000"/>
                </a:solidFill>
              </a:rPr>
              <a:t>noun phrases</a:t>
            </a:r>
            <a:r>
              <a:rPr lang="en-GB" dirty="0"/>
              <a:t>.</a:t>
            </a:r>
            <a:endParaRPr lang="en-US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Input</a:t>
            </a:r>
            <a:r>
              <a:rPr lang="vi-VN" dirty="0"/>
              <a:t>: </a:t>
            </a:r>
            <a:r>
              <a:rPr lang="en-GB" dirty="0">
                <a:solidFill>
                  <a:srgbClr val="00B050"/>
                </a:solidFill>
              </a:rPr>
              <a:t>Required data</a:t>
            </a:r>
            <a:r>
              <a:rPr lang="en-GB" dirty="0"/>
              <a:t> for carrying out the process</a:t>
            </a:r>
            <a:r>
              <a:rPr lang="vi-VN" dirty="0"/>
              <a:t>.</a:t>
            </a:r>
            <a:endParaRPr lang="en-US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Output</a:t>
            </a:r>
            <a:r>
              <a:rPr lang="vi-VN" dirty="0"/>
              <a:t>: </a:t>
            </a:r>
            <a:r>
              <a:rPr lang="en-GB" dirty="0"/>
              <a:t>It represents </a:t>
            </a:r>
            <a:r>
              <a:rPr lang="en-GB" dirty="0">
                <a:solidFill>
                  <a:srgbClr val="00B050"/>
                </a:solidFill>
              </a:rPr>
              <a:t>the outcome of a real-world processing activity</a:t>
            </a:r>
            <a:r>
              <a:rPr lang="en-GB" dirty="0"/>
              <a:t>, typically materialized as physical evidence—such as a checklist, invoice, or other documentation.</a:t>
            </a:r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02928-217B-4C45-BE8C-84F3D4561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8D3A8C-C76C-42D8-8669-4143127249B5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Components of DFD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6F300F7-4A4D-5497-1F33-74498549481C}"/>
              </a:ext>
            </a:extLst>
          </p:cNvPr>
          <p:cNvGrpSpPr/>
          <p:nvPr/>
        </p:nvGrpSpPr>
        <p:grpSpPr>
          <a:xfrm>
            <a:off x="6606083" y="1379053"/>
            <a:ext cx="4950857" cy="4878270"/>
            <a:chOff x="6578091" y="1565666"/>
            <a:chExt cx="4950857" cy="487827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5D10AF1-3E14-5AF4-A064-DA1EB4C49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8091" y="1565666"/>
              <a:ext cx="4950857" cy="1391091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41AD4EB-A4E2-11C0-DCD4-428F9F969731}"/>
                </a:ext>
              </a:extLst>
            </p:cNvPr>
            <p:cNvGrpSpPr/>
            <p:nvPr/>
          </p:nvGrpSpPr>
          <p:grpSpPr>
            <a:xfrm>
              <a:off x="6828798" y="3137394"/>
              <a:ext cx="4564584" cy="3306542"/>
              <a:chOff x="6828798" y="3137394"/>
              <a:chExt cx="4564584" cy="3306542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995662F-14DA-2115-FD85-D408DE8C28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28798" y="3137394"/>
                <a:ext cx="4564584" cy="146542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43F91B3-85A9-75E3-0296-EA2512F27E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43096" y="4665612"/>
                <a:ext cx="2091521" cy="81396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E0B4B803-2B92-BA62-646E-A45054275C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68034" y="5658416"/>
                <a:ext cx="2865579" cy="78552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49524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DBC86-81F6-46A4-A01C-29BD55A83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D1F2B-8BA5-4739-B1A1-A7B6D985E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Is </a:t>
            </a:r>
            <a:r>
              <a:rPr lang="en-GB" dirty="0">
                <a:solidFill>
                  <a:srgbClr val="FF0000"/>
                </a:solidFill>
              </a:rPr>
              <a:t>origin</a:t>
            </a:r>
            <a:r>
              <a:rPr lang="en-GB" dirty="0"/>
              <a:t> or </a:t>
            </a:r>
            <a:r>
              <a:rPr lang="en-GB" dirty="0">
                <a:solidFill>
                  <a:srgbClr val="FF0000"/>
                </a:solidFill>
              </a:rPr>
              <a:t>destination</a:t>
            </a:r>
            <a:r>
              <a:rPr lang="en-GB" dirty="0"/>
              <a:t> of data (outside the system).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b="1" dirty="0"/>
              <a:t>Source</a:t>
            </a:r>
            <a:r>
              <a:rPr lang="en-GB" dirty="0"/>
              <a:t> – Entity that supplies data to the system.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b="1" dirty="0"/>
              <a:t>Sink</a:t>
            </a:r>
            <a:r>
              <a:rPr lang="en-GB" dirty="0"/>
              <a:t> – Entity that receives data from the system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Is the singular form of: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a department</a:t>
            </a:r>
            <a:r>
              <a:rPr lang="en-GB" dirty="0"/>
              <a:t>, outside organization; 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other information system</a:t>
            </a:r>
            <a:r>
              <a:rPr lang="en-GB" dirty="0"/>
              <a:t>; 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or </a:t>
            </a:r>
            <a:r>
              <a:rPr lang="en-GB" dirty="0">
                <a:solidFill>
                  <a:srgbClr val="0070C0"/>
                </a:solidFill>
              </a:rPr>
              <a:t>person</a:t>
            </a:r>
            <a:r>
              <a:rPr lang="en-GB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Labels</a:t>
            </a:r>
            <a:r>
              <a:rPr lang="en-GB" dirty="0"/>
              <a:t> should be </a:t>
            </a:r>
            <a:r>
              <a:rPr lang="en-GB" dirty="0">
                <a:solidFill>
                  <a:srgbClr val="FF0000"/>
                </a:solidFill>
              </a:rPr>
              <a:t>noun phrases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166BF-4211-4111-8A27-131607A7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678FB-3B61-4606-AEFA-FD887FAAAE04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Components of DFD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4B455F-CEC6-C048-2AC3-38B6AE561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196" y="3248258"/>
            <a:ext cx="4473255" cy="150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11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20A94-8D47-4694-A5A3-B943FB3E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60C86-FF42-4F07-A280-8EB34DEBD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59351" cy="4351338"/>
          </a:xfrm>
        </p:spPr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Is use in a DFD to </a:t>
            </a:r>
            <a:r>
              <a:rPr lang="en-GB" dirty="0">
                <a:solidFill>
                  <a:srgbClr val="0070C0"/>
                </a:solidFill>
              </a:rPr>
              <a:t>represent data that the system stores</a:t>
            </a:r>
            <a:r>
              <a:rPr lang="en-GB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Labels</a:t>
            </a:r>
            <a:r>
              <a:rPr lang="en-GB" dirty="0"/>
              <a:t> should be </a:t>
            </a:r>
            <a:r>
              <a:rPr lang="en-GB" dirty="0">
                <a:solidFill>
                  <a:srgbClr val="FF0000"/>
                </a:solidFill>
              </a:rPr>
              <a:t>noun phrases</a:t>
            </a:r>
            <a:r>
              <a:rPr lang="en-GB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Must have at </a:t>
            </a:r>
            <a:r>
              <a:rPr lang="en-GB" dirty="0">
                <a:solidFill>
                  <a:srgbClr val="00B050"/>
                </a:solidFill>
              </a:rPr>
              <a:t>least one incoming data flow and one outgoing data flow</a:t>
            </a:r>
            <a:r>
              <a:rPr lang="en-GB" dirty="0"/>
              <a:t>.</a:t>
            </a:r>
            <a:endParaRPr lang="vi-VN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9E448-B7F6-40C7-BE18-FFAB3CB5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B7EC0-6D0F-4AEE-8ACC-6562719177D9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Components of DFD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13FF44-B343-84F0-61AD-F3A1750A5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228" y="5187799"/>
            <a:ext cx="3183294" cy="11685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C982B8-094E-F1B3-363E-E087E4271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545" y="1990259"/>
            <a:ext cx="2801751" cy="402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938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0D1E9-52E3-2477-730A-C71CB6AFE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9E3D3-E568-D55A-0666-51F9913DA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that connects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5A7E4-E9E1-DC7B-2A19-09CBA8EC1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5776" cy="4351338"/>
          </a:xfrm>
        </p:spPr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vi-VN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D685E-2527-98C6-A52F-9DAA5576E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70F55-2520-4819-D320-073D28EADEC6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Components of DFD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98420E-B0B5-2FDE-FA55-71D195BDD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757" y="2087385"/>
            <a:ext cx="7072662" cy="382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34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951A-E4F0-4195-B0F2-978103237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EBCF0-41C1-4B5C-B80E-2255F19D9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GB" dirty="0"/>
              <a:t>If we want to reprint an already-issued receipt, is it possible to do so with this design?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F994F-3D98-49F4-8EA3-55F33E7FF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5ACAA2-A37C-433B-BE60-2C5AD29D043E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Components of DFD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66C67F-B634-4133-8E71-37B9B58C0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537" y="1646238"/>
            <a:ext cx="740092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2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8C794-B5AF-4A32-8BEF-74BE3EAC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description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8F147D8-0647-4DCF-BD83-D7E0F6F3D7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9096704"/>
              </p:ext>
            </p:extLst>
          </p:nvPr>
        </p:nvGraphicFramePr>
        <p:xfrm>
          <a:off x="838200" y="1825625"/>
          <a:ext cx="10515597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04578799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3820486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9536878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 name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344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Version:</a:t>
                      </a:r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Creator: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date: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411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Precondition 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974769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Postcondition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212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data: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steps: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data: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73061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75549-AB37-4ADB-A89E-B2D3FCE9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FD933A-8367-4D2C-9533-2D51456E6485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Components of DFD</a:t>
            </a:r>
          </a:p>
        </p:txBody>
      </p:sp>
    </p:spTree>
    <p:extLst>
      <p:ext uri="{BB962C8B-B14F-4D97-AF65-F5344CB8AC3E}">
        <p14:creationId xmlns:p14="http://schemas.microsoft.com/office/powerpoint/2010/main" val="3116138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1DE0A-2313-0AD9-3C6A-7BCADF93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B55AA-728E-8B7D-0A53-EF3960A3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DFD design method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ABD816-025C-5575-B3F0-B1AB01060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47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73878-BFD6-44E3-B7EC-FFB2C6CCC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96966-A413-45FC-901D-0FEE2BD6C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Break down</a:t>
            </a:r>
            <a:r>
              <a:rPr lang="en-GB" dirty="0"/>
              <a:t> activities progressively into detailed steps </a:t>
            </a:r>
            <a:r>
              <a:rPr lang="en-GB" dirty="0">
                <a:solidFill>
                  <a:srgbClr val="0070C0"/>
                </a:solidFill>
              </a:rPr>
              <a:t>until they can be handed off to programmers for implementation</a:t>
            </a:r>
            <a:r>
              <a:rPr lang="en-GB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This is a </a:t>
            </a:r>
            <a:r>
              <a:rPr lang="en-GB" dirty="0">
                <a:solidFill>
                  <a:srgbClr val="FF0000"/>
                </a:solidFill>
              </a:rPr>
              <a:t>top-down analysis method</a:t>
            </a:r>
            <a:r>
              <a:rPr lang="en-GB" dirty="0"/>
              <a:t>, starting from a general overview and narrowing down to specifics.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17B3B-8F6D-429E-9F90-C5B9FC5D6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5D3DC-0178-49E6-9C49-46B2D83EF4D9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DFD design method</a:t>
            </a:r>
          </a:p>
        </p:txBody>
      </p:sp>
    </p:spTree>
    <p:extLst>
      <p:ext uri="{BB962C8B-B14F-4D97-AF65-F5344CB8AC3E}">
        <p14:creationId xmlns:p14="http://schemas.microsoft.com/office/powerpoint/2010/main" val="1219026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B0DB-C628-4D44-B70F-3DEB6106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DFD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1F341-86A8-474C-9E4F-5FA1CB548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Context Diagram – Level 0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First DFD in every business process, shows the context into which the business process fits.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Shows the overall business process as </a:t>
            </a:r>
            <a:r>
              <a:rPr lang="en-GB" dirty="0">
                <a:solidFill>
                  <a:srgbClr val="FF0000"/>
                </a:solidFill>
              </a:rPr>
              <a:t>just one process</a:t>
            </a:r>
            <a:r>
              <a:rPr lang="en-GB" dirty="0"/>
              <a:t> (process 0, </a:t>
            </a:r>
            <a:r>
              <a:rPr lang="en-GB" dirty="0">
                <a:solidFill>
                  <a:srgbClr val="FF0000"/>
                </a:solidFill>
              </a:rPr>
              <a:t>Label</a:t>
            </a:r>
            <a:r>
              <a:rPr lang="en-GB" dirty="0"/>
              <a:t> should be </a:t>
            </a:r>
            <a:r>
              <a:rPr lang="en-GB" dirty="0">
                <a:solidFill>
                  <a:srgbClr val="FF0000"/>
                </a:solidFill>
              </a:rPr>
              <a:t>noun phrase</a:t>
            </a:r>
            <a:r>
              <a:rPr lang="en-GB" dirty="0"/>
              <a:t>).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Shows </a:t>
            </a:r>
            <a:r>
              <a:rPr lang="en-GB" dirty="0">
                <a:solidFill>
                  <a:srgbClr val="FF0000"/>
                </a:solidFill>
              </a:rPr>
              <a:t>all the external entities</a:t>
            </a:r>
            <a:r>
              <a:rPr lang="en-GB" dirty="0"/>
              <a:t> that </a:t>
            </a:r>
            <a:r>
              <a:rPr lang="en-GB" dirty="0">
                <a:solidFill>
                  <a:srgbClr val="FF0000"/>
                </a:solidFill>
              </a:rPr>
              <a:t>receive information from or contribute information to</a:t>
            </a:r>
            <a:r>
              <a:rPr lang="en-GB" dirty="0"/>
              <a:t> the system.</a:t>
            </a:r>
            <a:endParaRPr lang="en-US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</a:rPr>
              <a:t>Exclude data stores from the diagram</a:t>
            </a:r>
            <a:r>
              <a:rPr lang="en-US" dirty="0"/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EFCAB-450E-4945-81EF-9FCC91FF7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8650EA-08F4-4E7E-AA9B-7D1146DBCC0C}"/>
              </a:ext>
            </a:extLst>
          </p:cNvPr>
          <p:cNvSpPr txBox="1"/>
          <p:nvPr/>
        </p:nvSpPr>
        <p:spPr>
          <a:xfrm>
            <a:off x="3630707" y="107577"/>
            <a:ext cx="84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DFD design method</a:t>
            </a:r>
          </a:p>
        </p:txBody>
      </p:sp>
    </p:spTree>
    <p:extLst>
      <p:ext uri="{BB962C8B-B14F-4D97-AF65-F5344CB8AC3E}">
        <p14:creationId xmlns:p14="http://schemas.microsoft.com/office/powerpoint/2010/main" val="806352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FAE77-D55D-4739-990F-62FD9E68D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Context Diagram – Level 0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29FAC-86D8-4192-B189-FCFC810C8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C21AC-0B10-414C-8873-F2CD23D5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3270A-6B51-4720-9B3A-BFA8082D34E3}"/>
              </a:ext>
            </a:extLst>
          </p:cNvPr>
          <p:cNvSpPr txBox="1"/>
          <p:nvPr/>
        </p:nvSpPr>
        <p:spPr>
          <a:xfrm>
            <a:off x="3630707" y="107577"/>
            <a:ext cx="84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DFD design method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98F384-D800-41CE-B71C-DD14FE6C8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635" y="1812249"/>
            <a:ext cx="7856113" cy="490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19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66A2-17E2-4283-9A74-A72565A6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Lower - Level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6D01E-DCEA-452C-931C-AAC7D5D9C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Functional/Process Decomposition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An iterative process of breaking</a:t>
            </a:r>
            <a:r>
              <a:rPr lang="en-GB" dirty="0"/>
              <a:t> a system description down </a:t>
            </a:r>
            <a:r>
              <a:rPr lang="en-GB" dirty="0">
                <a:solidFill>
                  <a:srgbClr val="00B050"/>
                </a:solidFill>
              </a:rPr>
              <a:t>into finer and finer detail</a:t>
            </a:r>
            <a:r>
              <a:rPr lang="en-GB" dirty="0"/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Uses a series of increasingly detailed DFDs to describe an IS.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Balancing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The conservation of inputs and outputs</a:t>
            </a:r>
            <a:r>
              <a:rPr lang="en-GB" dirty="0"/>
              <a:t> to a data flow process when that process is decomposed to a lower level.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Ensures</a:t>
            </a:r>
            <a:r>
              <a:rPr lang="en-GB" dirty="0"/>
              <a:t> that the </a:t>
            </a:r>
            <a:r>
              <a:rPr lang="en-GB" dirty="0">
                <a:solidFill>
                  <a:srgbClr val="0070C0"/>
                </a:solidFill>
              </a:rPr>
              <a:t>input and output data</a:t>
            </a:r>
            <a:r>
              <a:rPr lang="en-GB" dirty="0"/>
              <a:t> flows of the </a:t>
            </a:r>
            <a:r>
              <a:rPr lang="en-GB" dirty="0">
                <a:solidFill>
                  <a:srgbClr val="00B050"/>
                </a:solidFill>
              </a:rPr>
              <a:t>parent</a:t>
            </a:r>
            <a:r>
              <a:rPr lang="en-GB" dirty="0"/>
              <a:t> DFD are </a:t>
            </a:r>
            <a:r>
              <a:rPr lang="en-GB" dirty="0">
                <a:solidFill>
                  <a:srgbClr val="00B050"/>
                </a:solidFill>
              </a:rPr>
              <a:t>maintained</a:t>
            </a:r>
            <a:r>
              <a:rPr lang="en-GB" dirty="0"/>
              <a:t> on the </a:t>
            </a:r>
            <a:r>
              <a:rPr lang="en-GB" dirty="0">
                <a:solidFill>
                  <a:srgbClr val="00B050"/>
                </a:solidFill>
              </a:rPr>
              <a:t>child</a:t>
            </a:r>
            <a:r>
              <a:rPr lang="en-GB" dirty="0"/>
              <a:t> DFD.</a:t>
            </a:r>
            <a:endParaRPr lang="vi-VN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6994E-A8D1-46EE-B112-039CA661F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08E6C-DD96-4C2D-B258-805B0F355A87}"/>
              </a:ext>
            </a:extLst>
          </p:cNvPr>
          <p:cNvSpPr txBox="1"/>
          <p:nvPr/>
        </p:nvSpPr>
        <p:spPr>
          <a:xfrm>
            <a:off x="3630707" y="107577"/>
            <a:ext cx="84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DFD design method</a:t>
            </a:r>
          </a:p>
        </p:txBody>
      </p:sp>
    </p:spTree>
    <p:extLst>
      <p:ext uri="{BB962C8B-B14F-4D97-AF65-F5344CB8AC3E}">
        <p14:creationId xmlns:p14="http://schemas.microsoft.com/office/powerpoint/2010/main" val="1676511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43EB5-5661-4979-8841-99FF79665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Suggestions on how to design a DFD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98CBE-7E4C-4BD2-B315-33B649C7A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Step 1</a:t>
            </a:r>
            <a:r>
              <a:rPr lang="en-GB" dirty="0"/>
              <a:t> – Design the Functional Decomposition Diagram (FDD)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This is considered the tree that </a:t>
            </a:r>
            <a:r>
              <a:rPr lang="en-GB" dirty="0">
                <a:solidFill>
                  <a:srgbClr val="0070C0"/>
                </a:solidFill>
              </a:rPr>
              <a:t>represents the decomposition process</a:t>
            </a:r>
            <a:r>
              <a:rPr lang="en-GB" dirty="0"/>
              <a:t> of the DFD.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It illustrates the individual components of the processing system along with </a:t>
            </a:r>
            <a:r>
              <a:rPr lang="en-GB" dirty="0">
                <a:solidFill>
                  <a:srgbClr val="0070C0"/>
                </a:solidFill>
              </a:rPr>
              <a:t>the hierarchical relationships</a:t>
            </a:r>
            <a:r>
              <a:rPr lang="en-GB" dirty="0"/>
              <a:t> between them.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The diagram is displayed in a tree format, where </a:t>
            </a:r>
            <a:r>
              <a:rPr lang="en-GB" dirty="0">
                <a:solidFill>
                  <a:srgbClr val="0070C0"/>
                </a:solidFill>
              </a:rPr>
              <a:t>elements closer to the root are more general</a:t>
            </a:r>
            <a:r>
              <a:rPr lang="en-GB" dirty="0"/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1CA97-0EA2-408A-897F-754F42CB9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3CDDF-BB93-4906-B9FD-13B7E0A130E2}"/>
              </a:ext>
            </a:extLst>
          </p:cNvPr>
          <p:cNvSpPr txBox="1"/>
          <p:nvPr/>
        </p:nvSpPr>
        <p:spPr>
          <a:xfrm>
            <a:off x="3630707" y="107577"/>
            <a:ext cx="84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DFD design method</a:t>
            </a:r>
          </a:p>
        </p:txBody>
      </p:sp>
    </p:spTree>
    <p:extLst>
      <p:ext uri="{BB962C8B-B14F-4D97-AF65-F5344CB8AC3E}">
        <p14:creationId xmlns:p14="http://schemas.microsoft.com/office/powerpoint/2010/main" val="1430364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2C9D-F1A7-CDC1-6396-D43D58272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7C66B-D9FD-ADFB-C0E6-B9294F31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433D5-0557-1287-EE91-935695CB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B67FD-0217-5EB3-E15E-442E38A282B1}"/>
              </a:ext>
            </a:extLst>
          </p:cNvPr>
          <p:cNvSpPr txBox="1"/>
          <p:nvPr/>
        </p:nvSpPr>
        <p:spPr>
          <a:xfrm>
            <a:off x="3630707" y="107577"/>
            <a:ext cx="84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DFD design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410BE6-D8EA-42F5-0272-6B234F0CD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Káº¿t quáº£ hÃ¬nh áº£nh cho dfd functional decomposition tree">
            <a:extLst>
              <a:ext uri="{FF2B5EF4-FFF2-40B4-BE49-F238E27FC236}">
                <a16:creationId xmlns:a16="http://schemas.microsoft.com/office/drawing/2014/main" id="{2B8EDD77-08E6-61F8-6A08-84B27DBAC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26" y="2020603"/>
            <a:ext cx="10990148" cy="3712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873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F616-F824-4515-AD9E-1A1F23660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5" name="Content Placeholder 64">
            <a:extLst>
              <a:ext uri="{FF2B5EF4-FFF2-40B4-BE49-F238E27FC236}">
                <a16:creationId xmlns:a16="http://schemas.microsoft.com/office/drawing/2014/main" id="{F30AF646-F728-6413-92A0-DB14C82ECF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366" y="1842652"/>
            <a:ext cx="6763268" cy="487882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A371C-D382-4703-9CA9-7B05FA15F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2B721-BB9E-4F9A-B36C-09BD4BB7B5C6}"/>
              </a:ext>
            </a:extLst>
          </p:cNvPr>
          <p:cNvSpPr txBox="1"/>
          <p:nvPr/>
        </p:nvSpPr>
        <p:spPr>
          <a:xfrm>
            <a:off x="3630707" y="107577"/>
            <a:ext cx="84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DFD design method</a:t>
            </a:r>
          </a:p>
        </p:txBody>
      </p:sp>
    </p:spTree>
    <p:extLst>
      <p:ext uri="{BB962C8B-B14F-4D97-AF65-F5344CB8AC3E}">
        <p14:creationId xmlns:p14="http://schemas.microsoft.com/office/powerpoint/2010/main" val="3204191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F168B-30AF-4FAB-B029-96A77D76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Suggestions on how to design a DFD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C3D53-34E1-4A1F-8505-94E05C957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03894" cy="4351338"/>
          </a:xfrm>
        </p:spPr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Step 2</a:t>
            </a:r>
            <a:r>
              <a:rPr lang="en-GB" dirty="0"/>
              <a:t> – Fill in the </a:t>
            </a:r>
            <a:r>
              <a:rPr lang="en-GB" dirty="0">
                <a:solidFill>
                  <a:srgbClr val="0070C0"/>
                </a:solidFill>
              </a:rPr>
              <a:t>Event Table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Only fill in the table for </a:t>
            </a:r>
            <a:r>
              <a:rPr lang="en-GB" dirty="0">
                <a:solidFill>
                  <a:srgbClr val="00B050"/>
                </a:solidFill>
              </a:rPr>
              <a:t>the processes at the most detailed level of the FDD</a:t>
            </a:r>
            <a:r>
              <a:rPr lang="en-GB" dirty="0"/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40C29-05EC-42BF-B399-897B56A78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F8EF7-FE55-4303-A2BC-7E9B2224393C}"/>
              </a:ext>
            </a:extLst>
          </p:cNvPr>
          <p:cNvSpPr txBox="1"/>
          <p:nvPr/>
        </p:nvSpPr>
        <p:spPr>
          <a:xfrm>
            <a:off x="3630707" y="107577"/>
            <a:ext cx="84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DFD design method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47165B0-13A0-4E93-BDCB-D758634B4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738188"/>
              </p:ext>
            </p:extLst>
          </p:nvPr>
        </p:nvGraphicFramePr>
        <p:xfrm>
          <a:off x="838200" y="3506470"/>
          <a:ext cx="10820400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682">
                  <a:extLst>
                    <a:ext uri="{9D8B030D-6E8A-4147-A177-3AD203B41FA5}">
                      <a16:colId xmlns:a16="http://schemas.microsoft.com/office/drawing/2014/main" val="2184868733"/>
                    </a:ext>
                  </a:extLst>
                </a:gridCol>
                <a:gridCol w="2303930">
                  <a:extLst>
                    <a:ext uri="{9D8B030D-6E8A-4147-A177-3AD203B41FA5}">
                      <a16:colId xmlns:a16="http://schemas.microsoft.com/office/drawing/2014/main" val="3923380263"/>
                    </a:ext>
                  </a:extLst>
                </a:gridCol>
                <a:gridCol w="2124635">
                  <a:extLst>
                    <a:ext uri="{9D8B030D-6E8A-4147-A177-3AD203B41FA5}">
                      <a16:colId xmlns:a16="http://schemas.microsoft.com/office/drawing/2014/main" val="1701079117"/>
                    </a:ext>
                  </a:extLst>
                </a:gridCol>
                <a:gridCol w="1730188">
                  <a:extLst>
                    <a:ext uri="{9D8B030D-6E8A-4147-A177-3AD203B41FA5}">
                      <a16:colId xmlns:a16="http://schemas.microsoft.com/office/drawing/2014/main" val="1078413616"/>
                    </a:ext>
                  </a:extLst>
                </a:gridCol>
                <a:gridCol w="2015565">
                  <a:extLst>
                    <a:ext uri="{9D8B030D-6E8A-4147-A177-3AD203B41FA5}">
                      <a16:colId xmlns:a16="http://schemas.microsoft.com/office/drawing/2014/main" val="222158999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155024410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 (STT )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 (Ô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 Entity (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nhân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store (Kho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6237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(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Nguồn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Sink (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Đích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Retrieving (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xuất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Updating (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Cập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23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phiếu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tiền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¬"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KHÁCH HÀNG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Mã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khách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hàng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Thông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tin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sản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phẩm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mua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¬"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NHÂN VIÊN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Mã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nhân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viên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¬"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KHÁCH HÀNG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Phiếu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tính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tiền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¬"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SẢN PHẨM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Thông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tin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sản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phẩm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¬"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KHÁCH HÀNG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Thông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tin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khách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hàng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¬"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NHÂN VIÊN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Thông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tin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nhân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viên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¬"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SẢN PHẨM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Số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lượng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tồn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được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cập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nhật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¬"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KHÁCH HÀNG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Điểm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tích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lũy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được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cập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nhật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¬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PHIẾU TÍNH TIỀN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Phiếu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tính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tiền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mới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được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lưu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14827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482C898-5F59-4FCB-BF70-C816C0DAC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409" y="1575276"/>
            <a:ext cx="4023191" cy="188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66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8F59F-61F9-4034-ADE5-3892C3B95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Suggestions on how to design a DFD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DEFBC-36D2-4E58-A469-0AA491DD9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4553" cy="4351338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Step 3 </a:t>
            </a:r>
            <a:r>
              <a:rPr lang="en-GB" dirty="0"/>
              <a:t>– </a:t>
            </a:r>
            <a:r>
              <a:rPr lang="en-GB" dirty="0">
                <a:solidFill>
                  <a:srgbClr val="0070C0"/>
                </a:solidFill>
              </a:rPr>
              <a:t>Draw the DFD</a:t>
            </a:r>
            <a:endParaRPr lang="en-US" dirty="0">
              <a:solidFill>
                <a:srgbClr val="0070C0"/>
              </a:solidFill>
            </a:endParaRP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Use the FDD, the Event table and the Balancing rule.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B050"/>
                </a:solidFill>
              </a:rPr>
              <a:t>Start with Level 0</a:t>
            </a:r>
            <a:r>
              <a:rPr lang="en-GB" dirty="0"/>
              <a:t>, then gradually detail lower levels.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Refer to the FDD </a:t>
            </a:r>
            <a:r>
              <a:rPr lang="en-GB" dirty="0"/>
              <a:t>to identify </a:t>
            </a:r>
            <a:r>
              <a:rPr lang="en-GB" dirty="0">
                <a:solidFill>
                  <a:srgbClr val="0070C0"/>
                </a:solidFill>
              </a:rPr>
              <a:t>which processes appear at each DFD level</a:t>
            </a:r>
            <a:r>
              <a:rPr lang="en-GB" dirty="0"/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Refer to the Event Table</a:t>
            </a:r>
            <a:r>
              <a:rPr lang="en-GB" dirty="0"/>
              <a:t> to </a:t>
            </a:r>
            <a:r>
              <a:rPr lang="en-GB" dirty="0">
                <a:solidFill>
                  <a:srgbClr val="00B050"/>
                </a:solidFill>
              </a:rPr>
              <a:t>determine for each process</a:t>
            </a:r>
            <a:r>
              <a:rPr lang="en-GB" dirty="0"/>
              <a:t>:</a:t>
            </a:r>
          </a:p>
          <a:p>
            <a:pPr lvl="2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Which </a:t>
            </a:r>
            <a:r>
              <a:rPr lang="en-GB" dirty="0">
                <a:solidFill>
                  <a:srgbClr val="00B050"/>
                </a:solidFill>
              </a:rPr>
              <a:t>external entities</a:t>
            </a:r>
            <a:r>
              <a:rPr lang="en-GB" dirty="0"/>
              <a:t> (sources and sinks) are involved,</a:t>
            </a:r>
          </a:p>
          <a:p>
            <a:pPr lvl="2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What </a:t>
            </a:r>
            <a:r>
              <a:rPr lang="en-GB" dirty="0">
                <a:solidFill>
                  <a:srgbClr val="00B050"/>
                </a:solidFill>
              </a:rPr>
              <a:t>input data </a:t>
            </a:r>
            <a:r>
              <a:rPr lang="en-GB" dirty="0"/>
              <a:t>is received and what </a:t>
            </a:r>
            <a:r>
              <a:rPr lang="en-GB" dirty="0">
                <a:solidFill>
                  <a:srgbClr val="00B050"/>
                </a:solidFill>
              </a:rPr>
              <a:t>output results</a:t>
            </a:r>
            <a:r>
              <a:rPr lang="en-GB" dirty="0"/>
              <a:t> are returned,</a:t>
            </a:r>
          </a:p>
          <a:p>
            <a:pPr lvl="2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Which </a:t>
            </a:r>
            <a:r>
              <a:rPr lang="en-GB" dirty="0">
                <a:solidFill>
                  <a:srgbClr val="00B050"/>
                </a:solidFill>
              </a:rPr>
              <a:t>data stores</a:t>
            </a:r>
            <a:r>
              <a:rPr lang="en-GB" dirty="0"/>
              <a:t> are used or updated.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1382D-454E-403E-BD22-29B0F5F5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9DFD9A-ECB1-461B-8F21-2C57F05C0A4C}"/>
              </a:ext>
            </a:extLst>
          </p:cNvPr>
          <p:cNvSpPr txBox="1"/>
          <p:nvPr/>
        </p:nvSpPr>
        <p:spPr>
          <a:xfrm>
            <a:off x="3630707" y="107577"/>
            <a:ext cx="84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DFD design method</a:t>
            </a:r>
          </a:p>
        </p:txBody>
      </p:sp>
    </p:spTree>
    <p:extLst>
      <p:ext uri="{BB962C8B-B14F-4D97-AF65-F5344CB8AC3E}">
        <p14:creationId xmlns:p14="http://schemas.microsoft.com/office/powerpoint/2010/main" val="2713481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7B379-020E-4649-8D09-6FA5D53B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D71F5-D1BF-4F35-8D1B-B07AD7C65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GB" dirty="0"/>
              <a:t>Design a DFD for the system described in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https://drive.google.com/file/d/1NgaewywHymvjP1whUVoQCosxB7W7z-zE/view?usp=sharing</a:t>
            </a:r>
            <a:endParaRPr lang="en-US" dirty="0"/>
          </a:p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GB" dirty="0"/>
              <a:t>Steps to Perform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</a:pPr>
            <a:r>
              <a:rPr lang="en-GB" dirty="0"/>
              <a:t>Design the Functional Decomposition Diagram.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</a:pPr>
            <a:r>
              <a:rPr lang="en-GB" dirty="0"/>
              <a:t>Fill in </a:t>
            </a:r>
            <a:r>
              <a:rPr lang="en-GB"/>
              <a:t>the Event </a:t>
            </a:r>
            <a:r>
              <a:rPr lang="en-GB" dirty="0"/>
              <a:t>t</a:t>
            </a:r>
            <a:r>
              <a:rPr lang="en-GB"/>
              <a:t>able</a:t>
            </a:r>
            <a:r>
              <a:rPr lang="en-GB" dirty="0"/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</a:pPr>
            <a:r>
              <a:rPr lang="en-GB" dirty="0"/>
              <a:t>Draw the Data Flow Diagram for all levels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B2FB5-8CD3-4422-9C29-760DD79C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7E4791-992D-4407-A323-C2E826EF4AC8}"/>
              </a:ext>
            </a:extLst>
          </p:cNvPr>
          <p:cNvSpPr txBox="1"/>
          <p:nvPr/>
        </p:nvSpPr>
        <p:spPr>
          <a:xfrm>
            <a:off x="3630707" y="107577"/>
            <a:ext cx="84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DFD design method</a:t>
            </a:r>
          </a:p>
        </p:txBody>
      </p:sp>
    </p:spTree>
    <p:extLst>
      <p:ext uri="{BB962C8B-B14F-4D97-AF65-F5344CB8AC3E}">
        <p14:creationId xmlns:p14="http://schemas.microsoft.com/office/powerpoint/2010/main" val="40026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5556</TotalTime>
  <Words>1077</Words>
  <Application>Microsoft Office PowerPoint</Application>
  <PresentationFormat>Widescreen</PresentationFormat>
  <Paragraphs>187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Wingdings</vt:lpstr>
      <vt:lpstr>Office Theme</vt:lpstr>
      <vt:lpstr>SYSTEM ANALYSIS and DESIGN  Chapter 5: System Processing Modelling</vt:lpstr>
      <vt:lpstr>Basic concepts</vt:lpstr>
      <vt:lpstr>PowerPoint Presentation</vt:lpstr>
      <vt:lpstr>Processing design approach</vt:lpstr>
      <vt:lpstr>Processing design approach</vt:lpstr>
      <vt:lpstr>DATA FLOW DIAGRAM - DFD</vt:lpstr>
      <vt:lpstr>PowerPoint Presentation</vt:lpstr>
      <vt:lpstr>Components of DFD</vt:lpstr>
      <vt:lpstr>Process</vt:lpstr>
      <vt:lpstr>Data Flow</vt:lpstr>
      <vt:lpstr>External Entity</vt:lpstr>
      <vt:lpstr>Data store</vt:lpstr>
      <vt:lpstr>Data flow that connects</vt:lpstr>
      <vt:lpstr>Example</vt:lpstr>
      <vt:lpstr>Process description</vt:lpstr>
      <vt:lpstr>DFD design method</vt:lpstr>
      <vt:lpstr>PowerPoint Presentation</vt:lpstr>
      <vt:lpstr>DFD levels</vt:lpstr>
      <vt:lpstr>Context Diagram – Level 0 </vt:lpstr>
      <vt:lpstr>Lower - Level Diagrams</vt:lpstr>
      <vt:lpstr>Suggestions on how to design a DFD</vt:lpstr>
      <vt:lpstr>PowerPoint Presentation</vt:lpstr>
      <vt:lpstr>PowerPoint Presentation</vt:lpstr>
      <vt:lpstr>Suggestions on how to design a DFD</vt:lpstr>
      <vt:lpstr>Suggestions on how to design a DFD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THIẾT KẾ HỆ THỐNG  Chương 0: Giới thiệu học phần</dc:title>
  <dc:creator>Quoc Dinh Truong</dc:creator>
  <cp:lastModifiedBy>Quoc Dinh Truong</cp:lastModifiedBy>
  <cp:revision>468</cp:revision>
  <dcterms:created xsi:type="dcterms:W3CDTF">2021-07-03T03:36:42Z</dcterms:created>
  <dcterms:modified xsi:type="dcterms:W3CDTF">2025-08-06T03:13:12Z</dcterms:modified>
</cp:coreProperties>
</file>