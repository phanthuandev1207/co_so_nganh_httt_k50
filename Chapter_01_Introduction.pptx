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7"/>
  </p:notesMasterIdLst>
  <p:sldIdLst>
    <p:sldId id="256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58" r:id="rId11"/>
    <p:sldId id="259" r:id="rId12"/>
    <p:sldId id="260" r:id="rId13"/>
    <p:sldId id="279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80" r:id="rId22"/>
    <p:sldId id="268" r:id="rId23"/>
    <p:sldId id="269" r:id="rId24"/>
    <p:sldId id="270" r:id="rId25"/>
    <p:sldId id="27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notesMaster" Target="notesMasters/notesMaster1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FE0B85-1570-42E5-A470-CD60031DA3FF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37EB30-CA07-466F-B7CB-64BBF797ECA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B13CC-14BB-401F-97C5-EDCE5DFF6FF4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06824"/>
            <a:ext cx="10515600" cy="883864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63683-B418-4383-9D33-3DAAF9B5D79E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53788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4B97D-1085-4B64-8C1B-1D2060E561E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58282-EC73-4E57-8B04-43387C75DB91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FA055-C3F6-4E73-B086-0FD9FCD0C792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18BFC-7707-419B-8FE2-CC6169DF58AE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9C33A-9B8A-4129-9955-5D8428B6433D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66DA9-C19C-472C-805C-F949BAC7CEA5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66D97-9938-4FB5-AAC4-1063A7D8846C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C1A2A-57AD-41C4-900C-44681F244EE1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57A2A-AEC8-494A-B814-DAA89464169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49207C-3B04-4B31-8A47-451F19E57622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FF8543-F9CB-4923-BC76-CA5367B4ED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jpe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image" Target="../media/image9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image" Target="../media/image12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wmf"/><Relationship Id="rId1" Type="http://schemas.openxmlformats.org/officeDocument/2006/relationships/oleObject" Target="../embeddings/oleObject1.bin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jpe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1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20.wmf"/><Relationship Id="rId1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5959" y="714188"/>
            <a:ext cx="10520082" cy="277756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System Analysis and Design</a:t>
            </a:r>
            <a:br>
              <a:rPr lang="en-US" sz="4800" dirty="0"/>
            </a:br>
            <a:br>
              <a:rPr lang="en-US" sz="4800" dirty="0"/>
            </a:br>
            <a:r>
              <a:rPr lang="en-US" sz="4800" dirty="0">
                <a:solidFill>
                  <a:schemeClr val="accent6">
                    <a:lumMod val="50000"/>
                  </a:schemeClr>
                </a:solidFill>
              </a:rPr>
              <a:t>Chapter 1: Introduction</a:t>
            </a:r>
            <a:endParaRPr lang="en-US" sz="48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188" y="5009496"/>
            <a:ext cx="9493624" cy="1655762"/>
          </a:xfrm>
        </p:spPr>
        <p:txBody>
          <a:bodyPr/>
          <a:lstStyle/>
          <a:p>
            <a:r>
              <a:rPr lang="en-US" dirty="0" err="1"/>
              <a:t>Trương</a:t>
            </a:r>
            <a:r>
              <a:rPr lang="en-US" dirty="0"/>
              <a:t> </a:t>
            </a:r>
            <a:r>
              <a:rPr lang="en-US" dirty="0" err="1"/>
              <a:t>Quốc</a:t>
            </a:r>
            <a:r>
              <a:rPr lang="en-US" dirty="0"/>
              <a:t> </a:t>
            </a:r>
            <a:r>
              <a:rPr lang="en-US" dirty="0" err="1"/>
              <a:t>Định</a:t>
            </a:r>
            <a:endParaRPr lang="en-US" dirty="0"/>
          </a:p>
          <a:p>
            <a:r>
              <a:rPr lang="en-US" dirty="0"/>
              <a:t>Faculty of Information Systems – CICT– Can Tho University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4102" y="2766218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General Course Information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Course</a:t>
            </a:r>
            <a:endParaRPr lang="en-US" dirty="0"/>
          </a:p>
          <a:p>
            <a:pPr lvl="1"/>
            <a:r>
              <a:rPr lang="en-US" dirty="0"/>
              <a:t>System Analysis and Design</a:t>
            </a:r>
            <a:endParaRPr lang="en-US" dirty="0"/>
          </a:p>
          <a:p>
            <a:pPr lvl="1"/>
            <a:r>
              <a:rPr lang="en-US" dirty="0"/>
              <a:t>Code: CT112H</a:t>
            </a:r>
            <a:endParaRPr lang="en-US" dirty="0"/>
          </a:p>
          <a:p>
            <a:r>
              <a:rPr lang="en-US" dirty="0"/>
              <a:t>Credits</a:t>
            </a:r>
            <a:endParaRPr lang="en-US" dirty="0"/>
          </a:p>
          <a:p>
            <a:pPr lvl="1"/>
            <a:r>
              <a:rPr lang="en-US" dirty="0"/>
              <a:t>03 (</a:t>
            </a:r>
            <a:r>
              <a:rPr lang="en-GB" dirty="0">
                <a:solidFill>
                  <a:srgbClr val="FF0000"/>
                </a:solidFill>
              </a:rPr>
              <a:t>30 </a:t>
            </a:r>
            <a:r>
              <a:rPr lang="en-GB" dirty="0"/>
              <a:t>theory hours;</a:t>
            </a:r>
            <a:r>
              <a:rPr lang="en-GB" dirty="0">
                <a:solidFill>
                  <a:srgbClr val="FF0000"/>
                </a:solidFill>
              </a:rPr>
              <a:t> 30 </a:t>
            </a:r>
            <a:r>
              <a:rPr lang="en-GB" dirty="0"/>
              <a:t>practice hours</a:t>
            </a:r>
            <a:r>
              <a:rPr lang="en-US" dirty="0"/>
              <a:t>)</a:t>
            </a:r>
            <a:endParaRPr lang="en-US" dirty="0"/>
          </a:p>
          <a:p>
            <a:r>
              <a:rPr lang="en-US" dirty="0"/>
              <a:t>Assessment</a:t>
            </a:r>
            <a:endParaRPr lang="en-US" dirty="0"/>
          </a:p>
          <a:p>
            <a:pPr lvl="1"/>
            <a:r>
              <a:rPr lang="en-GB" dirty="0"/>
              <a:t>Group project or Mid-term exam</a:t>
            </a:r>
            <a:r>
              <a:rPr lang="en-US" dirty="0"/>
              <a:t>, weights: </a:t>
            </a:r>
            <a:r>
              <a:rPr lang="en-US" dirty="0">
                <a:solidFill>
                  <a:srgbClr val="FF0000"/>
                </a:solidFill>
              </a:rPr>
              <a:t>40%</a:t>
            </a:r>
            <a:endParaRPr lang="en-US" dirty="0">
              <a:solidFill>
                <a:srgbClr val="FF0000"/>
              </a:solidFill>
            </a:endParaRPr>
          </a:p>
          <a:p>
            <a:pPr lvl="1"/>
            <a:r>
              <a:rPr lang="en-US" dirty="0"/>
              <a:t>Final exam, weights: </a:t>
            </a:r>
            <a:r>
              <a:rPr lang="en-US" dirty="0">
                <a:solidFill>
                  <a:srgbClr val="FF0000"/>
                </a:solidFill>
              </a:rPr>
              <a:t>60%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93859" y="107577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General course information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Knowledge about:</a:t>
            </a:r>
            <a:endParaRPr lang="en-US" dirty="0"/>
          </a:p>
          <a:p>
            <a:pPr lvl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System Development</a:t>
            </a:r>
            <a:r>
              <a:rPr lang="en-US" dirty="0">
                <a:solidFill>
                  <a:srgbClr val="FF0000"/>
                </a:solidFill>
              </a:rPr>
              <a:t> Environment</a:t>
            </a:r>
            <a:r>
              <a:rPr lang="en-US" dirty="0"/>
              <a:t>,</a:t>
            </a:r>
            <a:endParaRPr lang="en-US" dirty="0"/>
          </a:p>
          <a:p>
            <a:pPr lvl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FF0000"/>
                </a:solidFill>
              </a:rPr>
              <a:t>User requirements </a:t>
            </a:r>
            <a:r>
              <a:rPr lang="en-US" dirty="0"/>
              <a:t>analysis,</a:t>
            </a:r>
            <a:endParaRPr lang="en-US" dirty="0"/>
          </a:p>
          <a:p>
            <a:pPr lvl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solidFill>
                  <a:srgbClr val="FF0000"/>
                </a:solidFill>
              </a:rPr>
              <a:t>Data component </a:t>
            </a:r>
            <a:r>
              <a:rPr lang="en-GB" dirty="0"/>
              <a:t>of a system</a:t>
            </a:r>
            <a:r>
              <a:rPr lang="en-US" dirty="0"/>
              <a:t>,</a:t>
            </a:r>
            <a:endParaRPr lang="en-US" dirty="0"/>
          </a:p>
          <a:p>
            <a:pPr lvl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solidFill>
                  <a:srgbClr val="FF0000"/>
                </a:solidFill>
              </a:rPr>
              <a:t>Processing component </a:t>
            </a:r>
            <a:r>
              <a:rPr lang="en-GB" dirty="0"/>
              <a:t>of a system</a:t>
            </a:r>
            <a:r>
              <a:rPr lang="en-US" dirty="0"/>
              <a:t>,</a:t>
            </a:r>
            <a:endParaRPr lang="en-US" dirty="0"/>
          </a:p>
          <a:p>
            <a:pPr lvl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FF0000"/>
                </a:solidFill>
              </a:rPr>
              <a:t>Human computer interaction</a:t>
            </a:r>
            <a:r>
              <a:rPr lang="en-US" dirty="0"/>
              <a:t>.</a:t>
            </a:r>
            <a:endParaRPr lang="en-US" dirty="0"/>
          </a:p>
          <a:p>
            <a:pPr marL="0" indent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vi-VN" dirty="0"/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893859" y="107577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General course information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</a:fld>
            <a:endParaRPr lang="en-US"/>
          </a:p>
        </p:txBody>
      </p:sp>
      <p:pic>
        <p:nvPicPr>
          <p:cNvPr id="1026" name="Picture 2" descr="What Is Agile Software Development Life Cycle?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2056" y="2462910"/>
            <a:ext cx="5301831" cy="3066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Have ability to:</a:t>
            </a:r>
            <a:endParaRPr lang="en-US" dirty="0"/>
          </a:p>
          <a:p>
            <a:pPr lvl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FF0000"/>
                </a:solidFill>
              </a:rPr>
              <a:t>define </a:t>
            </a:r>
            <a:r>
              <a:rPr lang="en-US" dirty="0">
                <a:solidFill>
                  <a:srgbClr val="0070C0"/>
                </a:solidFill>
              </a:rPr>
              <a:t>accurate user requirements</a:t>
            </a:r>
            <a:r>
              <a:rPr lang="en-US" dirty="0"/>
              <a:t>,</a:t>
            </a:r>
            <a:endParaRPr lang="en-US" dirty="0"/>
          </a:p>
          <a:p>
            <a:pPr lvl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FF0000"/>
                </a:solidFill>
              </a:rPr>
              <a:t>design </a:t>
            </a:r>
            <a:r>
              <a:rPr lang="en-US" dirty="0">
                <a:solidFill>
                  <a:srgbClr val="0070C0"/>
                </a:solidFill>
              </a:rPr>
              <a:t>data models</a:t>
            </a:r>
            <a:r>
              <a:rPr lang="en-US" dirty="0"/>
              <a:t>,</a:t>
            </a:r>
            <a:endParaRPr lang="en-US" dirty="0"/>
          </a:p>
          <a:p>
            <a:pPr lvl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FF0000"/>
                </a:solidFill>
              </a:rPr>
              <a:t>design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Data Flow Diagram</a:t>
            </a:r>
            <a:r>
              <a:rPr lang="en-US" dirty="0"/>
              <a:t>,</a:t>
            </a:r>
            <a:endParaRPr lang="en-US" dirty="0"/>
          </a:p>
          <a:p>
            <a:pPr lvl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FF0000"/>
                </a:solidFill>
              </a:rPr>
              <a:t>work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in a group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present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a </a:t>
            </a:r>
            <a:endParaRPr lang="en-US" dirty="0">
              <a:solidFill>
                <a:srgbClr val="0070C0"/>
              </a:solidFill>
            </a:endParaRPr>
          </a:p>
          <a:p>
            <a:pPr marL="457200" lvl="1" indent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solidFill>
                  <a:srgbClr val="0070C0"/>
                </a:solidFill>
              </a:rPr>
              <a:t>substantial technical report</a:t>
            </a:r>
            <a:r>
              <a:rPr lang="en-US" dirty="0"/>
              <a:t>.</a:t>
            </a:r>
            <a:endParaRPr lang="en-US" dirty="0"/>
          </a:p>
          <a:p>
            <a:pPr marL="0" indent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vi-VN" dirty="0"/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893859" y="107577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General course information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</a:fld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6344758" y="2008194"/>
            <a:ext cx="5714824" cy="3986199"/>
            <a:chOff x="6303236" y="1725378"/>
            <a:chExt cx="5709751" cy="3951509"/>
          </a:xfrm>
        </p:grpSpPr>
        <p:pic>
          <p:nvPicPr>
            <p:cNvPr id="2050" name="Picture 2" descr="Tax Efficient Employee Incentive Schemes - Palmers-Uk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03236" y="1790935"/>
              <a:ext cx="2437351" cy="16256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2" name="Picture 4" descr="Here&amp;#39;s a test to see how this works.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24364" y="1725378"/>
              <a:ext cx="3088623" cy="18139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DFD - Model of small traditional production enterprise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68782" y="4018547"/>
              <a:ext cx="2371805" cy="15564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6" name="Picture 8" descr="What Makes A Good User Interface? 13 UI Design Principles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49363" y="3898713"/>
              <a:ext cx="2963624" cy="17781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Duties of student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FF0000"/>
                </a:solidFill>
              </a:rPr>
              <a:t>Pay attention</a:t>
            </a:r>
            <a:r>
              <a:rPr lang="en-US" dirty="0"/>
              <a:t> in class,</a:t>
            </a:r>
            <a:endParaRPr lang="en-US" dirty="0"/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solidFill>
                  <a:srgbClr val="FF0000"/>
                </a:solidFill>
              </a:rPr>
              <a:t>Actively</a:t>
            </a:r>
            <a:r>
              <a:rPr lang="en-GB" dirty="0"/>
              <a:t> and </a:t>
            </a:r>
            <a:r>
              <a:rPr lang="en-GB" dirty="0">
                <a:solidFill>
                  <a:srgbClr val="FF0000"/>
                </a:solidFill>
              </a:rPr>
              <a:t>enthusiastically</a:t>
            </a:r>
            <a:r>
              <a:rPr lang="en-GB" dirty="0"/>
              <a:t> complete class assignments,</a:t>
            </a:r>
            <a:endParaRPr lang="en-GB" dirty="0"/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solidFill>
                  <a:srgbClr val="FF0000"/>
                </a:solidFill>
              </a:rPr>
              <a:t>Cross-check against</a:t>
            </a:r>
            <a:r>
              <a:rPr lang="en-GB" dirty="0"/>
              <a:t> the lecturer’s solution in order to</a:t>
            </a:r>
            <a:r>
              <a:rPr lang="en-US" dirty="0"/>
              <a:t>:</a:t>
            </a:r>
            <a:endParaRPr lang="en-US" dirty="0"/>
          </a:p>
          <a:p>
            <a:pPr lvl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solidFill>
                  <a:srgbClr val="0070C0"/>
                </a:solidFill>
              </a:rPr>
              <a:t>identify inconsistencies</a:t>
            </a:r>
            <a:r>
              <a:rPr lang="en-GB" dirty="0"/>
              <a:t> in the analysis phrase,</a:t>
            </a:r>
            <a:endParaRPr lang="en-US" dirty="0"/>
          </a:p>
          <a:p>
            <a:pPr lvl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0070C0"/>
                </a:solidFill>
              </a:rPr>
              <a:t>identify poorly</a:t>
            </a:r>
            <a:r>
              <a:rPr lang="en-US" dirty="0"/>
              <a:t> constructed design elements.</a:t>
            </a:r>
            <a:endParaRPr lang="en-US" dirty="0"/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Develop critical thinking and problem identification through practical experience</a:t>
            </a:r>
            <a:r>
              <a:rPr lang="en-US" dirty="0"/>
              <a:t>.</a:t>
            </a:r>
            <a:endParaRPr lang="en-US" dirty="0"/>
          </a:p>
          <a:p>
            <a:pPr lvl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endParaRPr lang="en-US" dirty="0"/>
          </a:p>
          <a:p>
            <a:pPr marL="0" indent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vi-VN" dirty="0"/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893859" y="107577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General course information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</a:fld>
            <a:endParaRPr lang="en-US"/>
          </a:p>
        </p:txBody>
      </p:sp>
      <p:pic>
        <p:nvPicPr>
          <p:cNvPr id="3074" name="Picture 2" descr="Are You Working Hard Enough? | Psychology Today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7426" y="907488"/>
            <a:ext cx="2991782" cy="156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Materials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0070C0"/>
                </a:solidFill>
              </a:rPr>
              <a:t>Course slides.</a:t>
            </a:r>
            <a:endParaRPr lang="en-US" dirty="0"/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i="1" dirty="0">
                <a:solidFill>
                  <a:schemeClr val="accent6">
                    <a:lumMod val="75000"/>
                  </a:schemeClr>
                </a:solidFill>
              </a:rPr>
              <a:t>Text book of System Analysis and Design</a:t>
            </a:r>
            <a:r>
              <a:rPr lang="en-GB" dirty="0"/>
              <a:t>, </a:t>
            </a:r>
            <a:r>
              <a:rPr lang="vi-VN" dirty="0"/>
              <a:t>Trương Quốc Định, Phan Tấn Tài</a:t>
            </a:r>
            <a:r>
              <a:rPr lang="en-US" dirty="0"/>
              <a:t>, </a:t>
            </a:r>
            <a:r>
              <a:rPr lang="en-GB" dirty="0"/>
              <a:t>2018</a:t>
            </a:r>
            <a:r>
              <a:rPr lang="en-US" dirty="0"/>
              <a:t>.</a:t>
            </a:r>
            <a:endParaRPr lang="en-US" dirty="0"/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Modern System Analysis and Design</a:t>
            </a:r>
            <a:r>
              <a:rPr lang="en-US" dirty="0"/>
              <a:t>, Jeffrey A. Hoffer, Joey F. George, Joseph S. </a:t>
            </a:r>
            <a:r>
              <a:rPr lang="en-US" dirty="0" err="1"/>
              <a:t>Valacich</a:t>
            </a:r>
            <a:r>
              <a:rPr lang="en-US" dirty="0"/>
              <a:t>, 2002.</a:t>
            </a:r>
            <a:endParaRPr lang="en-US" dirty="0"/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Understanding your users- A practical guide to user requirements- Methods, Tools &amp; Techniques</a:t>
            </a:r>
            <a:r>
              <a:rPr lang="en-US" dirty="0"/>
              <a:t>, Catherine Courage, Kathy Baxter, 2005.</a:t>
            </a:r>
            <a:endParaRPr lang="en-US" dirty="0"/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Business Process Model and Notation</a:t>
            </a:r>
            <a:r>
              <a:rPr lang="en-US" dirty="0"/>
              <a:t>, https://www.bpmn.org/</a:t>
            </a:r>
            <a:endParaRPr lang="en-US" dirty="0"/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endParaRPr lang="en-US" dirty="0"/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endParaRPr lang="en-US" dirty="0"/>
          </a:p>
          <a:p>
            <a:pPr marL="0" indent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vi-VN" dirty="0"/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893859" y="107577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General course information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4102" y="2766218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Basic concepts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 of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According to the Merriam-Webster dictionary, a </a:t>
            </a:r>
            <a:r>
              <a:rPr lang="en-GB" dirty="0">
                <a:solidFill>
                  <a:srgbClr val="FF0000"/>
                </a:solidFill>
              </a:rPr>
              <a:t>system</a:t>
            </a:r>
            <a:r>
              <a:rPr lang="en-GB" dirty="0"/>
              <a:t> is a </a:t>
            </a:r>
            <a:r>
              <a:rPr lang="en-GB" dirty="0">
                <a:solidFill>
                  <a:srgbClr val="FF0000"/>
                </a:solidFill>
              </a:rPr>
              <a:t>group of</a:t>
            </a:r>
            <a:r>
              <a:rPr lang="en-GB" dirty="0"/>
              <a:t> </a:t>
            </a:r>
            <a:r>
              <a:rPr lang="en-GB" dirty="0">
                <a:solidFill>
                  <a:srgbClr val="0070C0"/>
                </a:solidFill>
              </a:rPr>
              <a:t>interacting</a:t>
            </a:r>
            <a:r>
              <a:rPr lang="en-GB" dirty="0"/>
              <a:t> or </a:t>
            </a:r>
            <a:r>
              <a:rPr lang="en-GB" dirty="0">
                <a:solidFill>
                  <a:srgbClr val="0070C0"/>
                </a:solidFill>
              </a:rPr>
              <a:t>interdependent</a:t>
            </a:r>
            <a:r>
              <a:rPr lang="en-GB" dirty="0"/>
              <a:t> </a:t>
            </a:r>
            <a:r>
              <a:rPr lang="en-GB" dirty="0">
                <a:solidFill>
                  <a:srgbClr val="FF0000"/>
                </a:solidFill>
              </a:rPr>
              <a:t>items</a:t>
            </a:r>
            <a:r>
              <a:rPr lang="en-GB" dirty="0"/>
              <a:t> that regularly form a unified whole.</a:t>
            </a:r>
            <a:endParaRPr lang="en-GB" dirty="0"/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In other words, a </a:t>
            </a:r>
            <a:r>
              <a:rPr lang="en-GB" dirty="0">
                <a:solidFill>
                  <a:srgbClr val="FF0000"/>
                </a:solidFill>
              </a:rPr>
              <a:t>system</a:t>
            </a:r>
            <a:r>
              <a:rPr lang="en-GB" dirty="0"/>
              <a:t> is a </a:t>
            </a:r>
            <a:r>
              <a:rPr lang="en-GB" dirty="0">
                <a:solidFill>
                  <a:srgbClr val="FF0000"/>
                </a:solidFill>
              </a:rPr>
              <a:t>set of related things</a:t>
            </a:r>
            <a:r>
              <a:rPr lang="en-GB" dirty="0"/>
              <a:t> that </a:t>
            </a:r>
            <a:r>
              <a:rPr lang="en-GB" dirty="0">
                <a:solidFill>
                  <a:srgbClr val="0070C0"/>
                </a:solidFill>
              </a:rPr>
              <a:t>work together</a:t>
            </a:r>
            <a:r>
              <a:rPr lang="en-GB" dirty="0"/>
              <a:t> toward a goal or exist together to form a complete entity.</a:t>
            </a:r>
            <a:endParaRPr lang="en-US" dirty="0"/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i="1" dirty="0"/>
              <a:t>Solar system</a:t>
            </a:r>
            <a:endParaRPr lang="en-US" i="1" dirty="0"/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i="1" dirty="0"/>
              <a:t>Public transport system</a:t>
            </a:r>
            <a:endParaRPr lang="en-US" i="1" dirty="0"/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i="1" dirty="0"/>
              <a:t>Computer system</a:t>
            </a:r>
            <a:endParaRPr lang="en-US" i="1" dirty="0"/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i="1" dirty="0"/>
              <a:t>Information system</a:t>
            </a:r>
            <a:endParaRPr lang="en-US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893859" y="107577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Basic concepts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 of Information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solidFill>
                  <a:srgbClr val="0070C0"/>
                </a:solidFill>
              </a:rPr>
              <a:t>Data: </a:t>
            </a:r>
            <a:r>
              <a:rPr lang="en-GB" dirty="0"/>
              <a:t>refers to </a:t>
            </a:r>
            <a:r>
              <a:rPr lang="en-GB" dirty="0">
                <a:solidFill>
                  <a:srgbClr val="FF0000"/>
                </a:solidFill>
              </a:rPr>
              <a:t>raw</a:t>
            </a:r>
            <a:r>
              <a:rPr lang="en-GB" dirty="0"/>
              <a:t>, </a:t>
            </a:r>
            <a:r>
              <a:rPr lang="en-GB" dirty="0">
                <a:solidFill>
                  <a:srgbClr val="FF0000"/>
                </a:solidFill>
              </a:rPr>
              <a:t>unorganized facts</a:t>
            </a:r>
            <a:r>
              <a:rPr lang="en-GB" dirty="0"/>
              <a:t> that </a:t>
            </a:r>
            <a:r>
              <a:rPr lang="en-GB" dirty="0">
                <a:solidFill>
                  <a:srgbClr val="FF0000"/>
                </a:solidFill>
              </a:rPr>
              <a:t>need to be processed</a:t>
            </a:r>
            <a:r>
              <a:rPr lang="en-GB" dirty="0"/>
              <a:t>. Data is simple, sometimes random, and </a:t>
            </a:r>
            <a:r>
              <a:rPr lang="en-GB" dirty="0">
                <a:solidFill>
                  <a:srgbClr val="0070C0"/>
                </a:solidFill>
              </a:rPr>
              <a:t>often meaningless</a:t>
            </a:r>
            <a:r>
              <a:rPr lang="en-GB" dirty="0"/>
              <a:t> until it is arranged or structured.</a:t>
            </a:r>
            <a:endParaRPr lang="en-GB" dirty="0"/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solidFill>
                  <a:srgbClr val="0070C0"/>
                </a:solidFill>
              </a:rPr>
              <a:t>Information: </a:t>
            </a:r>
            <a:r>
              <a:rPr lang="en-GB" dirty="0"/>
              <a:t>is data that has been </a:t>
            </a:r>
            <a:r>
              <a:rPr lang="en-GB" dirty="0">
                <a:solidFill>
                  <a:srgbClr val="FF0000"/>
                </a:solidFill>
              </a:rPr>
              <a:t>processed, organized, or presented</a:t>
            </a:r>
            <a:r>
              <a:rPr lang="en-GB" dirty="0"/>
              <a:t> </a:t>
            </a:r>
            <a:r>
              <a:rPr lang="en-GB" dirty="0">
                <a:solidFill>
                  <a:srgbClr val="0070C0"/>
                </a:solidFill>
              </a:rPr>
              <a:t>within a specific context</a:t>
            </a:r>
            <a:r>
              <a:rPr lang="en-GB" dirty="0"/>
              <a:t> to become </a:t>
            </a:r>
            <a:r>
              <a:rPr lang="en-GB" dirty="0">
                <a:solidFill>
                  <a:srgbClr val="0070C0"/>
                </a:solidFill>
              </a:rPr>
              <a:t>meaningful and useful</a:t>
            </a:r>
            <a:r>
              <a:rPr lang="en-GB" dirty="0"/>
              <a:t>.</a:t>
            </a:r>
            <a:endParaRPr lang="en-GB" dirty="0"/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i="1" dirty="0"/>
              <a:t>Final course grade of a student, Grade distribution for a course</a:t>
            </a:r>
            <a:endParaRPr lang="en-GB" i="1" dirty="0"/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According to Merriam-Webster, an </a:t>
            </a:r>
            <a:r>
              <a:rPr lang="en-GB" dirty="0">
                <a:solidFill>
                  <a:srgbClr val="FF0000"/>
                </a:solidFill>
              </a:rPr>
              <a:t>information system</a:t>
            </a:r>
            <a:r>
              <a:rPr lang="en-GB" dirty="0"/>
              <a:t> is defined as a </a:t>
            </a:r>
            <a:r>
              <a:rPr lang="en-GB" dirty="0">
                <a:solidFill>
                  <a:srgbClr val="FF0000"/>
                </a:solidFill>
              </a:rPr>
              <a:t>computer system</a:t>
            </a:r>
            <a:r>
              <a:rPr lang="en-GB" dirty="0"/>
              <a:t> for </a:t>
            </a:r>
            <a:r>
              <a:rPr lang="en-GB" dirty="0">
                <a:solidFill>
                  <a:srgbClr val="0070C0"/>
                </a:solidFill>
              </a:rPr>
              <a:t>collecting, creating, storing, processing, and distributing</a:t>
            </a:r>
            <a:r>
              <a:rPr lang="en-GB" dirty="0"/>
              <a:t> </a:t>
            </a:r>
            <a:r>
              <a:rPr lang="en-GB" dirty="0">
                <a:solidFill>
                  <a:srgbClr val="00B050"/>
                </a:solidFill>
              </a:rPr>
              <a:t>data/information</a:t>
            </a:r>
            <a:r>
              <a:rPr lang="en-GB" dirty="0"/>
              <a:t>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893859" y="107577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Basic concepts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2376" y="711306"/>
            <a:ext cx="1828436" cy="10748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Components of an Information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893859" y="107577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Basic concepts</a:t>
            </a:r>
            <a:endParaRPr lang="en-US" dirty="0"/>
          </a:p>
        </p:txBody>
      </p:sp>
      <p:pic>
        <p:nvPicPr>
          <p:cNvPr id="4098" name="Picture 2" descr="iAcademy.com | Business Information Management | Information Systems &amp;amp;  Communication Technology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0" y="2210594"/>
            <a:ext cx="8496300" cy="358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4102" y="2766218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Types of Information system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0070C0"/>
                </a:solidFill>
              </a:rPr>
              <a:t>Transaction Processing Systems</a:t>
            </a:r>
            <a:endParaRPr lang="en-US" dirty="0">
              <a:solidFill>
                <a:srgbClr val="0070C0"/>
              </a:solidFill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Management Information Systems</a:t>
            </a:r>
            <a:endParaRPr lang="en-US" dirty="0"/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0070C0"/>
                </a:solidFill>
              </a:rPr>
              <a:t>Office Automation Systems</a:t>
            </a:r>
            <a:endParaRPr lang="en-US" dirty="0">
              <a:solidFill>
                <a:srgbClr val="0070C0"/>
              </a:solidFill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Knowledge Management Systems</a:t>
            </a:r>
            <a:endParaRPr lang="en-US" dirty="0"/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0070C0"/>
                </a:solidFill>
              </a:rPr>
              <a:t>Decision Support Systems</a:t>
            </a:r>
            <a:endParaRPr lang="en-US" dirty="0">
              <a:solidFill>
                <a:srgbClr val="0070C0"/>
              </a:solidFill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Executive Support System</a:t>
            </a:r>
            <a:endParaRPr lang="en-US" dirty="0"/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US" dirty="0"/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893859" y="107577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Types of Information system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Transaction Processing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Carry out the </a:t>
            </a:r>
            <a:r>
              <a:rPr lang="en-GB" dirty="0">
                <a:solidFill>
                  <a:srgbClr val="00B050"/>
                </a:solidFill>
              </a:rPr>
              <a:t>collection, storage, modification, and retrieval</a:t>
            </a:r>
            <a:r>
              <a:rPr lang="en-GB" dirty="0"/>
              <a:t> of a </a:t>
            </a:r>
            <a:r>
              <a:rPr lang="en-GB" dirty="0">
                <a:solidFill>
                  <a:srgbClr val="FF0000"/>
                </a:solidFill>
              </a:rPr>
              <a:t>business’s transaction data</a:t>
            </a:r>
            <a:r>
              <a:rPr lang="en-GB" dirty="0"/>
              <a:t>. </a:t>
            </a:r>
            <a:endParaRPr lang="en-GB" dirty="0"/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Only </a:t>
            </a:r>
            <a:r>
              <a:rPr lang="en-GB" dirty="0">
                <a:solidFill>
                  <a:srgbClr val="FF0000"/>
                </a:solidFill>
              </a:rPr>
              <a:t>predefined</a:t>
            </a:r>
            <a:r>
              <a:rPr lang="en-GB" dirty="0"/>
              <a:t> and </a:t>
            </a:r>
            <a:r>
              <a:rPr lang="en-GB" dirty="0">
                <a:solidFill>
                  <a:srgbClr val="FF0000"/>
                </a:solidFill>
              </a:rPr>
              <a:t>structured transactions</a:t>
            </a:r>
            <a:r>
              <a:rPr lang="en-GB" dirty="0"/>
              <a:t> are </a:t>
            </a:r>
            <a:r>
              <a:rPr lang="en-GB" dirty="0">
                <a:solidFill>
                  <a:srgbClr val="0070C0"/>
                </a:solidFill>
              </a:rPr>
              <a:t>allowed</a:t>
            </a:r>
            <a:r>
              <a:rPr lang="en-GB" dirty="0"/>
              <a:t>. </a:t>
            </a:r>
            <a:endParaRPr lang="en-GB" dirty="0"/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The </a:t>
            </a:r>
            <a:r>
              <a:rPr lang="en-GB" dirty="0">
                <a:solidFill>
                  <a:srgbClr val="0070C0"/>
                </a:solidFill>
              </a:rPr>
              <a:t>response time is short</a:t>
            </a:r>
            <a:r>
              <a:rPr lang="en-GB" dirty="0"/>
              <a:t>, though not considered real-time.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118847" y="107577"/>
            <a:ext cx="6988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Types of Information system</a:t>
            </a:r>
            <a:endParaRPr lang="en-US" dirty="0"/>
          </a:p>
        </p:txBody>
      </p:sp>
      <p:pic>
        <p:nvPicPr>
          <p:cNvPr id="6146" name="Picture 2" descr="Transaction Processing System (TPS) | Techfunnel&amp;#39;s Complete Guid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871" y="4552996"/>
            <a:ext cx="3055564" cy="1623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Airline reservation systems | The World in My Ha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6948" y="4408416"/>
            <a:ext cx="2766852" cy="191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Types Of POS (Point Of Sale) System For Retailers | ConnectPO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0294" y="4552996"/>
            <a:ext cx="3264553" cy="1700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Management Information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Used to </a:t>
            </a:r>
            <a:r>
              <a:rPr lang="en-GB" dirty="0">
                <a:solidFill>
                  <a:srgbClr val="FF0000"/>
                </a:solidFill>
              </a:rPr>
              <a:t>support decision-making</a:t>
            </a:r>
            <a:r>
              <a:rPr lang="en-GB" dirty="0"/>
              <a:t>, facilitate coordination, maintain control, and present information throughout the organization.</a:t>
            </a:r>
            <a:endParaRPr lang="en-GB" dirty="0"/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The ultimate goal is to </a:t>
            </a:r>
            <a:r>
              <a:rPr lang="en-GB" dirty="0">
                <a:solidFill>
                  <a:srgbClr val="FF0000"/>
                </a:solidFill>
              </a:rPr>
              <a:t>enhance the organization's value and profitability</a:t>
            </a:r>
            <a:r>
              <a:rPr lang="en-GB" dirty="0"/>
              <a:t> by providing managers with </a:t>
            </a:r>
            <a:r>
              <a:rPr lang="en-GB" dirty="0">
                <a:solidFill>
                  <a:srgbClr val="0070C0"/>
                </a:solidFill>
              </a:rPr>
              <a:t>timely and relevant information</a:t>
            </a:r>
            <a:r>
              <a:rPr lang="en-GB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118847" y="107577"/>
            <a:ext cx="6988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Types of Information system</a:t>
            </a:r>
            <a:endParaRPr lang="en-US" dirty="0"/>
          </a:p>
        </p:txBody>
      </p:sp>
      <p:pic>
        <p:nvPicPr>
          <p:cNvPr id="7170" name="Picture 2" descr="Bạn đã sẵn sàng du học và định cư Canada cùng Douglas College?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385" y="4587413"/>
            <a:ext cx="2810055" cy="2244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CRM Or Customer Relationship Management Concept. Client Support Stock  Vector - Illustration of customer, relationship: 17210478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2682" y="4584046"/>
            <a:ext cx="3025588" cy="2269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Hệ thống ERP là gì và vai trò của nó trong quản lý doanh nghiệp -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2198" y="4811398"/>
            <a:ext cx="2507673" cy="1976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Office Automation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Hardware and software solutions that enable </a:t>
            </a:r>
            <a:r>
              <a:rPr lang="en-GB" dirty="0">
                <a:solidFill>
                  <a:srgbClr val="0070C0"/>
                </a:solidFill>
              </a:rPr>
              <a:t>data transmission between organization components</a:t>
            </a:r>
            <a:r>
              <a:rPr lang="en-GB" dirty="0"/>
              <a:t>, simplify processes, and </a:t>
            </a:r>
            <a:r>
              <a:rPr lang="en-GB" dirty="0">
                <a:solidFill>
                  <a:srgbClr val="FF0000"/>
                </a:solidFill>
              </a:rPr>
              <a:t>automate various administrative tasks</a:t>
            </a:r>
            <a:r>
              <a:rPr lang="en-GB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118847" y="107577"/>
            <a:ext cx="6988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Types of Information system</a:t>
            </a:r>
            <a:endParaRPr lang="en-US" dirty="0"/>
          </a:p>
        </p:txBody>
      </p:sp>
      <p:pic>
        <p:nvPicPr>
          <p:cNvPr id="1026" name="Picture 2" descr="What Is an Office Automation System? - RPA CLOUD's Blo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9577" y="3582767"/>
            <a:ext cx="6052846" cy="3167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Knowledge Management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54469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Enables the </a:t>
            </a:r>
            <a:r>
              <a:rPr lang="en-GB" dirty="0">
                <a:solidFill>
                  <a:srgbClr val="FF0000"/>
                </a:solidFill>
              </a:rPr>
              <a:t>creation, sharing, preservation, and development</a:t>
            </a:r>
            <a:r>
              <a:rPr lang="en-GB" dirty="0"/>
              <a:t> of knowledge resources, ensuring their optimal use within the organization to </a:t>
            </a:r>
            <a:r>
              <a:rPr lang="en-GB" dirty="0">
                <a:solidFill>
                  <a:srgbClr val="0070C0"/>
                </a:solidFill>
              </a:rPr>
              <a:t>support decision-making and innovation</a:t>
            </a:r>
            <a:r>
              <a:rPr lang="en-GB" dirty="0"/>
              <a:t>.</a:t>
            </a:r>
            <a:endParaRPr lang="en-US" dirty="0"/>
          </a:p>
          <a:p>
            <a:pPr lvl="1" algn="just">
              <a:lnSpc>
                <a:spcPct val="110000"/>
              </a:lnSpc>
              <a:spcBef>
                <a:spcPts val="600"/>
              </a:spcBef>
            </a:pPr>
            <a:r>
              <a:rPr lang="en-US" sz="2000" dirty="0"/>
              <a:t>Increase productivity</a:t>
            </a:r>
            <a:endParaRPr lang="en-US" sz="2000" dirty="0"/>
          </a:p>
          <a:p>
            <a:pPr lvl="1" algn="just">
              <a:lnSpc>
                <a:spcPct val="110000"/>
              </a:lnSpc>
              <a:spcBef>
                <a:spcPts val="600"/>
              </a:spcBef>
            </a:pPr>
            <a:r>
              <a:rPr lang="en-US" sz="2000" dirty="0"/>
              <a:t>Improve management efficiency</a:t>
            </a:r>
            <a:endParaRPr lang="en-US" sz="2000" dirty="0"/>
          </a:p>
          <a:p>
            <a:pPr lvl="1" algn="just">
              <a:lnSpc>
                <a:spcPct val="110000"/>
              </a:lnSpc>
              <a:spcBef>
                <a:spcPts val="600"/>
              </a:spcBef>
            </a:pPr>
            <a:r>
              <a:rPr lang="en-US" sz="2000" dirty="0"/>
              <a:t>Enhance customer satisfaction</a:t>
            </a:r>
            <a:endParaRPr lang="en-US" sz="2000" dirty="0"/>
          </a:p>
          <a:p>
            <a:pPr lvl="1" algn="just">
              <a:lnSpc>
                <a:spcPct val="110000"/>
              </a:lnSpc>
              <a:spcBef>
                <a:spcPts val="600"/>
              </a:spcBef>
            </a:pPr>
            <a:r>
              <a:rPr lang="en-US" sz="2000" dirty="0"/>
              <a:t>Attract and leverage talent</a:t>
            </a:r>
            <a:endParaRPr lang="en-US" sz="2000" dirty="0"/>
          </a:p>
          <a:p>
            <a:pPr lvl="1" algn="just">
              <a:lnSpc>
                <a:spcPct val="110000"/>
              </a:lnSpc>
              <a:spcBef>
                <a:spcPts val="600"/>
              </a:spcBef>
            </a:pPr>
            <a:r>
              <a:rPr lang="en-US" sz="2000" dirty="0"/>
              <a:t>Encourage learning and knowledge sharing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118847" y="107577"/>
            <a:ext cx="6988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Types of Information system</a:t>
            </a:r>
            <a:endParaRPr lang="en-US" dirty="0"/>
          </a:p>
        </p:txBody>
      </p:sp>
      <p:pic>
        <p:nvPicPr>
          <p:cNvPr id="9222" name="Picture 6" descr="5 Best Knowledge Management Software and Tools - 2021 - Helpie WP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8774" y="3704253"/>
            <a:ext cx="4063651" cy="2946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Support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Combines </a:t>
            </a:r>
            <a:r>
              <a:rPr lang="en-GB" dirty="0">
                <a:solidFill>
                  <a:srgbClr val="0070C0"/>
                </a:solidFill>
              </a:rPr>
              <a:t>data and sophisticated analytical models or data analysis tools</a:t>
            </a:r>
            <a:r>
              <a:rPr lang="en-GB" dirty="0"/>
              <a:t> to support </a:t>
            </a:r>
            <a:r>
              <a:rPr lang="en-GB" dirty="0">
                <a:solidFill>
                  <a:srgbClr val="00B050"/>
                </a:solidFill>
              </a:rPr>
              <a:t>semi-structured and unstructured</a:t>
            </a:r>
            <a:r>
              <a:rPr lang="en-GB" dirty="0"/>
              <a:t> decision making.</a:t>
            </a:r>
            <a:endParaRPr lang="en-US" dirty="0"/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solidFill>
                  <a:srgbClr val="FF0000"/>
                </a:solidFill>
              </a:rPr>
              <a:t>Analyzing large volumes</a:t>
            </a:r>
            <a:r>
              <a:rPr lang="en-GB" dirty="0"/>
              <a:t> of </a:t>
            </a:r>
            <a:r>
              <a:rPr lang="en-GB" dirty="0">
                <a:solidFill>
                  <a:srgbClr val="0070C0"/>
                </a:solidFill>
              </a:rPr>
              <a:t>unstructured data</a:t>
            </a:r>
            <a:r>
              <a:rPr lang="en-GB" dirty="0"/>
              <a:t> and accumulating information can help solve problems.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118847" y="107577"/>
            <a:ext cx="6988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Types of Information system</a:t>
            </a:r>
            <a:endParaRPr lang="en-US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3680618" y="4076700"/>
          <a:ext cx="4830763" cy="278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Bitmap Image" r:id="rId1" imgW="6038850" imgH="3476625" progId="Paint.Picture.1">
                  <p:embed/>
                </p:oleObj>
              </mc:Choice>
              <mc:Fallback>
                <p:oleObj name="Bitmap Image" r:id="rId1" imgW="6038850" imgH="3476625" progId="Paint.Picture.1">
                  <p:embed/>
                  <p:pic>
                    <p:nvPicPr>
                      <p:cNvPr id="0" name="Picture 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680618" y="4076700"/>
                        <a:ext cx="4830763" cy="278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Support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The system enables </a:t>
            </a:r>
            <a:r>
              <a:rPr lang="en-GB" dirty="0">
                <a:solidFill>
                  <a:srgbClr val="0070C0"/>
                </a:solidFill>
              </a:rPr>
              <a:t>quick and easy access to critical data</a:t>
            </a:r>
            <a:r>
              <a:rPr lang="en-GB" dirty="0"/>
              <a:t> that supports </a:t>
            </a:r>
            <a:r>
              <a:rPr lang="en-GB" dirty="0">
                <a:solidFill>
                  <a:srgbClr val="FF0000"/>
                </a:solidFill>
              </a:rPr>
              <a:t>strategic decision-making</a:t>
            </a:r>
            <a:r>
              <a:rPr lang="en-GB" dirty="0"/>
              <a:t> by focusing on </a:t>
            </a:r>
            <a:r>
              <a:rPr lang="en-GB" dirty="0">
                <a:solidFill>
                  <a:srgbClr val="00B050"/>
                </a:solidFill>
              </a:rPr>
              <a:t>key performance indicators</a:t>
            </a:r>
            <a:r>
              <a:rPr lang="en-GB" dirty="0"/>
              <a:t> and </a:t>
            </a:r>
            <a:r>
              <a:rPr lang="en-GB" dirty="0">
                <a:solidFill>
                  <a:srgbClr val="00B050"/>
                </a:solidFill>
              </a:rPr>
              <a:t>organizational priorities</a:t>
            </a:r>
            <a:r>
              <a:rPr lang="en-GB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118847" y="107577"/>
            <a:ext cx="6988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Types of Information system</a:t>
            </a:r>
            <a:endParaRPr lang="en-US" dirty="0"/>
          </a:p>
        </p:txBody>
      </p:sp>
      <p:pic>
        <p:nvPicPr>
          <p:cNvPr id="2050" name="Picture 2" descr="SISTEM INFORMASI MANAJEMEN contoh penerapan sistem informasi  manajemen(SIM): Executive Support System (ESS)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1" y="3671269"/>
            <a:ext cx="5008983" cy="2867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0147" y="2766218"/>
            <a:ext cx="10151706" cy="1325563"/>
          </a:xfrm>
        </p:spPr>
        <p:txBody>
          <a:bodyPr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Why is it necessary to perform system design &amp; analysis?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development life cycle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</a:fld>
            <a:endParaRPr lang="en-US"/>
          </a:p>
        </p:txBody>
      </p:sp>
      <p:sp>
        <p:nvSpPr>
          <p:cNvPr id="6" name="AutoShape 2" descr="Quy trình phát triển phần mềm ( SDLC )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pic>
        <p:nvPicPr>
          <p:cNvPr id="3080" name="Picture 8" descr="What is SDLC? Phases of Software Development &amp;amp; Models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1825624"/>
            <a:ext cx="10515599" cy="4488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the purpose of system analysis?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solidFill>
                  <a:srgbClr val="FF0000"/>
                </a:solidFill>
              </a:rPr>
              <a:t>Understand</a:t>
            </a:r>
            <a:r>
              <a:rPr lang="en-GB" dirty="0"/>
              <a:t> the system that needs to be built.</a:t>
            </a:r>
            <a:endParaRPr lang="en-GB" dirty="0"/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Collect and interpret data, </a:t>
            </a:r>
            <a:r>
              <a:rPr lang="en-GB" dirty="0">
                <a:solidFill>
                  <a:srgbClr val="0070C0"/>
                </a:solidFill>
              </a:rPr>
              <a:t>identify problems</a:t>
            </a:r>
            <a:r>
              <a:rPr lang="en-GB" dirty="0"/>
              <a:t>, and </a:t>
            </a:r>
            <a:r>
              <a:rPr lang="en-GB" dirty="0">
                <a:solidFill>
                  <a:srgbClr val="00B050"/>
                </a:solidFill>
              </a:rPr>
              <a:t>break down the system into its components</a:t>
            </a:r>
            <a:r>
              <a:rPr lang="en-GB" dirty="0"/>
              <a:t>.</a:t>
            </a:r>
            <a:endParaRPr lang="en-GB" dirty="0"/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It is a problem-solving technique aimed at </a:t>
            </a:r>
            <a:r>
              <a:rPr lang="en-GB" dirty="0">
                <a:solidFill>
                  <a:srgbClr val="0070C0"/>
                </a:solidFill>
              </a:rPr>
              <a:t>improving the system</a:t>
            </a:r>
            <a:r>
              <a:rPr lang="en-GB" dirty="0"/>
              <a:t> and </a:t>
            </a:r>
            <a:r>
              <a:rPr lang="en-GB" dirty="0">
                <a:solidFill>
                  <a:srgbClr val="00B050"/>
                </a:solidFill>
              </a:rPr>
              <a:t>ensuring that all its components function effectively</a:t>
            </a:r>
            <a:r>
              <a:rPr lang="en-GB" dirty="0"/>
              <a:t>.</a:t>
            </a:r>
            <a:endParaRPr lang="en-GB" dirty="0"/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solidFill>
                  <a:srgbClr val="FF0000"/>
                </a:solidFill>
              </a:rPr>
              <a:t>It answers the questions</a:t>
            </a:r>
            <a:r>
              <a:rPr lang="en-GB" dirty="0"/>
              <a:t>: </a:t>
            </a:r>
            <a:endParaRPr lang="en-GB" dirty="0"/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“What should the system do? </a:t>
            </a:r>
            <a:endParaRPr lang="en-GB" dirty="0"/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Why should it do that? </a:t>
            </a:r>
            <a:endParaRPr lang="en-GB" dirty="0"/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Is it feasible?”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What is the purpose of designing a system?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solidFill>
                  <a:srgbClr val="FF0000"/>
                </a:solidFill>
              </a:rPr>
              <a:t>Identify approaches</a:t>
            </a:r>
            <a:r>
              <a:rPr lang="en-GB" dirty="0"/>
              <a:t> for system construction.</a:t>
            </a:r>
            <a:endParaRPr lang="en-GB" dirty="0"/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solidFill>
                  <a:srgbClr val="FF0000"/>
                </a:solidFill>
              </a:rPr>
              <a:t>Evaluate</a:t>
            </a:r>
            <a:r>
              <a:rPr lang="en-GB" dirty="0"/>
              <a:t> various solution options</a:t>
            </a:r>
            <a:endParaRPr lang="en-GB" dirty="0"/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solidFill>
                  <a:srgbClr val="FF0000"/>
                </a:solidFill>
              </a:rPr>
              <a:t>Select the most effective</a:t>
            </a:r>
            <a:r>
              <a:rPr lang="en-GB" dirty="0"/>
              <a:t> implementation strategy</a:t>
            </a:r>
            <a:endParaRPr lang="en-GB" dirty="0"/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solidFill>
                  <a:srgbClr val="0070C0"/>
                </a:solidFill>
              </a:rPr>
              <a:t>Address the question</a:t>
            </a:r>
            <a:r>
              <a:rPr lang="en-GB" dirty="0"/>
              <a:t>: “How should this requirement or function be carried out?”</a:t>
            </a:r>
            <a:endParaRPr lang="en-GB" dirty="0"/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 become a systems analyst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</a:fld>
            <a:endParaRPr lang="en-US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591671" y="2056205"/>
          <a:ext cx="6096000" cy="39949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Bitmap Image" r:id="rId1" imgW="9229725" imgH="6048375" progId="Paint.Picture.1">
                  <p:embed/>
                </p:oleObj>
              </mc:Choice>
              <mc:Fallback>
                <p:oleObj name="Bitmap Image" r:id="rId1" imgW="9229725" imgH="6048375" progId="Paint.Picture.1">
                  <p:embed/>
                  <p:pic>
                    <p:nvPicPr>
                      <p:cNvPr id="0" name="Picture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91671" y="2056205"/>
                        <a:ext cx="6096000" cy="39949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6767326" y="2072080"/>
          <a:ext cx="4743357" cy="39596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Bitmap Image" r:id="rId3" imgW="4552950" imgH="3800475" progId="Paint.Picture.1">
                  <p:embed/>
                </p:oleObj>
              </mc:Choice>
              <mc:Fallback>
                <p:oleObj name="Bitmap Image" r:id="rId3" imgW="4552950" imgH="3800475" progId="Paint.Picture.1">
                  <p:embed/>
                  <p:pic>
                    <p:nvPicPr>
                      <p:cNvPr id="0" name="Picture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767326" y="2072080"/>
                        <a:ext cx="4743357" cy="39596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5163</Words>
  <Application>WPS Presentation</Application>
  <PresentationFormat>Widescreen</PresentationFormat>
  <Paragraphs>226</Paragraphs>
  <Slides>24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24</vt:i4>
      </vt:variant>
    </vt:vector>
  </HeadingPairs>
  <TitlesOfParts>
    <vt:vector size="36" baseType="lpstr">
      <vt:lpstr>Arial</vt:lpstr>
      <vt:lpstr>SimSun</vt:lpstr>
      <vt:lpstr>Wingdings</vt:lpstr>
      <vt:lpstr>Times New Roman</vt:lpstr>
      <vt:lpstr>Microsoft YaHei</vt:lpstr>
      <vt:lpstr>Arial Unicode MS</vt:lpstr>
      <vt:lpstr>Calibri Light</vt:lpstr>
      <vt:lpstr>Calibri</vt:lpstr>
      <vt:lpstr>Office Theme</vt:lpstr>
      <vt:lpstr>Paint.Picture.1</vt:lpstr>
      <vt:lpstr>Paint.Picture.1</vt:lpstr>
      <vt:lpstr>Paint.Picture.1</vt:lpstr>
      <vt:lpstr>System Analysis and Design  Chapter 1: Introduction</vt:lpstr>
      <vt:lpstr>General Course Information</vt:lpstr>
      <vt:lpstr>PowerPoint 演示文稿</vt:lpstr>
      <vt:lpstr>Objectives</vt:lpstr>
      <vt:lpstr>Objectives</vt:lpstr>
      <vt:lpstr>Duties of student</vt:lpstr>
      <vt:lpstr>Materials</vt:lpstr>
      <vt:lpstr>Basic concepts</vt:lpstr>
      <vt:lpstr>Definition of system</vt:lpstr>
      <vt:lpstr>Definition of Information Systems</vt:lpstr>
      <vt:lpstr>Components of an Information system</vt:lpstr>
      <vt:lpstr>Types of Information system</vt:lpstr>
      <vt:lpstr>PowerPoint 演示文稿</vt:lpstr>
      <vt:lpstr>Transaction Processing Systems</vt:lpstr>
      <vt:lpstr>Management Information Systems</vt:lpstr>
      <vt:lpstr>Office Automation Systems</vt:lpstr>
      <vt:lpstr>Knowledge Management Systems</vt:lpstr>
      <vt:lpstr>Decision Support Systems</vt:lpstr>
      <vt:lpstr>Executive Support System</vt:lpstr>
      <vt:lpstr>Why is it necessary to perform system design &amp; analysis?</vt:lpstr>
      <vt:lpstr>Software development life cycle</vt:lpstr>
      <vt:lpstr>What is the purpose of system analysis?</vt:lpstr>
      <vt:lpstr>What is the purpose of designing a system?</vt:lpstr>
      <vt:lpstr>To become a systems analyst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PHÂN TÍCH THIẾT KẾ HỆ THỐNG  Chương 0: Giới thiệu học phần</dc:title>
  <dc:creator>Quoc Dinh Truong</dc:creator>
  <cp:lastModifiedBy>google1591863000</cp:lastModifiedBy>
  <cp:revision>134</cp:revision>
  <dcterms:created xsi:type="dcterms:W3CDTF">2021-07-03T03:36:00Z</dcterms:created>
  <dcterms:modified xsi:type="dcterms:W3CDTF">2025-09-08T12:21:34Z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7AD51913DEB44B2A84CC13B4388A157D_12</vt:lpwstr>
  </property>
  <property fmtid="{D5CDD505-2E9C-101B-9397-08002B2CF9AE}" pid="3" name="KSOProductBuildVer">
    <vt:lpwstr>2057-12.2.0.22549</vt:lpwstr>
  </property>
</Properties>
</file>