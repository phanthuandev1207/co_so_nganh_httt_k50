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4"/>
  </p:notesMasterIdLst>
  <p:sldIdLst>
    <p:sldId id="256" r:id="rId2"/>
    <p:sldId id="298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99" r:id="rId11"/>
    <p:sldId id="265" r:id="rId12"/>
    <p:sldId id="266" r:id="rId13"/>
    <p:sldId id="267" r:id="rId14"/>
    <p:sldId id="297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300" r:id="rId25"/>
    <p:sldId id="278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90" autoAdjust="0"/>
  </p:normalViewPr>
  <p:slideViewPr>
    <p:cSldViewPr snapToGrid="0">
      <p:cViewPr>
        <p:scale>
          <a:sx n="80" d="100"/>
          <a:sy n="80" d="100"/>
        </p:scale>
        <p:origin x="710" y="-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FE0B85-1570-42E5-A470-CD60031DA3FF}" type="datetimeFigureOut">
              <a:rPr lang="en-US" smtClean="0"/>
              <a:t>9/30/2025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437EB30-CA07-466F-B7CB-64BBF797EC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50180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3D537D-F53E-47C4-A83E-CCB095380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3F79E6-0FED-429B-80CD-00E2D3D8C5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9520F-A019-4EFF-B54D-ABC4699E5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AB13CC-14BB-401F-97C5-EDCE5DFF6FF4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DB5711-7F4F-46D9-8673-80AD7EED7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203D27-E4BE-4544-81A8-674C728A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4315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C56875-0F16-4CD9-A7C9-D91E17E43B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06824"/>
            <a:ext cx="10515600" cy="8838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24ABBA-62A1-4F0B-B722-4F5777667D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FC98D5-B3ED-46AF-A9EC-E3D129F5C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A63683-B418-4383-9D33-3DAAF9B5D79E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4475EA-8743-4AF9-BA12-59F32836A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9D018E-28F9-4A13-9F22-88FB189D2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7E1AF00-55A1-400F-9982-9E10DE8F52A5}"/>
              </a:ext>
            </a:extLst>
          </p:cNvPr>
          <p:cNvSpPr/>
          <p:nvPr userDrawn="1"/>
        </p:nvSpPr>
        <p:spPr>
          <a:xfrm>
            <a:off x="0" y="0"/>
            <a:ext cx="12192000" cy="537882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0548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252E0-6EF7-4057-AE4B-922D32EB0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1C9D60-D1C3-4808-A19B-7F0CE4E484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4C6B9-6AB9-4155-8FFB-684066CB1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4B97D-1085-4B64-8C1B-1D2060E561E7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9075C-5965-4646-A2FB-2505EA9E16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2EF72-410D-4D23-8AE1-F6A0EDD7E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426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F4739-C445-4FDE-85E6-5787B579D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0C0CAE-9A0A-45D0-A1C5-4A0798D3D18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D6A60E-AC76-4700-AD2F-FFF14020AD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8D22D3-6F16-4E34-95F2-9907D90656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8282-EC73-4E57-8B04-43387C75DB91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FED560-122C-4F4F-9C92-17F4C05C2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77812E-4006-49BF-9EBF-FB31381ED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1CCDC-7B5A-4933-8968-7F464C0D9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D16AF5-CD68-4892-8B8F-98DFE331C5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32E97D-A99B-45ED-A321-3021630F7C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3538EE-5DCF-4BE3-8672-36548100797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773FA7-52C4-47A4-A182-7DB50B47A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A843564-31A9-4923-857C-4B67BC92E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7FA055-C3F6-4E73-B086-0FD9FCD0C792}" type="datetime1">
              <a:rPr lang="en-US" smtClean="0"/>
              <a:t>9/30/2025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9017A9E-6A08-4145-9BF9-10734AC0D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17F86E-3CB0-40FE-BCB9-A248091DC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062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37F49F-87CF-485E-801A-360FDB2152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C8C38E-A794-46E7-912E-7016EA777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F18BFC-7707-419B-8FE2-CC6169DF58AE}" type="datetime1">
              <a:rPr lang="en-US" smtClean="0"/>
              <a:t>9/30/2025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02282E4-49E2-429B-AD93-2F7DC76C6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BAA511-86BA-43E7-A9B3-DC2EFA50FD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8693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9090C0-CFC1-44AD-93CD-97425ABED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79C33A-9B8A-4129-9955-5D8428B6433D}" type="datetime1">
              <a:rPr lang="en-US" smtClean="0"/>
              <a:t>9/30/2025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B5B4722-8B4D-4D5E-91DA-78E312333B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3C4D7F-D798-403E-8BE0-D68852500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976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D5E4C-6227-41D7-9C85-ADAF4F409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2A568-5C62-49CC-8F83-5620456F2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E5CE71-61F4-43A9-8039-AFCDE3A6C6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4E808B-9F69-4490-9809-09C688C904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66DA9-C19C-472C-805C-F949BAC7CEA5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05EE49-AEE6-45F5-812F-AA7880E2B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5CE85-73F2-468A-A036-9AD3B89FC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023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9DCEB9-56B2-48EA-A44F-FEAFD490D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C510298-534A-4034-9BED-CB5302382E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C5BDA7-AEF4-4EB5-9FB0-82D499EE2E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92B6D-C9F5-421E-BF0F-751A3B68B8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566D97-9938-4FB5-AAC4-1063A7D8846C}" type="datetime1">
              <a:rPr lang="en-US" smtClean="0"/>
              <a:t>9/30/2025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D26656-26A9-4687-A7F9-26C27DEFAE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89E599-31BD-43E2-AE5E-8B0B353D22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29645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04B50-A9EB-4CFB-93FC-480FD9560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FBE907-3068-4B23-ACAD-FA2FF8539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28177D-CEDF-408A-8188-3B3572595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C1A2A-57AD-41C4-900C-44681F244EE1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3ECD38-42D3-4249-A35C-34C7D77A8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5D8B7-8608-43B2-8040-A05AC9C8D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73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331F88-EF31-4254-BCD6-BDE3B05F8B5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4B349AB-9C1F-4AEC-AD90-BE5DBE0B76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C71E70-3486-40D4-861D-8D10D258DF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257A2A-AEC8-494A-B814-DAA894641699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D4E761-AC01-47DD-B8DE-9A5ACE9426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710A2-B3EB-4BD2-A463-D8484C632A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9074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6C1B183-9EB6-465D-AF50-80E8E74A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76B928-8695-47CD-948A-87BEA3C65D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6EC01-4D9A-40B3-8D28-D946ED04FD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49207C-3B04-4B31-8A47-451F19E57622}" type="datetime1">
              <a:rPr lang="en-US" smtClean="0"/>
              <a:t>9/30/2025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F8362-5976-4C11-B467-DDC6F3739A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A7FC8A-BBF9-433F-8635-82EE9570EA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FF8543-F9CB-4923-BC76-CA5367B4ED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98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3.bin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oleObject" Target="../embeddings/oleObject4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5.bin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oleObject" Target="../embeddings/oleObject6.bin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wmf"/><Relationship Id="rId4" Type="http://schemas.openxmlformats.org/officeDocument/2006/relationships/oleObject" Target="../embeddings/oleObject8.bin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gif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wmf"/><Relationship Id="rId2" Type="http://schemas.openxmlformats.org/officeDocument/2006/relationships/oleObject" Target="../embeddings/oleObject11.bin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8.wmf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oleObject" Target="../embeddings/oleObject13.bin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14.bin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emf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wmf"/><Relationship Id="rId2" Type="http://schemas.openxmlformats.org/officeDocument/2006/relationships/oleObject" Target="../embeddings/oleObject15.bin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7" Type="http://schemas.openxmlformats.org/officeDocument/2006/relationships/image" Target="../media/image58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B980CD-E74B-4073-BE9D-31B4AE96CC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5959" y="714188"/>
            <a:ext cx="10520082" cy="2777565"/>
          </a:xfrm>
        </p:spPr>
        <p:txBody>
          <a:bodyPr>
            <a:normAutofit/>
          </a:bodyPr>
          <a:lstStyle/>
          <a:p>
            <a:r>
              <a:rPr lang="en-US" sz="4800" b="0" i="0" u="none" strike="noStrike" kern="1200" baseline="0" dirty="0">
                <a:solidFill>
                  <a:srgbClr val="C00000"/>
                </a:solidFill>
                <a:latin typeface="Times New Roman" panose="02020603050405020304" pitchFamily="18" charset="0"/>
              </a:rPr>
              <a:t>System Analysis and Design</a:t>
            </a:r>
            <a:br>
              <a:rPr lang="en-US" sz="4800" dirty="0"/>
            </a:br>
            <a:br>
              <a:rPr lang="en-US" sz="4800" dirty="0"/>
            </a:br>
            <a:r>
              <a:rPr lang="en-US" sz="4400" dirty="0">
                <a:solidFill>
                  <a:schemeClr val="accent6">
                    <a:lumMod val="50000"/>
                  </a:schemeClr>
                </a:solidFill>
              </a:rPr>
              <a:t>Chapter 3: Business Process Modelling</a:t>
            </a:r>
            <a:endParaRPr lang="en-US" sz="4800" dirty="0">
              <a:solidFill>
                <a:srgbClr val="FF0000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323161-1052-4FF1-9CF5-A66CCD3B76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49188" y="5009496"/>
            <a:ext cx="9493624" cy="1655762"/>
          </a:xfrm>
        </p:spPr>
        <p:txBody>
          <a:bodyPr/>
          <a:lstStyle/>
          <a:p>
            <a:r>
              <a:rPr lang="en-US" dirty="0"/>
              <a:t>Trương Quốc Định</a:t>
            </a:r>
          </a:p>
          <a:p>
            <a:r>
              <a:rPr lang="en-GB" dirty="0"/>
              <a:t>Faculty of Information Systems – CICT– Can Tho University</a:t>
            </a:r>
          </a:p>
        </p:txBody>
      </p:sp>
    </p:spTree>
    <p:extLst>
      <p:ext uri="{BB962C8B-B14F-4D97-AF65-F5344CB8AC3E}">
        <p14:creationId xmlns:p14="http://schemas.microsoft.com/office/powerpoint/2010/main" val="396466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749B5B-FFE3-5385-29A1-00D7EECF04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25666-274B-E46E-7CA3-B05CC2BF49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Basic concepts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870419B-03D7-34D1-5F11-AD6CEB20BC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96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C0CFAB-E85D-45C0-9368-E06D1FC13B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FAD09-29D0-4170-B01D-34CCE6253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GB" dirty="0"/>
              <a:t>A </a:t>
            </a:r>
            <a:r>
              <a:rPr lang="en-GB" dirty="0">
                <a:solidFill>
                  <a:srgbClr val="FF0000"/>
                </a:solidFill>
              </a:rPr>
              <a:t>business process</a:t>
            </a:r>
            <a:r>
              <a:rPr lang="en-GB" dirty="0"/>
              <a:t> is a </a:t>
            </a:r>
            <a:r>
              <a:rPr lang="en-GB" dirty="0">
                <a:solidFill>
                  <a:srgbClr val="00B050"/>
                </a:solidFill>
              </a:rPr>
              <a:t>set of structured activities or tasks</a:t>
            </a:r>
            <a:r>
              <a:rPr lang="en-GB" dirty="0"/>
              <a:t> performed by </a:t>
            </a:r>
            <a:r>
              <a:rPr lang="en-GB" dirty="0">
                <a:solidFill>
                  <a:srgbClr val="0070C0"/>
                </a:solidFill>
              </a:rPr>
              <a:t>people or systems</a:t>
            </a:r>
            <a:r>
              <a:rPr lang="en-GB" dirty="0"/>
              <a:t> to achieve a specific organizational goal. </a:t>
            </a:r>
          </a:p>
          <a:p>
            <a:pPr lvl="1" algn="just">
              <a:lnSpc>
                <a:spcPct val="120000"/>
              </a:lnSpc>
            </a:pPr>
            <a:r>
              <a:rPr lang="en-GB" dirty="0"/>
              <a:t>It involves the coordination of resources, roles, and workflows to deliver value to customers or stakeholders.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inter-organizational business process</a:t>
            </a:r>
            <a:r>
              <a:rPr lang="en-GB" dirty="0"/>
              <a:t> is a workflow that is </a:t>
            </a:r>
            <a:r>
              <a:rPr lang="en-GB" dirty="0">
                <a:solidFill>
                  <a:srgbClr val="0070C0"/>
                </a:solidFill>
              </a:rPr>
              <a:t>triggered by one organization</a:t>
            </a:r>
            <a:r>
              <a:rPr lang="en-GB" dirty="0"/>
              <a:t> but </a:t>
            </a:r>
            <a:r>
              <a:rPr lang="en-GB" dirty="0">
                <a:solidFill>
                  <a:srgbClr val="00B050"/>
                </a:solidFill>
              </a:rPr>
              <a:t>involves collaboration, communication, or data exchange with external parties</a:t>
            </a:r>
            <a:r>
              <a:rPr lang="en-GB" dirty="0"/>
              <a:t> such as suppliers, partners, clients, or other institutions.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F0636A-22CC-4F3C-91C0-B7C0070D2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5E67BA-A987-4143-961A-8A57AA6756F0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40930513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07ED1F-3532-46F4-92C2-E3F0E271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812856-1B2A-4F18-8174-B6CC4B9698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0475A8-B54F-4293-BC19-3AD5E275C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CAF89F-B603-47FB-BD1B-A8C0E5311D03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DE48738E-91C0-F04B-7ED3-830D421CD6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7591" y="1825625"/>
            <a:ext cx="3396418" cy="4351338"/>
          </a:xfrm>
          <a:prstGeom prst="rect">
            <a:avLst/>
          </a:prstGeom>
        </p:spPr>
      </p:pic>
      <p:pic>
        <p:nvPicPr>
          <p:cNvPr id="1028" name="Picture 4" descr="Phương thức thanh toán quốc tế BPO - Góc nhìn công nghệ số">
            <a:extLst>
              <a:ext uri="{FF2B5EF4-FFF2-40B4-BE49-F238E27FC236}">
                <a16:creationId xmlns:a16="http://schemas.microsoft.com/office/drawing/2014/main" id="{9FCD6ECC-447A-FEFF-C0EE-ABF14AEE43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7393" y="2252900"/>
            <a:ext cx="5936407" cy="34967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25673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5D4093-3A07-4970-959A-AEEECF299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Working with Business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BCC5E-11E7-48DF-B35F-9AE771E7AC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20000"/>
              </a:lnSpc>
            </a:pPr>
            <a:r>
              <a:rPr lang="en-GB" dirty="0"/>
              <a:t>We </a:t>
            </a:r>
            <a:r>
              <a:rPr lang="en-GB" dirty="0">
                <a:solidFill>
                  <a:srgbClr val="FF0000"/>
                </a:solidFill>
              </a:rPr>
              <a:t>cannot evaluate, install, or deploy</a:t>
            </a:r>
            <a:r>
              <a:rPr lang="en-GB" dirty="0"/>
              <a:t> a business process because it only </a:t>
            </a:r>
            <a:r>
              <a:rPr lang="en-GB" dirty="0">
                <a:solidFill>
                  <a:srgbClr val="00B050"/>
                </a:solidFill>
              </a:rPr>
              <a:t>exists in thought</a:t>
            </a:r>
            <a:r>
              <a:rPr lang="en-GB" dirty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GB" dirty="0"/>
              <a:t>We can only work with a business process indirectly.</a:t>
            </a:r>
          </a:p>
          <a:p>
            <a:pPr lvl="1" algn="just">
              <a:lnSpc>
                <a:spcPct val="120000"/>
              </a:lnSpc>
            </a:pPr>
            <a:r>
              <a:rPr lang="en-GB" dirty="0"/>
              <a:t>We </a:t>
            </a:r>
            <a:r>
              <a:rPr lang="en-GB" dirty="0">
                <a:solidFill>
                  <a:srgbClr val="FF0000"/>
                </a:solidFill>
              </a:rPr>
              <a:t>need to model</a:t>
            </a:r>
            <a:r>
              <a:rPr lang="en-GB" dirty="0"/>
              <a:t> the business process.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EBEABD-1FF9-48CA-8AFA-6169A5BF6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ED432B6-45DD-477F-998D-BE362F7B9A12}"/>
              </a:ext>
            </a:extLst>
          </p:cNvPr>
          <p:cNvSpPr txBox="1"/>
          <p:nvPr/>
        </p:nvSpPr>
        <p:spPr>
          <a:xfrm>
            <a:off x="4563035" y="107577"/>
            <a:ext cx="75447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3455284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D2B783EE-0239-4717-BBEA-8C9EAC61C8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5E1119-1887-4662-9C09-D64706634D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1" y="345810"/>
            <a:ext cx="5120561" cy="1325563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D20D48-7864-4F5A-A6B9-05EA9EBED6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825625"/>
            <a:ext cx="5092194" cy="4351338"/>
          </a:xfrm>
        </p:spPr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0070C0"/>
                </a:solidFill>
              </a:rPr>
              <a:t>Modelling</a:t>
            </a:r>
            <a:r>
              <a:rPr lang="en-GB" dirty="0"/>
              <a:t> is the </a:t>
            </a:r>
            <a:r>
              <a:rPr lang="en-GB" dirty="0">
                <a:solidFill>
                  <a:srgbClr val="FF0000"/>
                </a:solidFill>
              </a:rPr>
              <a:t>abstraction</a:t>
            </a:r>
            <a:r>
              <a:rPr lang="en-GB" dirty="0"/>
              <a:t> of objects and phenomena from the real world.</a:t>
            </a:r>
          </a:p>
          <a:p>
            <a:pPr algn="just"/>
            <a:r>
              <a:rPr lang="en-GB" dirty="0"/>
              <a:t>It represents </a:t>
            </a:r>
            <a:r>
              <a:rPr lang="en-GB" dirty="0">
                <a:solidFill>
                  <a:srgbClr val="00B050"/>
                </a:solidFill>
              </a:rPr>
              <a:t>one or more aspects</a:t>
            </a:r>
            <a:r>
              <a:rPr lang="en-GB" dirty="0"/>
              <a:t> of a system while </a:t>
            </a:r>
            <a:r>
              <a:rPr lang="en-GB" dirty="0">
                <a:solidFill>
                  <a:srgbClr val="FF0000"/>
                </a:solidFill>
              </a:rPr>
              <a:t>omitting unnecessary details</a:t>
            </a:r>
            <a:r>
              <a:rPr lang="en-GB" dirty="0"/>
              <a:t>.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A7B99495-F43F-4D80-A44F-2CB4764EB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2052" name="Picture 4" descr="About Us - LOGISTICS U&amp;amp;I">
            <a:extLst>
              <a:ext uri="{FF2B5EF4-FFF2-40B4-BE49-F238E27FC236}">
                <a16:creationId xmlns:a16="http://schemas.microsoft.com/office/drawing/2014/main" id="{332E468F-CFBE-40A2-B72B-FC39AC31F50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46" r="21033" b="1"/>
          <a:stretch/>
        </p:blipFill>
        <p:spPr bwMode="auto">
          <a:xfrm>
            <a:off x="7901259" y="2727729"/>
            <a:ext cx="4290741" cy="4130271"/>
          </a:xfrm>
          <a:custGeom>
            <a:avLst/>
            <a:gdLst/>
            <a:ahLst/>
            <a:cxnLst/>
            <a:rect l="l" t="t" r="r" b="b"/>
            <a:pathLst>
              <a:path w="4290741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1" y="751286"/>
                </a:lnTo>
                <a:lnTo>
                  <a:pt x="4290741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9" name="Arc 78">
            <a:extLst>
              <a:ext uri="{FF2B5EF4-FFF2-40B4-BE49-F238E27FC236}">
                <a16:creationId xmlns:a16="http://schemas.microsoft.com/office/drawing/2014/main" id="{70BEB1E7-2F88-40BC-B73D-42E5B6F80B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054" name="Picture 6" descr="Logistics Flow Charts | ConceptDraw.com">
            <a:extLst>
              <a:ext uri="{FF2B5EF4-FFF2-40B4-BE49-F238E27FC236}">
                <a16:creationId xmlns:a16="http://schemas.microsoft.com/office/drawing/2014/main" id="{707E59B5-2858-4145-946A-B94B39487A2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52" r="12484" b="-1"/>
          <a:stretch/>
        </p:blipFill>
        <p:spPr bwMode="auto">
          <a:xfrm>
            <a:off x="6261607" y="1"/>
            <a:ext cx="3519312" cy="3007909"/>
          </a:xfrm>
          <a:custGeom>
            <a:avLst/>
            <a:gdLst/>
            <a:ahLst/>
            <a:cxnLst/>
            <a:rect l="l" t="t" r="r" b="b"/>
            <a:pathLst>
              <a:path w="3519312" h="3007909">
                <a:moveTo>
                  <a:pt x="519780" y="0"/>
                </a:moveTo>
                <a:lnTo>
                  <a:pt x="2999532" y="0"/>
                </a:lnTo>
                <a:lnTo>
                  <a:pt x="3003921" y="3989"/>
                </a:lnTo>
                <a:cubicBezTo>
                  <a:pt x="3322356" y="322424"/>
                  <a:pt x="3519312" y="762338"/>
                  <a:pt x="3519312" y="1248253"/>
                </a:cubicBezTo>
                <a:cubicBezTo>
                  <a:pt x="3519312" y="2220084"/>
                  <a:pt x="2731487" y="3007909"/>
                  <a:pt x="1759656" y="3007909"/>
                </a:cubicBezTo>
                <a:cubicBezTo>
                  <a:pt x="787826" y="3007909"/>
                  <a:pt x="0" y="2220084"/>
                  <a:pt x="0" y="1248253"/>
                </a:cubicBezTo>
                <a:cubicBezTo>
                  <a:pt x="0" y="762338"/>
                  <a:pt x="196957" y="322424"/>
                  <a:pt x="515392" y="3989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E124C3-C7B2-470B-BD1B-2827CBC25F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49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6</a:t>
            </a:fld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0806E2D-448B-4192-AA6D-290CC507BDEB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US" dirty="0"/>
              <a:t>Basic concepts</a:t>
            </a:r>
          </a:p>
        </p:txBody>
      </p:sp>
    </p:spTree>
    <p:extLst>
      <p:ext uri="{BB962C8B-B14F-4D97-AF65-F5344CB8AC3E}">
        <p14:creationId xmlns:p14="http://schemas.microsoft.com/office/powerpoint/2010/main" val="3967296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0C2A8-06BE-4873-83BC-6648F008A2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process modelling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461BE9-4FFD-4723-AABD-36080BBB01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3518" cy="4351338"/>
          </a:xfrm>
        </p:spPr>
        <p:txBody>
          <a:bodyPr>
            <a:normAutofit/>
          </a:bodyPr>
          <a:lstStyle/>
          <a:p>
            <a:pPr algn="just">
              <a:lnSpc>
                <a:spcPct val="120000"/>
              </a:lnSpc>
            </a:pPr>
            <a:r>
              <a:rPr lang="en-GB" dirty="0">
                <a:solidFill>
                  <a:srgbClr val="FF0000"/>
                </a:solidFill>
              </a:rPr>
              <a:t>Clearly describing</a:t>
            </a:r>
            <a:r>
              <a:rPr lang="en-GB" dirty="0"/>
              <a:t> the business domain eliminates ambiguity or confusion.</a:t>
            </a:r>
          </a:p>
          <a:p>
            <a:pPr algn="just">
              <a:lnSpc>
                <a:spcPct val="120000"/>
              </a:lnSpc>
            </a:pPr>
            <a:r>
              <a:rPr lang="en-GB" dirty="0"/>
              <a:t>It </a:t>
            </a:r>
            <a:r>
              <a:rPr lang="en-GB" dirty="0">
                <a:solidFill>
                  <a:srgbClr val="FF0000"/>
                </a:solidFill>
              </a:rPr>
              <a:t>facilitates</a:t>
            </a:r>
            <a:r>
              <a:rPr lang="en-GB" dirty="0"/>
              <a:t> easier collection of </a:t>
            </a:r>
            <a:r>
              <a:rPr lang="en-GB" dirty="0">
                <a:solidFill>
                  <a:srgbClr val="0070C0"/>
                </a:solidFill>
              </a:rPr>
              <a:t>customer feedback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en-GB" dirty="0"/>
              <a:t>It serves as a tool to </a:t>
            </a:r>
            <a:r>
              <a:rPr lang="en-GB" dirty="0">
                <a:solidFill>
                  <a:srgbClr val="0070C0"/>
                </a:solidFill>
              </a:rPr>
              <a:t>communicate</a:t>
            </a:r>
            <a:r>
              <a:rPr lang="en-GB" dirty="0"/>
              <a:t> domain knowledge and business requirements to the development team </a:t>
            </a:r>
            <a:r>
              <a:rPr lang="en-GB" dirty="0">
                <a:solidFill>
                  <a:srgbClr val="0070C0"/>
                </a:solidFill>
              </a:rPr>
              <a:t>without misinterpretation</a:t>
            </a:r>
            <a:r>
              <a:rPr lang="en-GB" dirty="0"/>
              <a:t>.</a:t>
            </a:r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9E1F15-AA30-41E0-ADA2-8269E4C74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7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4868095-9389-4948-91C5-CD311C7023D0}"/>
              </a:ext>
            </a:extLst>
          </p:cNvPr>
          <p:cNvSpPr txBox="1"/>
          <p:nvPr/>
        </p:nvSpPr>
        <p:spPr>
          <a:xfrm>
            <a:off x="6893859" y="107577"/>
            <a:ext cx="5213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</a:t>
            </a:r>
          </a:p>
        </p:txBody>
      </p:sp>
    </p:spTree>
    <p:extLst>
      <p:ext uri="{BB962C8B-B14F-4D97-AF65-F5344CB8AC3E}">
        <p14:creationId xmlns:p14="http://schemas.microsoft.com/office/powerpoint/2010/main" val="1501426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D23A5-F8AD-4514-AD4B-905663A90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Business process management life circle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D0C47-096D-4D3D-A33D-F623D3330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Process Design</a:t>
            </a:r>
          </a:p>
          <a:p>
            <a:r>
              <a:rPr lang="en-US" dirty="0">
                <a:solidFill>
                  <a:srgbClr val="FF0000"/>
                </a:solidFill>
              </a:rPr>
              <a:t>Process Modelling</a:t>
            </a:r>
            <a:endParaRPr lang="en-US" dirty="0"/>
          </a:p>
          <a:p>
            <a:r>
              <a:rPr lang="en-US" dirty="0"/>
              <a:t>Process Execution</a:t>
            </a:r>
          </a:p>
          <a:p>
            <a:r>
              <a:rPr lang="en-US" dirty="0"/>
              <a:t>Process Monitoring</a:t>
            </a:r>
          </a:p>
          <a:p>
            <a:r>
              <a:rPr lang="en-US" dirty="0"/>
              <a:t>Process Optimization</a:t>
            </a:r>
          </a:p>
          <a:p>
            <a:r>
              <a:rPr lang="en-US" dirty="0"/>
              <a:t>....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ECE6FD-C5EA-401C-9B7F-8E7974252A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8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474FE3-A28F-4389-9CB9-32DE800D8561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</a:t>
            </a:r>
          </a:p>
        </p:txBody>
      </p:sp>
      <p:pic>
        <p:nvPicPr>
          <p:cNvPr id="4102" name="Picture 6" descr="What is Business Process Management (BPM)? Benefits &amp;amp; Examples (2020)">
            <a:extLst>
              <a:ext uri="{FF2B5EF4-FFF2-40B4-BE49-F238E27FC236}">
                <a16:creationId xmlns:a16="http://schemas.microsoft.com/office/drawing/2014/main" id="{11084A03-2D22-4BEF-93B9-CAF82CBA9A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19862" y="1646238"/>
            <a:ext cx="4181475" cy="41814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495624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5" name="Rectangle 74">
            <a:extLst>
              <a:ext uri="{FF2B5EF4-FFF2-40B4-BE49-F238E27FC236}">
                <a16:creationId xmlns:a16="http://schemas.microsoft.com/office/drawing/2014/main" id="{0550F5B9-399F-4FAD-AE6C-ED65F9A43A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77" name="Rectangle 76">
            <a:extLst>
              <a:ext uri="{FF2B5EF4-FFF2-40B4-BE49-F238E27FC236}">
                <a16:creationId xmlns:a16="http://schemas.microsoft.com/office/drawing/2014/main" id="{C062E60F-5CD4-4268-8359-8076634680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288350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038BD09-4145-4214-A3F9-FB8F0C5433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10047"/>
            <a:ext cx="3300984" cy="1645920"/>
          </a:xfrm>
        </p:spPr>
        <p:txBody>
          <a:bodyPr>
            <a:normAutofit/>
          </a:bodyPr>
          <a:lstStyle/>
          <a:p>
            <a:r>
              <a:rPr lang="en-US" sz="2800" dirty="0"/>
              <a:t>Tools</a:t>
            </a:r>
          </a:p>
        </p:txBody>
      </p:sp>
      <p:sp>
        <p:nvSpPr>
          <p:cNvPr id="79" name="Rectangle 78">
            <a:extLst>
              <a:ext uri="{FF2B5EF4-FFF2-40B4-BE49-F238E27FC236}">
                <a16:creationId xmlns:a16="http://schemas.microsoft.com/office/drawing/2014/main" id="{BB341EC3-1810-4D33-BA3F-E2D0AA0ECF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980964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1" name="Rectangle 80">
            <a:extLst>
              <a:ext uri="{FF2B5EF4-FFF2-40B4-BE49-F238E27FC236}">
                <a16:creationId xmlns:a16="http://schemas.microsoft.com/office/drawing/2014/main" id="{10127CDE-2B99-47A8-BB3C-7D1751910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0864" y="1323863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86315D-9051-4E43-A38E-D99FC889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144" y="510047"/>
            <a:ext cx="6858000" cy="1645920"/>
          </a:xfrm>
        </p:spPr>
        <p:txBody>
          <a:bodyPr anchor="ctr">
            <a:normAutofit/>
          </a:bodyPr>
          <a:lstStyle/>
          <a:p>
            <a:r>
              <a:rPr lang="en-US" sz="1800" dirty="0"/>
              <a:t>Flowchart.</a:t>
            </a:r>
          </a:p>
          <a:p>
            <a:r>
              <a:rPr lang="en-US" sz="1800" dirty="0"/>
              <a:t>UML Activity.</a:t>
            </a:r>
          </a:p>
          <a:p>
            <a:r>
              <a:rPr lang="en-US" sz="1800" dirty="0"/>
              <a:t>BPMN.</a:t>
            </a:r>
          </a:p>
        </p:txBody>
      </p:sp>
      <p:pic>
        <p:nvPicPr>
          <p:cNvPr id="5124" name="Picture 4" descr="What is Activity Diagram?">
            <a:extLst>
              <a:ext uri="{FF2B5EF4-FFF2-40B4-BE49-F238E27FC236}">
                <a16:creationId xmlns:a16="http://schemas.microsoft.com/office/drawing/2014/main" id="{CBA39CB3-377E-43F1-8B04-ADCE8B809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92141" y="2717038"/>
            <a:ext cx="2975137" cy="3639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Stockbridge System Flowchart | Process flow chart, Business flow chart, Process  flow chart template">
            <a:extLst>
              <a:ext uri="{FF2B5EF4-FFF2-40B4-BE49-F238E27FC236}">
                <a16:creationId xmlns:a16="http://schemas.microsoft.com/office/drawing/2014/main" id="{EC63C2AE-9BFA-4D05-8F45-1FEF63449F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57784" y="3026338"/>
            <a:ext cx="3584448" cy="30207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The BPMN diagram of the booking process. | Download Scientific Diagram">
            <a:extLst>
              <a:ext uri="{FF2B5EF4-FFF2-40B4-BE49-F238E27FC236}">
                <a16:creationId xmlns:a16="http://schemas.microsoft.com/office/drawing/2014/main" id="{038B9BA2-60A7-4070-90DF-0EA4483968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137415" y="3266444"/>
            <a:ext cx="3584448" cy="23193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3E6E59-9C14-4652-A625-1851087FD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82854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42735F-7368-4800-8056-82334A3EBBD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Basic concept</a:t>
            </a:r>
          </a:p>
        </p:txBody>
      </p:sp>
    </p:spTree>
    <p:extLst>
      <p:ext uri="{BB962C8B-B14F-4D97-AF65-F5344CB8AC3E}">
        <p14:creationId xmlns:p14="http://schemas.microsoft.com/office/powerpoint/2010/main" val="1472647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09678-E2B9-D635-4487-4137E9982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F76B76-BE63-1E0E-1DF0-A287AA8D5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102" y="2766218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BPMN - </a:t>
            </a:r>
            <a:r>
              <a:rPr lang="en-GB" dirty="0">
                <a:solidFill>
                  <a:srgbClr val="FF0000"/>
                </a:solidFill>
              </a:rPr>
              <a:t>Business Process Model and Notation</a:t>
            </a:r>
            <a:r>
              <a:rPr lang="en-US" dirty="0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1361653-6A88-A88C-1137-8CF67A68F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039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DA53D4-193B-4353-A93C-DE45187423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use BPMN?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62AF0C-CC57-43BB-A898-1A6AD32248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BPMN</a:t>
            </a:r>
            <a:r>
              <a:rPr lang="en-GB" dirty="0"/>
              <a:t> is a standard </a:t>
            </a:r>
            <a:r>
              <a:rPr lang="en-GB" dirty="0">
                <a:solidFill>
                  <a:srgbClr val="0070C0"/>
                </a:solidFill>
              </a:rPr>
              <a:t>specifically used for modelling business processes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It is governed by OMG (The Object Management Group®), an international, open-membership, non-profit technology standards consortium.</a:t>
            </a:r>
          </a:p>
          <a:p>
            <a:pPr algn="just"/>
            <a:r>
              <a:rPr lang="en-GB" dirty="0"/>
              <a:t>BPMN also </a:t>
            </a:r>
            <a:r>
              <a:rPr lang="en-GB" dirty="0">
                <a:solidFill>
                  <a:srgbClr val="FF0000"/>
                </a:solidFill>
              </a:rPr>
              <a:t>draws from previous approaches</a:t>
            </a:r>
            <a:r>
              <a:rPr lang="en-GB" dirty="0"/>
              <a:t> to business process modelling including EPC, </a:t>
            </a:r>
            <a:r>
              <a:rPr lang="en-GB" dirty="0">
                <a:solidFill>
                  <a:srgbClr val="FF0000"/>
                </a:solidFill>
              </a:rPr>
              <a:t>UML activity diagrams</a:t>
            </a:r>
            <a:r>
              <a:rPr lang="en-GB" dirty="0"/>
              <a:t>, and Petri nets.</a:t>
            </a:r>
          </a:p>
          <a:p>
            <a:pPr algn="just"/>
            <a:r>
              <a:rPr lang="en-GB" dirty="0"/>
              <a:t>It is </a:t>
            </a:r>
            <a:r>
              <a:rPr lang="en-GB" dirty="0">
                <a:solidFill>
                  <a:srgbClr val="FF0000"/>
                </a:solidFill>
              </a:rPr>
              <a:t>supported by numerous</a:t>
            </a:r>
            <a:r>
              <a:rPr lang="en-GB" dirty="0"/>
              <a:t> tools and organizations.</a:t>
            </a:r>
          </a:p>
          <a:p>
            <a:pPr algn="just"/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8F7CB7-3DA0-495B-9FD7-E8255BBAA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22A4A-EB94-4EF5-9D76-059A84725E9F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62993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18984-1F27-4B5A-A53A-D7FCFE9F4B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505495" cy="1622321"/>
          </a:xfrm>
        </p:spPr>
        <p:txBody>
          <a:bodyPr>
            <a:normAutofit/>
          </a:bodyPr>
          <a:lstStyle/>
          <a:p>
            <a:r>
              <a:rPr lang="en-US" dirty="0"/>
              <a:t>BPMN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401B86-960A-46DB-A09A-D93493EF7A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0"/>
            <a:ext cx="3505494" cy="3785419"/>
          </a:xfrm>
        </p:spPr>
        <p:txBody>
          <a:bodyPr>
            <a:normAutofit/>
          </a:bodyPr>
          <a:lstStyle/>
          <a:p>
            <a:r>
              <a:rPr lang="en-US" sz="2000" dirty="0"/>
              <a:t>BPMN – Business Process Model and Notation</a:t>
            </a:r>
          </a:p>
          <a:p>
            <a:endParaRPr lang="en-US" sz="2000" dirty="0"/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5E39A796-BE83-48B1-B33F-35C4A32AAB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C8CAC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7" name="Rounded Rectangle 9">
            <a:extLst>
              <a:ext uri="{FF2B5EF4-FFF2-40B4-BE49-F238E27FC236}">
                <a16:creationId xmlns:a16="http://schemas.microsoft.com/office/drawing/2014/main" id="{72F84B47-E267-4194-8194-831DB7B55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557784"/>
            <a:ext cx="6584098" cy="5739187"/>
          </a:xfrm>
          <a:prstGeom prst="roundRect">
            <a:avLst>
              <a:gd name="adj" fmla="val 0"/>
            </a:avLst>
          </a:prstGeom>
          <a:solidFill>
            <a:srgbClr val="FFFFFF"/>
          </a:solidFill>
          <a:ln w="9525">
            <a:solidFill>
              <a:srgbClr val="C8CACA"/>
            </a:solidFill>
          </a:ln>
          <a:effectLst>
            <a:outerShdw blurRad="57150" dist="19050" dir="5400000" algn="t" rotWithShape="0">
              <a:prstClr val="black">
                <a:alpha val="63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30" name="Picture 6" descr="A subset of BPMN elements used in this thesis | Download Scientific Diagram">
            <a:extLst>
              <a:ext uri="{FF2B5EF4-FFF2-40B4-BE49-F238E27FC236}">
                <a16:creationId xmlns:a16="http://schemas.microsoft.com/office/drawing/2014/main" id="{62FDDF0A-8A02-482F-B12D-50B4F58E7D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405862" y="1384345"/>
            <a:ext cx="6019331" cy="4086063"/>
          </a:xfrm>
          <a:prstGeom prst="rect">
            <a:avLst/>
          </a:prstGeom>
          <a:noFill/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DCCD3C-C2E6-4C74-B7F6-8004AA95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AFFF8543-F9CB-4923-BC76-CA5367B4EDBF}" type="slidenum">
              <a:rPr lang="en-US">
                <a:solidFill>
                  <a:srgbClr val="303030"/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 dirty="0">
              <a:solidFill>
                <a:srgbClr val="303030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239AD1D-CEF8-47F0-810F-8BBA7520816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7725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5D7CB-9FB1-4935-BE0C-617D6EDE47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Basis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87A553-1835-43CB-8182-E9519878B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37928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Swimlanes</a:t>
            </a:r>
            <a:r>
              <a:rPr lang="en-US" dirty="0"/>
              <a:t> –</a:t>
            </a:r>
            <a:r>
              <a:rPr lang="en-GB" dirty="0"/>
              <a:t>visual elements used to </a:t>
            </a:r>
            <a:r>
              <a:rPr lang="en-GB" dirty="0">
                <a:solidFill>
                  <a:srgbClr val="0070C0"/>
                </a:solidFill>
              </a:rPr>
              <a:t>organize and categorize activities and tasks</a:t>
            </a:r>
            <a:r>
              <a:rPr lang="en-GB" dirty="0"/>
              <a:t> within a process diagram, </a:t>
            </a:r>
            <a:r>
              <a:rPr lang="en-GB" dirty="0">
                <a:solidFill>
                  <a:srgbClr val="00B050"/>
                </a:solidFill>
              </a:rPr>
              <a:t>typically representing different participants</a:t>
            </a:r>
            <a:r>
              <a:rPr lang="en-GB" dirty="0"/>
              <a:t>. It includes two basic components: </a:t>
            </a:r>
            <a:r>
              <a:rPr lang="en-US" dirty="0">
                <a:solidFill>
                  <a:srgbClr val="00B050"/>
                </a:solidFill>
              </a:rPr>
              <a:t>pool</a:t>
            </a:r>
            <a:r>
              <a:rPr lang="en-US" dirty="0"/>
              <a:t> &amp; </a:t>
            </a:r>
            <a:r>
              <a:rPr lang="en-US" dirty="0">
                <a:solidFill>
                  <a:srgbClr val="00B050"/>
                </a:solidFill>
              </a:rPr>
              <a:t>lane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Flow Elements</a:t>
            </a:r>
            <a:r>
              <a:rPr lang="en-US" dirty="0"/>
              <a:t> – </a:t>
            </a:r>
            <a:r>
              <a:rPr lang="en-GB" dirty="0"/>
              <a:t>define the </a:t>
            </a:r>
            <a:r>
              <a:rPr lang="en-GB" dirty="0">
                <a:solidFill>
                  <a:srgbClr val="0070C0"/>
                </a:solidFill>
              </a:rPr>
              <a:t>behavior of a process</a:t>
            </a:r>
            <a:r>
              <a:rPr lang="en-US" dirty="0"/>
              <a:t>. </a:t>
            </a:r>
            <a:r>
              <a:rPr lang="en-GB" dirty="0"/>
              <a:t>It includes three basic components</a:t>
            </a:r>
            <a:r>
              <a:rPr lang="en-US" dirty="0"/>
              <a:t>: </a:t>
            </a:r>
            <a:r>
              <a:rPr lang="en-US" dirty="0">
                <a:solidFill>
                  <a:srgbClr val="00B050"/>
                </a:solidFill>
              </a:rPr>
              <a:t>event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activity</a:t>
            </a:r>
            <a:r>
              <a:rPr lang="en-US" dirty="0"/>
              <a:t>, </a:t>
            </a:r>
            <a:r>
              <a:rPr lang="en-US" dirty="0">
                <a:solidFill>
                  <a:srgbClr val="00B050"/>
                </a:solidFill>
              </a:rPr>
              <a:t>gateway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Connecting Objects</a:t>
            </a:r>
            <a:r>
              <a:rPr lang="en-US" dirty="0"/>
              <a:t> - </a:t>
            </a:r>
            <a:r>
              <a:rPr lang="en-GB" dirty="0"/>
              <a:t>are elements that establish relationships between different process components, </a:t>
            </a:r>
            <a:r>
              <a:rPr lang="en-GB" dirty="0">
                <a:solidFill>
                  <a:srgbClr val="0070C0"/>
                </a:solidFill>
              </a:rPr>
              <a:t>facilitating the flow of information and control. </a:t>
            </a:r>
            <a:r>
              <a:rPr lang="en-US" dirty="0"/>
              <a:t>There are three types</a:t>
            </a:r>
            <a:r>
              <a:rPr lang="vi-VN" dirty="0"/>
              <a:t>: </a:t>
            </a:r>
            <a:r>
              <a:rPr lang="vi-VN" dirty="0">
                <a:solidFill>
                  <a:srgbClr val="00B050"/>
                </a:solidFill>
              </a:rPr>
              <a:t>Sequence flows</a:t>
            </a:r>
            <a:r>
              <a:rPr lang="vi-VN" dirty="0"/>
              <a:t>, </a:t>
            </a:r>
            <a:r>
              <a:rPr lang="vi-VN" dirty="0">
                <a:solidFill>
                  <a:srgbClr val="00B050"/>
                </a:solidFill>
              </a:rPr>
              <a:t>message flows</a:t>
            </a:r>
            <a:r>
              <a:rPr lang="vi-VN" dirty="0"/>
              <a:t>, </a:t>
            </a:r>
            <a:r>
              <a:rPr lang="vi-VN" dirty="0" err="1">
                <a:solidFill>
                  <a:srgbClr val="00B050"/>
                </a:solidFill>
              </a:rPr>
              <a:t>associations</a:t>
            </a:r>
            <a:r>
              <a:rPr lang="vi-VN" dirty="0"/>
              <a:t>.</a:t>
            </a:r>
            <a:endParaRPr lang="en-US" dirty="0"/>
          </a:p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Data</a:t>
            </a:r>
            <a:r>
              <a:rPr lang="en-US" dirty="0"/>
              <a:t> – </a:t>
            </a:r>
            <a:r>
              <a:rPr lang="en-GB" dirty="0"/>
              <a:t>represents </a:t>
            </a:r>
            <a:r>
              <a:rPr lang="en-GB" dirty="0">
                <a:solidFill>
                  <a:srgbClr val="0070C0"/>
                </a:solidFill>
              </a:rPr>
              <a:t>information used or produced by activities</a:t>
            </a:r>
            <a:r>
              <a:rPr lang="en-GB" dirty="0"/>
              <a:t> within a BPMN process.</a:t>
            </a:r>
            <a:endParaRPr lang="en-US" dirty="0"/>
          </a:p>
          <a:p>
            <a:pPr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6FC7D7-2836-4A1F-8DEA-C163BEDFF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BBEEFB-C5A7-45E1-B0EB-D251FF941A8C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6336821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6BB96D-D78B-4A24-B7B5-F336BEC88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Describe a business process using BPMN</a:t>
            </a:r>
            <a:endParaRPr lang="vi-V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C3E8C-57A0-6BAF-794F-FD138AFCBB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30000"/>
              </a:lnSpc>
            </a:pPr>
            <a:r>
              <a:rPr lang="en-GB" dirty="0"/>
              <a:t>A business process is </a:t>
            </a:r>
            <a:r>
              <a:rPr lang="en-GB" dirty="0">
                <a:solidFill>
                  <a:srgbClr val="FF0000"/>
                </a:solidFill>
              </a:rPr>
              <a:t>a sequential chain</a:t>
            </a:r>
            <a:r>
              <a:rPr lang="en-GB" dirty="0"/>
              <a:t> of </a:t>
            </a:r>
            <a:r>
              <a:rPr lang="en-GB" dirty="0">
                <a:solidFill>
                  <a:srgbClr val="0070C0"/>
                </a:solidFill>
              </a:rPr>
              <a:t>activities or tasks</a:t>
            </a:r>
            <a:r>
              <a:rPr lang="en-GB" dirty="0"/>
              <a:t>. Each activity is identified by a name. When describing an activity, it should include:</a:t>
            </a:r>
            <a:endParaRPr lang="vi-VN" dirty="0"/>
          </a:p>
          <a:p>
            <a:pPr lvl="1" algn="just">
              <a:lnSpc>
                <a:spcPct val="130000"/>
              </a:lnSpc>
            </a:pPr>
            <a:r>
              <a:rPr lang="en-GB" dirty="0">
                <a:solidFill>
                  <a:srgbClr val="C00000"/>
                </a:solidFill>
              </a:rPr>
              <a:t>By which entity</a:t>
            </a:r>
            <a:r>
              <a:rPr lang="en-GB" dirty="0"/>
              <a:t> (who, component, or process) it is performed.</a:t>
            </a:r>
            <a:endParaRPr lang="vi-VN" dirty="0"/>
          </a:p>
          <a:p>
            <a:pPr lvl="1" algn="just">
              <a:lnSpc>
                <a:spcPct val="130000"/>
              </a:lnSpc>
            </a:pPr>
            <a:r>
              <a:rPr lang="en-GB" noProof="0" dirty="0"/>
              <a:t>Performed </a:t>
            </a:r>
            <a:r>
              <a:rPr lang="en-GB" noProof="0" dirty="0">
                <a:solidFill>
                  <a:schemeClr val="accent4">
                    <a:lumMod val="50000"/>
                  </a:schemeClr>
                </a:solidFill>
              </a:rPr>
              <a:t>manually/semi-automatically/automatically</a:t>
            </a:r>
            <a:r>
              <a:rPr lang="en-GB" noProof="0" dirty="0"/>
              <a:t>.</a:t>
            </a:r>
          </a:p>
          <a:p>
            <a:pPr lvl="1" algn="just">
              <a:lnSpc>
                <a:spcPct val="130000"/>
              </a:lnSpc>
            </a:pPr>
            <a:r>
              <a:rPr lang="en-GB" dirty="0"/>
              <a:t>What is the </a:t>
            </a:r>
            <a:r>
              <a:rPr lang="en-GB" dirty="0">
                <a:solidFill>
                  <a:srgbClr val="00B050"/>
                </a:solidFill>
              </a:rPr>
              <a:t>triggering condition</a:t>
            </a:r>
            <a:r>
              <a:rPr lang="en-GB" dirty="0"/>
              <a:t>?</a:t>
            </a:r>
            <a:endParaRPr lang="vi-VN" dirty="0"/>
          </a:p>
          <a:p>
            <a:pPr lvl="1" algn="just">
              <a:lnSpc>
                <a:spcPct val="130000"/>
              </a:lnSpc>
            </a:pPr>
            <a:r>
              <a:rPr lang="en-GB" dirty="0"/>
              <a:t>How is </a:t>
            </a:r>
            <a:r>
              <a:rPr lang="en-GB" dirty="0">
                <a:solidFill>
                  <a:srgbClr val="FF0000"/>
                </a:solidFill>
              </a:rPr>
              <a:t>it integrated with other activities</a:t>
            </a:r>
            <a:r>
              <a:rPr lang="en-GB" dirty="0"/>
              <a:t> once completed?</a:t>
            </a:r>
          </a:p>
          <a:p>
            <a:pPr lvl="1" algn="just">
              <a:lnSpc>
                <a:spcPct val="130000"/>
              </a:lnSpc>
            </a:pPr>
            <a:r>
              <a:rPr lang="en-GB" dirty="0"/>
              <a:t>Whether it </a:t>
            </a:r>
            <a:r>
              <a:rPr lang="en-GB" dirty="0">
                <a:solidFill>
                  <a:srgbClr val="0070C0"/>
                </a:solidFill>
              </a:rPr>
              <a:t>uses or generates data</a:t>
            </a:r>
            <a:r>
              <a:rPr lang="en-GB" dirty="0"/>
              <a:t>.</a:t>
            </a:r>
            <a:r>
              <a:rPr lang="vi-VN" dirty="0"/>
              <a:t> </a:t>
            </a:r>
          </a:p>
          <a:p>
            <a:pPr lvl="1" algn="just">
              <a:lnSpc>
                <a:spcPct val="13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51F873-EBF7-4AD0-BCAE-6E532E33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CBD1CEF-E13E-8107-842D-E6A0FB82A9E2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7" name="Thought Bubble: Cloud 6">
            <a:extLst>
              <a:ext uri="{FF2B5EF4-FFF2-40B4-BE49-F238E27FC236}">
                <a16:creationId xmlns:a16="http://schemas.microsoft.com/office/drawing/2014/main" id="{0574ED37-8C2A-6632-DCB8-B9C5C86C2CDE}"/>
              </a:ext>
            </a:extLst>
          </p:cNvPr>
          <p:cNvSpPr/>
          <p:nvPr/>
        </p:nvSpPr>
        <p:spPr>
          <a:xfrm>
            <a:off x="5925670" y="830543"/>
            <a:ext cx="2294965" cy="1018801"/>
          </a:xfrm>
          <a:prstGeom prst="cloudCallout">
            <a:avLst>
              <a:gd name="adj1" fmla="val -50130"/>
              <a:gd name="adj2" fmla="val 7393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Flows</a:t>
            </a:r>
          </a:p>
        </p:txBody>
      </p:sp>
      <p:sp>
        <p:nvSpPr>
          <p:cNvPr id="8" name="Speech Bubble: Oval 7">
            <a:extLst>
              <a:ext uri="{FF2B5EF4-FFF2-40B4-BE49-F238E27FC236}">
                <a16:creationId xmlns:a16="http://schemas.microsoft.com/office/drawing/2014/main" id="{3C556735-519D-8BD3-9D39-0B44B8E36939}"/>
              </a:ext>
            </a:extLst>
          </p:cNvPr>
          <p:cNvSpPr/>
          <p:nvPr/>
        </p:nvSpPr>
        <p:spPr>
          <a:xfrm>
            <a:off x="9982200" y="597461"/>
            <a:ext cx="1649506" cy="1228164"/>
          </a:xfrm>
          <a:prstGeom prst="wedgeEllipseCallout">
            <a:avLst>
              <a:gd name="adj1" fmla="val -105616"/>
              <a:gd name="adj2" fmla="val 68339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A098158-0E54-CC71-3E6A-49DEC2562FDF}"/>
              </a:ext>
            </a:extLst>
          </p:cNvPr>
          <p:cNvSpPr/>
          <p:nvPr/>
        </p:nvSpPr>
        <p:spPr>
          <a:xfrm>
            <a:off x="2209890" y="2422524"/>
            <a:ext cx="1963271" cy="1018801"/>
          </a:xfrm>
          <a:prstGeom prst="wedgeEllipseCallout">
            <a:avLst/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Swimlanes</a:t>
            </a:r>
          </a:p>
        </p:txBody>
      </p:sp>
      <p:sp>
        <p:nvSpPr>
          <p:cNvPr id="10" name="Thought Bubble: Cloud 9">
            <a:extLst>
              <a:ext uri="{FF2B5EF4-FFF2-40B4-BE49-F238E27FC236}">
                <a16:creationId xmlns:a16="http://schemas.microsoft.com/office/drawing/2014/main" id="{834DDB61-EAF4-418F-09BD-E491D2B4687D}"/>
              </a:ext>
            </a:extLst>
          </p:cNvPr>
          <p:cNvSpPr/>
          <p:nvPr/>
        </p:nvSpPr>
        <p:spPr>
          <a:xfrm>
            <a:off x="8402650" y="3033615"/>
            <a:ext cx="1963272" cy="815420"/>
          </a:xfrm>
          <a:prstGeom prst="cloudCallout">
            <a:avLst>
              <a:gd name="adj1" fmla="val -224035"/>
              <a:gd name="adj2" fmla="val 73159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Activity types</a:t>
            </a:r>
          </a:p>
        </p:txBody>
      </p:sp>
      <p:sp>
        <p:nvSpPr>
          <p:cNvPr id="11" name="Speech Bubble: Oval 10">
            <a:extLst>
              <a:ext uri="{FF2B5EF4-FFF2-40B4-BE49-F238E27FC236}">
                <a16:creationId xmlns:a16="http://schemas.microsoft.com/office/drawing/2014/main" id="{5006AA3E-B213-398F-9FC4-4B581743EED7}"/>
              </a:ext>
            </a:extLst>
          </p:cNvPr>
          <p:cNvSpPr/>
          <p:nvPr/>
        </p:nvSpPr>
        <p:spPr>
          <a:xfrm>
            <a:off x="182415" y="3636914"/>
            <a:ext cx="1643663" cy="1030942"/>
          </a:xfrm>
          <a:prstGeom prst="wedgeEllipseCallout">
            <a:avLst>
              <a:gd name="adj1" fmla="val 186472"/>
              <a:gd name="adj2" fmla="val 46451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Event</a:t>
            </a:r>
          </a:p>
        </p:txBody>
      </p:sp>
      <p:sp>
        <p:nvSpPr>
          <p:cNvPr id="12" name="Speech Bubble: Oval 11">
            <a:extLst>
              <a:ext uri="{FF2B5EF4-FFF2-40B4-BE49-F238E27FC236}">
                <a16:creationId xmlns:a16="http://schemas.microsoft.com/office/drawing/2014/main" id="{D8AB53A1-AE08-09F1-0116-C528771D969C}"/>
              </a:ext>
            </a:extLst>
          </p:cNvPr>
          <p:cNvSpPr/>
          <p:nvPr/>
        </p:nvSpPr>
        <p:spPr>
          <a:xfrm>
            <a:off x="6730546" y="4322715"/>
            <a:ext cx="2008094" cy="690283"/>
          </a:xfrm>
          <a:prstGeom prst="wedgeEllipseCallout">
            <a:avLst>
              <a:gd name="adj1" fmla="val -217019"/>
              <a:gd name="adj2" fmla="val 73003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Gateway</a:t>
            </a:r>
          </a:p>
        </p:txBody>
      </p:sp>
      <p:sp>
        <p:nvSpPr>
          <p:cNvPr id="13" name="Speech Bubble: Oval 12">
            <a:extLst>
              <a:ext uri="{FF2B5EF4-FFF2-40B4-BE49-F238E27FC236}">
                <a16:creationId xmlns:a16="http://schemas.microsoft.com/office/drawing/2014/main" id="{602E72B5-9186-01C8-0B3B-E72F17837D4A}"/>
              </a:ext>
            </a:extLst>
          </p:cNvPr>
          <p:cNvSpPr/>
          <p:nvPr/>
        </p:nvSpPr>
        <p:spPr>
          <a:xfrm>
            <a:off x="4921624" y="5934635"/>
            <a:ext cx="1694329" cy="815788"/>
          </a:xfrm>
          <a:prstGeom prst="wedgeEllipseCallout">
            <a:avLst>
              <a:gd name="adj1" fmla="val -93953"/>
              <a:gd name="adj2" fmla="val -63192"/>
            </a:avLst>
          </a:prstGeom>
        </p:spPr>
        <p:style>
          <a:lnRef idx="2">
            <a:schemeClr val="accent4">
              <a:shade val="15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</p:spTree>
    <p:extLst>
      <p:ext uri="{BB962C8B-B14F-4D97-AF65-F5344CB8AC3E}">
        <p14:creationId xmlns:p14="http://schemas.microsoft.com/office/powerpoint/2010/main" val="2759691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EF7EEB-D80D-45A1-93E1-21FE9DC23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Swimlane &amp; Message flow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B635E-BC63-48B2-B305-58738057F6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042647" cy="4351338"/>
          </a:xfrm>
        </p:spPr>
        <p:txBody>
          <a:bodyPr>
            <a:normAutofit lnSpcReduction="10000"/>
          </a:bodyPr>
          <a:lstStyle/>
          <a:p>
            <a:pPr algn="just"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Swimlane</a:t>
            </a:r>
            <a:r>
              <a:rPr lang="en-US" dirty="0"/>
              <a:t> includes </a:t>
            </a:r>
            <a:r>
              <a:rPr lang="en-US" dirty="0">
                <a:solidFill>
                  <a:srgbClr val="00B050"/>
                </a:solidFill>
              </a:rPr>
              <a:t>pool</a:t>
            </a:r>
            <a:r>
              <a:rPr lang="en-US" dirty="0"/>
              <a:t> and </a:t>
            </a:r>
            <a:r>
              <a:rPr lang="en-US" dirty="0">
                <a:solidFill>
                  <a:srgbClr val="00B050"/>
                </a:solidFill>
              </a:rPr>
              <a:t>lane</a:t>
            </a:r>
            <a:r>
              <a:rPr lang="en-US" dirty="0"/>
              <a:t>.</a:t>
            </a:r>
          </a:p>
          <a:p>
            <a:pPr lvl="1" algn="just">
              <a:lnSpc>
                <a:spcPct val="120000"/>
              </a:lnSpc>
            </a:pPr>
            <a:r>
              <a:rPr lang="en-US" dirty="0">
                <a:solidFill>
                  <a:srgbClr val="00B050"/>
                </a:solidFill>
              </a:rPr>
              <a:t>Pool</a:t>
            </a:r>
            <a:r>
              <a:rPr lang="en-US" dirty="0"/>
              <a:t> </a:t>
            </a:r>
            <a:r>
              <a:rPr lang="en-GB" dirty="0"/>
              <a:t>represents a participant in a business process.</a:t>
            </a:r>
            <a:endParaRPr lang="en-US" dirty="0"/>
          </a:p>
          <a:p>
            <a:pPr lvl="1" algn="just">
              <a:lnSpc>
                <a:spcPct val="120000"/>
              </a:lnSpc>
            </a:pPr>
            <a:r>
              <a:rPr lang="en-US" dirty="0">
                <a:solidFill>
                  <a:srgbClr val="00B050"/>
                </a:solidFill>
              </a:rPr>
              <a:t>Lane</a:t>
            </a:r>
            <a:r>
              <a:rPr lang="en-US" dirty="0"/>
              <a:t> </a:t>
            </a:r>
            <a:r>
              <a:rPr lang="en-GB" dirty="0"/>
              <a:t>is a sub-partition within a pool that further organizes activities</a:t>
            </a:r>
            <a:r>
              <a:rPr lang="en-US" dirty="0"/>
              <a:t>.</a:t>
            </a:r>
          </a:p>
          <a:p>
            <a:pPr algn="just">
              <a:lnSpc>
                <a:spcPct val="120000"/>
              </a:lnSpc>
            </a:pPr>
            <a:r>
              <a:rPr lang="en-GB" dirty="0"/>
              <a:t>Communication between </a:t>
            </a:r>
            <a:r>
              <a:rPr lang="en-GB" dirty="0">
                <a:solidFill>
                  <a:srgbClr val="FF0000"/>
                </a:solidFill>
              </a:rPr>
              <a:t>pools</a:t>
            </a:r>
            <a:r>
              <a:rPr lang="en-GB" dirty="0"/>
              <a:t> occurs through </a:t>
            </a:r>
            <a:r>
              <a:rPr lang="en-GB" dirty="0">
                <a:solidFill>
                  <a:srgbClr val="00B050"/>
                </a:solidFill>
              </a:rPr>
              <a:t>message flows</a:t>
            </a:r>
            <a:r>
              <a:rPr lang="en-GB" dirty="0"/>
              <a:t>.</a:t>
            </a:r>
            <a:endParaRPr lang="en-US" dirty="0"/>
          </a:p>
          <a:p>
            <a:pPr lvl="1" algn="just"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0B6B3B9-FD89-44C2-8FF0-FA10D5BC1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3A0988-4A26-4B33-88E4-0E11872B0EFD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96B9C41-6C48-4D67-A7E2-1CD371F5299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33768496"/>
              </p:ext>
            </p:extLst>
          </p:nvPr>
        </p:nvGraphicFramePr>
        <p:xfrm>
          <a:off x="6196339" y="1832322"/>
          <a:ext cx="4828522" cy="438239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928480" imgH="5379840" progId="Paint.Picture.1">
                  <p:embed/>
                </p:oleObj>
              </mc:Choice>
              <mc:Fallback>
                <p:oleObj name="Bitmap Image" r:id="rId2" imgW="5928480" imgH="53798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196339" y="1832322"/>
                        <a:ext cx="4828522" cy="438239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299283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4E4ED-8378-41BD-AD56-2C00E8003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 &amp; Sequence flow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C16072-4AD7-4C02-AEDB-3915C56035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55442"/>
            <a:ext cx="10515600" cy="4351338"/>
          </a:xfrm>
        </p:spPr>
        <p:txBody>
          <a:bodyPr/>
          <a:lstStyle/>
          <a:p>
            <a:r>
              <a:rPr lang="en-US" dirty="0">
                <a:solidFill>
                  <a:srgbClr val="FF0000"/>
                </a:solidFill>
              </a:rPr>
              <a:t>Activity</a:t>
            </a:r>
            <a:r>
              <a:rPr lang="en-US" dirty="0"/>
              <a:t> r</a:t>
            </a:r>
            <a:r>
              <a:rPr lang="en-GB" dirty="0" err="1"/>
              <a:t>epresents</a:t>
            </a:r>
            <a:r>
              <a:rPr lang="en-GB" dirty="0"/>
              <a:t> </a:t>
            </a:r>
            <a:r>
              <a:rPr lang="en-GB" dirty="0">
                <a:solidFill>
                  <a:srgbClr val="0070C0"/>
                </a:solidFill>
              </a:rPr>
              <a:t>tasks or work</a:t>
            </a:r>
            <a:r>
              <a:rPr lang="en-GB" dirty="0"/>
              <a:t> that is performed within the process.</a:t>
            </a:r>
            <a:endParaRPr lang="en-US" dirty="0"/>
          </a:p>
          <a:p>
            <a:r>
              <a:rPr lang="en-US" dirty="0"/>
              <a:t>An activity can be: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An atomic</a:t>
            </a:r>
            <a:r>
              <a:rPr lang="en-US" dirty="0"/>
              <a:t> (indivisible) task.</a:t>
            </a:r>
          </a:p>
          <a:p>
            <a:pPr lvl="1"/>
            <a:r>
              <a:rPr lang="en-US" dirty="0">
                <a:solidFill>
                  <a:srgbClr val="0070C0"/>
                </a:solidFill>
              </a:rPr>
              <a:t>A collection of tasks</a:t>
            </a:r>
            <a:r>
              <a:rPr lang="en-US" dirty="0"/>
              <a:t> (</a:t>
            </a:r>
            <a:r>
              <a:rPr lang="en-US" dirty="0">
                <a:solidFill>
                  <a:srgbClr val="00B050"/>
                </a:solidFill>
              </a:rPr>
              <a:t>process, sub-process</a:t>
            </a:r>
            <a:r>
              <a:rPr lang="en-US" dirty="0"/>
              <a:t>)</a:t>
            </a:r>
          </a:p>
          <a:p>
            <a:r>
              <a:rPr lang="en-GB" dirty="0"/>
              <a:t>The </a:t>
            </a:r>
            <a:r>
              <a:rPr lang="en-GB" dirty="0">
                <a:solidFill>
                  <a:srgbClr val="FF0000"/>
                </a:solidFill>
              </a:rPr>
              <a:t>ordered sequence of activities</a:t>
            </a:r>
            <a:r>
              <a:rPr lang="en-GB" dirty="0"/>
              <a:t> is represented by </a:t>
            </a:r>
            <a:r>
              <a:rPr lang="en-GB" dirty="0">
                <a:solidFill>
                  <a:srgbClr val="00B050"/>
                </a:solidFill>
              </a:rPr>
              <a:t>sequence flows</a:t>
            </a:r>
            <a:r>
              <a:rPr lang="en-US" dirty="0"/>
              <a:t>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F0EDD8-FFA2-47D0-A60B-E6214108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59F55D-F87B-4A74-A9CA-F930A05A78CD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F77100A2-C0E0-4D1E-9ECF-67A48199974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24113585"/>
              </p:ext>
            </p:extLst>
          </p:nvPr>
        </p:nvGraphicFramePr>
        <p:xfrm>
          <a:off x="2076917" y="4158889"/>
          <a:ext cx="8038165" cy="238002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9136440" imgH="2705040" progId="Paint.Picture.1">
                  <p:embed/>
                </p:oleObj>
              </mc:Choice>
              <mc:Fallback>
                <p:oleObj name="Bitmap Image" r:id="rId2" imgW="9136440" imgH="27050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076917" y="4158889"/>
                        <a:ext cx="8038165" cy="238002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24560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BCD334-0E1D-4402-B71C-195329D9B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types of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391B0F-D535-416D-99A9-2F09FF2AF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Task</a:t>
            </a:r>
          </a:p>
          <a:p>
            <a:pPr lvl="1"/>
            <a:r>
              <a:rPr lang="en-US" dirty="0"/>
              <a:t>Manual task</a:t>
            </a:r>
          </a:p>
          <a:p>
            <a:pPr lvl="1"/>
            <a:r>
              <a:rPr lang="en-US" dirty="0"/>
              <a:t>User task</a:t>
            </a:r>
          </a:p>
          <a:p>
            <a:pPr lvl="1"/>
            <a:r>
              <a:rPr lang="en-US" dirty="0"/>
              <a:t>Service task</a:t>
            </a:r>
          </a:p>
          <a:p>
            <a:r>
              <a:rPr lang="en-US" dirty="0"/>
              <a:t>Expanded sub-process</a:t>
            </a:r>
          </a:p>
          <a:p>
            <a:r>
              <a:rPr lang="en-US" dirty="0"/>
              <a:t>Collapsed sub-process</a:t>
            </a:r>
          </a:p>
          <a:p>
            <a:r>
              <a:rPr lang="en-US" dirty="0"/>
              <a:t>Call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D307F4-33B1-4B50-A8D4-406CEA891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601824-8A4B-41AA-B4EC-7DCA8107EDAD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8FE0B078-4063-4C95-B91A-AC76E49BA38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68902944"/>
              </p:ext>
            </p:extLst>
          </p:nvPr>
        </p:nvGraphicFramePr>
        <p:xfrm>
          <a:off x="4506544" y="1690688"/>
          <a:ext cx="7547870" cy="43513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7917120" imgH="4564440" progId="Paint.Picture.1">
                  <p:embed/>
                </p:oleObj>
              </mc:Choice>
              <mc:Fallback>
                <p:oleObj name="Bitmap Image" r:id="rId2" imgW="7917120" imgH="45644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4506544" y="1690688"/>
                        <a:ext cx="7547870" cy="435133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" name="Group 9">
            <a:extLst>
              <a:ext uri="{FF2B5EF4-FFF2-40B4-BE49-F238E27FC236}">
                <a16:creationId xmlns:a16="http://schemas.microsoft.com/office/drawing/2014/main" id="{AFA5E530-1AEE-78FE-5E14-BD2D34FC3A7D}"/>
              </a:ext>
            </a:extLst>
          </p:cNvPr>
          <p:cNvGrpSpPr/>
          <p:nvPr/>
        </p:nvGrpSpPr>
        <p:grpSpPr>
          <a:xfrm>
            <a:off x="708992" y="5846911"/>
            <a:ext cx="5918363" cy="786904"/>
            <a:chOff x="838200" y="5977362"/>
            <a:chExt cx="5918363" cy="7869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1619F1-C4D1-BB15-0363-7E65BCE5AB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8200" y="6051176"/>
              <a:ext cx="967409" cy="713090"/>
            </a:xfrm>
            <a:prstGeom prst="rect">
              <a:avLst/>
            </a:prstGeom>
          </p:spPr>
        </p:pic>
        <p:sp>
          <p:nvSpPr>
            <p:cNvPr id="9" name="Speech Bubble: Rectangle with Corners Rounded 8">
              <a:extLst>
                <a:ext uri="{FF2B5EF4-FFF2-40B4-BE49-F238E27FC236}">
                  <a16:creationId xmlns:a16="http://schemas.microsoft.com/office/drawing/2014/main" id="{2FB46DF5-9D12-8C9C-49AE-3C97DFE0DA40}"/>
                </a:ext>
              </a:extLst>
            </p:cNvPr>
            <p:cNvSpPr/>
            <p:nvPr/>
          </p:nvSpPr>
          <p:spPr>
            <a:xfrm>
              <a:off x="2638450" y="5977362"/>
              <a:ext cx="4118113" cy="713090"/>
            </a:xfrm>
            <a:prstGeom prst="wedgeRoundRectCallout">
              <a:avLst>
                <a:gd name="adj1" fmla="val -70103"/>
                <a:gd name="adj2" fmla="val 18815"/>
                <a:gd name="adj3" fmla="val 16667"/>
              </a:avLst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tIns="0" bIns="0" rtlCol="0" anchor="ctr"/>
            <a:lstStyle/>
            <a:p>
              <a:pPr algn="ctr"/>
              <a:r>
                <a:rPr lang="en-GB" dirty="0"/>
                <a:t> to be performed </a:t>
              </a:r>
              <a:r>
                <a:rPr lang="en-GB" b="1" dirty="0"/>
                <a:t>without the aid</a:t>
              </a:r>
              <a:r>
                <a:rPr lang="en-GB" dirty="0"/>
                <a:t> of any business process execution engine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42576539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392DB-BE33-432E-8A22-260B5AED9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5F64EC-EA25-46FC-9A74-F8A96CFBC2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63353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GB" dirty="0"/>
              <a:t>An </a:t>
            </a:r>
            <a:r>
              <a:rPr lang="en-GB" dirty="0">
                <a:solidFill>
                  <a:srgbClr val="FF0000"/>
                </a:solidFill>
              </a:rPr>
              <a:t>Event</a:t>
            </a:r>
            <a:r>
              <a:rPr lang="en-GB" dirty="0"/>
              <a:t> is something that </a:t>
            </a:r>
            <a:r>
              <a:rPr lang="en-GB" dirty="0">
                <a:solidFill>
                  <a:srgbClr val="0070C0"/>
                </a:solidFill>
              </a:rPr>
              <a:t>“happens”</a:t>
            </a:r>
            <a:r>
              <a:rPr lang="en-GB" dirty="0"/>
              <a:t> during the course of a </a:t>
            </a:r>
            <a:r>
              <a:rPr lang="en-GB" dirty="0">
                <a:solidFill>
                  <a:srgbClr val="00B050"/>
                </a:solidFill>
              </a:rPr>
              <a:t>Process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These events </a:t>
            </a:r>
            <a:r>
              <a:rPr lang="en-GB" dirty="0">
                <a:solidFill>
                  <a:srgbClr val="FF0000"/>
                </a:solidFill>
              </a:rPr>
              <a:t>affect the flow</a:t>
            </a:r>
            <a:r>
              <a:rPr lang="en-GB" dirty="0"/>
              <a:t> of the Process.</a:t>
            </a:r>
          </a:p>
          <a:p>
            <a:pPr lvl="1" algn="just"/>
            <a:r>
              <a:rPr lang="en-GB" i="1" dirty="0"/>
              <a:t>The start of an Activity, the end of an Activity, the change of state of a document, a Message that arrives, etc.</a:t>
            </a:r>
            <a:r>
              <a:rPr lang="en-GB" dirty="0"/>
              <a:t>, all could be considered Events.</a:t>
            </a:r>
          </a:p>
          <a:p>
            <a:pPr algn="just"/>
            <a:r>
              <a:rPr lang="en-US" dirty="0">
                <a:solidFill>
                  <a:srgbClr val="0070C0"/>
                </a:solidFill>
              </a:rPr>
              <a:t>Icons</a:t>
            </a:r>
            <a:r>
              <a:rPr lang="en-US" dirty="0"/>
              <a:t> within the circle shape of an event can indicate the </a:t>
            </a:r>
            <a:r>
              <a:rPr lang="en-US" dirty="0">
                <a:solidFill>
                  <a:srgbClr val="0070C0"/>
                </a:solidFill>
              </a:rPr>
              <a:t>type of triggering</a:t>
            </a:r>
            <a:r>
              <a:rPr lang="en-US" dirty="0"/>
              <a:t>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E1717D-857E-4EDC-A63B-183DBB47E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65488-3C72-4208-B1A6-D67523E07F78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D5853AB1-3CD6-43A2-9DF4-E23658AF57D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57611184"/>
              </p:ext>
            </p:extLst>
          </p:nvPr>
        </p:nvGraphicFramePr>
        <p:xfrm>
          <a:off x="6096000" y="1496251"/>
          <a:ext cx="5663453" cy="4680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019920" imgH="4975920" progId="Paint.Picture.1">
                  <p:embed/>
                </p:oleObj>
              </mc:Choice>
              <mc:Fallback>
                <p:oleObj name="Bitmap Image" r:id="rId2" imgW="6019920" imgH="49759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096000" y="1496251"/>
                        <a:ext cx="5663453" cy="46807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5273458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F6CD0-28FA-4A92-8EEB-14F564BE7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types of Event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7C4D2-02F6-4CA2-853A-3DBA40D7F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671047" cy="4351338"/>
          </a:xfrm>
        </p:spPr>
        <p:txBody>
          <a:bodyPr/>
          <a:lstStyle/>
          <a:p>
            <a:r>
              <a:rPr lang="en-US" dirty="0"/>
              <a:t>Generic start event</a:t>
            </a:r>
          </a:p>
          <a:p>
            <a:r>
              <a:rPr lang="en-US" dirty="0"/>
              <a:t>Generic end event</a:t>
            </a:r>
          </a:p>
          <a:p>
            <a:r>
              <a:rPr lang="en-US" dirty="0"/>
              <a:t>Message start event</a:t>
            </a:r>
          </a:p>
          <a:p>
            <a:r>
              <a:rPr lang="en-US" dirty="0"/>
              <a:t>Message end event</a:t>
            </a:r>
          </a:p>
          <a:p>
            <a:r>
              <a:rPr lang="en-US" dirty="0"/>
              <a:t>Timer start event</a:t>
            </a:r>
          </a:p>
          <a:p>
            <a:r>
              <a:rPr lang="en-US" dirty="0"/>
              <a:t>Terminate event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8FEA77-0036-4866-97E7-CEAB93968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19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398078-4341-4384-94A0-0551231E0F72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CA820B88-4A1F-47B6-B02E-D7D32D7F85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628131"/>
              </p:ext>
            </p:extLst>
          </p:nvPr>
        </p:nvGraphicFramePr>
        <p:xfrm>
          <a:off x="5825453" y="1690688"/>
          <a:ext cx="5154391" cy="46220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55800" imgH="4892040" progId="Paint.Picture.1">
                  <p:embed/>
                </p:oleObj>
              </mc:Choice>
              <mc:Fallback>
                <p:oleObj name="Bitmap Image" r:id="rId2" imgW="5455800" imgH="48920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825453" y="1690688"/>
                        <a:ext cx="5154391" cy="4622006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32140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D9F13-3344-45D7-89B1-CA9992C1E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60DE01-3385-4FBD-A92F-13E0706AFA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dirty="0">
                <a:solidFill>
                  <a:srgbClr val="FF0000"/>
                </a:solidFill>
              </a:rPr>
              <a:t>Gateways</a:t>
            </a:r>
            <a:r>
              <a:rPr lang="en-GB" dirty="0"/>
              <a:t> are used to </a:t>
            </a:r>
            <a:r>
              <a:rPr lang="en-GB" dirty="0">
                <a:solidFill>
                  <a:srgbClr val="00B050"/>
                </a:solidFill>
              </a:rPr>
              <a:t>control how Sequence Flows interact</a:t>
            </a:r>
            <a:r>
              <a:rPr lang="en-GB" dirty="0"/>
              <a:t> as they converge and diverge within a Process. </a:t>
            </a:r>
          </a:p>
          <a:p>
            <a:pPr lvl="1" algn="just"/>
            <a:r>
              <a:rPr lang="en-GB" dirty="0"/>
              <a:t>Tokens arrive at a Gateway, they can be merged together on input and/or split apart on output as the Gateway mechanisms are invoked</a:t>
            </a:r>
            <a:endParaRPr lang="en-US" dirty="0"/>
          </a:p>
          <a:p>
            <a:pPr algn="just"/>
            <a:r>
              <a:rPr lang="en-GB" dirty="0">
                <a:solidFill>
                  <a:srgbClr val="0070C0"/>
                </a:solidFill>
              </a:rPr>
              <a:t>Icons</a:t>
            </a:r>
            <a:r>
              <a:rPr lang="en-GB" dirty="0"/>
              <a:t> within the diamond shape can indicate the type of flow control behavior.</a:t>
            </a:r>
            <a:r>
              <a:rPr lang="en-US" dirty="0"/>
              <a:t>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F67D9E-F93A-4C6B-BE2C-F2362E204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B00C4-537B-4C05-85BD-73B304CF54E0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ECE7D0F7-0839-4C11-879C-7EA40F059A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78548305"/>
              </p:ext>
            </p:extLst>
          </p:nvPr>
        </p:nvGraphicFramePr>
        <p:xfrm>
          <a:off x="2716538" y="4325668"/>
          <a:ext cx="6758923" cy="24247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8473320" imgH="3040560" progId="Paint.Picture.1">
                  <p:embed/>
                </p:oleObj>
              </mc:Choice>
              <mc:Fallback>
                <p:oleObj name="Bitmap Image" r:id="rId2" imgW="8473320" imgH="304056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716538" y="4325668"/>
                        <a:ext cx="6758923" cy="24247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5951129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75B98C-3D05-4F1C-BC00-D316E491C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types of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20BA6-ED0B-4FFF-86B3-7770BE1CA7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73678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Exclusive (XOR) gateway</a:t>
            </a:r>
            <a:r>
              <a:rPr lang="en-US" dirty="0"/>
              <a:t> </a:t>
            </a:r>
            <a:r>
              <a:rPr lang="en-GB" dirty="0"/>
              <a:t> is used to create </a:t>
            </a:r>
            <a:r>
              <a:rPr lang="en-GB" dirty="0">
                <a:solidFill>
                  <a:srgbClr val="0070C0"/>
                </a:solidFill>
              </a:rPr>
              <a:t>alternative paths </a:t>
            </a:r>
            <a:r>
              <a:rPr lang="en-GB" dirty="0"/>
              <a:t>within a Process flow. </a:t>
            </a:r>
          </a:p>
          <a:p>
            <a:pPr lvl="1" algn="just"/>
            <a:r>
              <a:rPr lang="en-GB" dirty="0"/>
              <a:t>For </a:t>
            </a:r>
            <a:r>
              <a:rPr lang="en-GB" dirty="0">
                <a:solidFill>
                  <a:srgbClr val="0070C0"/>
                </a:solidFill>
              </a:rPr>
              <a:t>a given instance</a:t>
            </a:r>
            <a:r>
              <a:rPr lang="en-GB" dirty="0"/>
              <a:t> of the Process, only </a:t>
            </a:r>
            <a:r>
              <a:rPr lang="en-GB" dirty="0">
                <a:solidFill>
                  <a:srgbClr val="0070C0"/>
                </a:solidFill>
              </a:rPr>
              <a:t>one of the paths can be taken</a:t>
            </a:r>
            <a:r>
              <a:rPr lang="en-GB" dirty="0"/>
              <a:t>.</a:t>
            </a:r>
          </a:p>
          <a:p>
            <a:pPr lvl="1" algn="just"/>
            <a:r>
              <a:rPr lang="en-GB" dirty="0"/>
              <a:t>Use a </a:t>
            </a:r>
            <a:r>
              <a:rPr lang="en-GB" dirty="0">
                <a:solidFill>
                  <a:srgbClr val="00B050"/>
                </a:solidFill>
              </a:rPr>
              <a:t>marker</a:t>
            </a:r>
            <a:r>
              <a:rPr lang="en-GB" dirty="0"/>
              <a:t> that is shaped like an </a:t>
            </a:r>
            <a:r>
              <a:rPr lang="en-GB" dirty="0">
                <a:solidFill>
                  <a:srgbClr val="00B050"/>
                </a:solidFill>
              </a:rPr>
              <a:t>“X”</a:t>
            </a:r>
            <a:endParaRPr lang="en-US" dirty="0">
              <a:solidFill>
                <a:srgbClr val="00B050"/>
              </a:solidFill>
            </a:endParaRPr>
          </a:p>
          <a:p>
            <a:pPr algn="just"/>
            <a:r>
              <a:rPr lang="en-US" dirty="0">
                <a:solidFill>
                  <a:srgbClr val="FF0000"/>
                </a:solidFill>
              </a:rPr>
              <a:t>Parallel (AND)</a:t>
            </a:r>
            <a:r>
              <a:rPr lang="en-US" dirty="0"/>
              <a:t> </a:t>
            </a:r>
            <a:r>
              <a:rPr lang="en-GB" dirty="0"/>
              <a:t>is used to </a:t>
            </a:r>
            <a:r>
              <a:rPr lang="en-GB" dirty="0">
                <a:solidFill>
                  <a:srgbClr val="0070C0"/>
                </a:solidFill>
              </a:rPr>
              <a:t>synchronize (combine) </a:t>
            </a:r>
            <a:r>
              <a:rPr lang="en-GB" dirty="0"/>
              <a:t>parallel flows.</a:t>
            </a:r>
          </a:p>
          <a:p>
            <a:pPr lvl="1" algn="just"/>
            <a:r>
              <a:rPr lang="en-GB" dirty="0"/>
              <a:t>Use a </a:t>
            </a:r>
            <a:r>
              <a:rPr lang="en-GB" dirty="0">
                <a:solidFill>
                  <a:srgbClr val="00B050"/>
                </a:solidFill>
              </a:rPr>
              <a:t>marker</a:t>
            </a:r>
            <a:r>
              <a:rPr lang="en-GB" dirty="0"/>
              <a:t> that is shaped like an </a:t>
            </a:r>
            <a:r>
              <a:rPr lang="en-GB" dirty="0">
                <a:solidFill>
                  <a:srgbClr val="00B050"/>
                </a:solidFill>
              </a:rPr>
              <a:t>“+”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F370175-C084-4417-BB8C-D0C714E4D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E12185-B05E-49E7-B506-54ED25CF36A7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EA30D20-B65F-7419-FBFE-F465D5FAC5C0}"/>
              </a:ext>
            </a:extLst>
          </p:cNvPr>
          <p:cNvGrpSpPr/>
          <p:nvPr/>
        </p:nvGrpSpPr>
        <p:grpSpPr>
          <a:xfrm>
            <a:off x="7088381" y="2447262"/>
            <a:ext cx="5019410" cy="3108063"/>
            <a:chOff x="6024191" y="2020603"/>
            <a:chExt cx="5992367" cy="3780964"/>
          </a:xfrm>
        </p:grpSpPr>
        <p:graphicFrame>
          <p:nvGraphicFramePr>
            <p:cNvPr id="6" name="Object 5">
              <a:extLst>
                <a:ext uri="{FF2B5EF4-FFF2-40B4-BE49-F238E27FC236}">
                  <a16:creationId xmlns:a16="http://schemas.microsoft.com/office/drawing/2014/main" id="{45D2F4DD-A095-42C7-859F-2DB440CFB4E6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78054311"/>
                </p:ext>
              </p:extLst>
            </p:nvPr>
          </p:nvGraphicFramePr>
          <p:xfrm>
            <a:off x="6024191" y="2020603"/>
            <a:ext cx="2743199" cy="378096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2" imgW="3482280" imgH="4800600" progId="Paint.Picture.1">
                    <p:embed/>
                  </p:oleObj>
                </mc:Choice>
                <mc:Fallback>
                  <p:oleObj name="Bitmap Image" r:id="rId2" imgW="3482280" imgH="480060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3"/>
                        <a:stretch>
                          <a:fillRect/>
                        </a:stretch>
                      </p:blipFill>
                      <p:spPr>
                        <a:xfrm>
                          <a:off x="6024191" y="2020603"/>
                          <a:ext cx="2743199" cy="3780964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7" name="Object 6">
              <a:extLst>
                <a:ext uri="{FF2B5EF4-FFF2-40B4-BE49-F238E27FC236}">
                  <a16:creationId xmlns:a16="http://schemas.microsoft.com/office/drawing/2014/main" id="{375732F4-72D4-471D-88A7-F4628FD16F5D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90325376"/>
                </p:ext>
              </p:extLst>
            </p:nvPr>
          </p:nvGraphicFramePr>
          <p:xfrm>
            <a:off x="9107957" y="2020603"/>
            <a:ext cx="2908601" cy="370868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4" imgW="3688200" imgH="4701600" progId="Paint.Picture.1">
                    <p:embed/>
                  </p:oleObj>
                </mc:Choice>
                <mc:Fallback>
                  <p:oleObj name="Bitmap Image" r:id="rId4" imgW="3688200" imgH="470160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5"/>
                        <a:stretch>
                          <a:fillRect/>
                        </a:stretch>
                      </p:blipFill>
                      <p:spPr>
                        <a:xfrm>
                          <a:off x="9107957" y="2020603"/>
                          <a:ext cx="2908601" cy="3708686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8493623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DFAB42-5407-4A2D-AA2D-4345A0E1E1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&amp; Data association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958D2A-28EB-4498-B49D-6B4E91486C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>
            <a:normAutofit/>
          </a:bodyPr>
          <a:lstStyle/>
          <a:p>
            <a:pPr algn="just"/>
            <a:r>
              <a:rPr lang="en-US" dirty="0">
                <a:solidFill>
                  <a:srgbClr val="FF0000"/>
                </a:solidFill>
              </a:rPr>
              <a:t>Data store</a:t>
            </a:r>
            <a:r>
              <a:rPr lang="en-US" dirty="0"/>
              <a:t> is used </a:t>
            </a:r>
            <a:r>
              <a:rPr lang="en-GB" dirty="0"/>
              <a:t>to </a:t>
            </a:r>
            <a:r>
              <a:rPr lang="en-GB" dirty="0">
                <a:solidFill>
                  <a:srgbClr val="0070C0"/>
                </a:solidFill>
              </a:rPr>
              <a:t>retrieve or update</a:t>
            </a:r>
            <a:r>
              <a:rPr lang="en-GB" dirty="0"/>
              <a:t> stored information that will persist </a:t>
            </a:r>
            <a:r>
              <a:rPr lang="en-GB" dirty="0">
                <a:solidFill>
                  <a:srgbClr val="00B050"/>
                </a:solidFill>
              </a:rPr>
              <a:t>beyond the scope of the Process</a:t>
            </a:r>
            <a:r>
              <a:rPr lang="en-GB" dirty="0"/>
              <a:t>.</a:t>
            </a:r>
          </a:p>
          <a:p>
            <a:pPr algn="just"/>
            <a:r>
              <a:rPr lang="en-GB" dirty="0">
                <a:solidFill>
                  <a:srgbClr val="FF0000"/>
                </a:solidFill>
              </a:rPr>
              <a:t>Data object</a:t>
            </a:r>
            <a:r>
              <a:rPr lang="en-GB" dirty="0"/>
              <a:t> is use to model data </a:t>
            </a:r>
            <a:r>
              <a:rPr lang="en-GB" dirty="0">
                <a:solidFill>
                  <a:srgbClr val="00B050"/>
                </a:solidFill>
              </a:rPr>
              <a:t>within the Process flow</a:t>
            </a:r>
            <a:r>
              <a:rPr lang="en-GB" dirty="0"/>
              <a:t>. </a:t>
            </a:r>
            <a:endParaRPr lang="en-US" dirty="0"/>
          </a:p>
          <a:p>
            <a:pPr algn="just"/>
            <a:r>
              <a:rPr lang="en-GB" dirty="0">
                <a:solidFill>
                  <a:srgbClr val="FF0000"/>
                </a:solidFill>
              </a:rPr>
              <a:t>Data objects and Data stores</a:t>
            </a:r>
            <a:r>
              <a:rPr lang="en-GB" dirty="0"/>
              <a:t> are </a:t>
            </a:r>
            <a:r>
              <a:rPr lang="en-GB" dirty="0">
                <a:solidFill>
                  <a:srgbClr val="0070C0"/>
                </a:solidFill>
              </a:rPr>
              <a:t>connected to other</a:t>
            </a:r>
            <a:r>
              <a:rPr lang="en-GB" dirty="0"/>
              <a:t> components of the process </a:t>
            </a:r>
            <a:r>
              <a:rPr lang="en-GB" dirty="0">
                <a:solidFill>
                  <a:srgbClr val="FF0000"/>
                </a:solidFill>
              </a:rPr>
              <a:t>through data associations</a:t>
            </a:r>
            <a:r>
              <a:rPr lang="en-GB" dirty="0"/>
              <a:t>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3D9901-03DB-4870-AC9C-F013456E7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D07FFB-A8DD-4C03-8611-DBED6B8633BC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Object 5">
            <a:extLst>
              <a:ext uri="{FF2B5EF4-FFF2-40B4-BE49-F238E27FC236}">
                <a16:creationId xmlns:a16="http://schemas.microsoft.com/office/drawing/2014/main" id="{3B4CC15C-B5E3-4864-8619-E5FB911C69E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1739199"/>
              </p:ext>
            </p:extLst>
          </p:nvPr>
        </p:nvGraphicFramePr>
        <p:xfrm>
          <a:off x="6695421" y="1834106"/>
          <a:ext cx="4658379" cy="4049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425560" imgH="4716720" progId="Paint.Picture.1">
                  <p:embed/>
                </p:oleObj>
              </mc:Choice>
              <mc:Fallback>
                <p:oleObj name="Bitmap Image" r:id="rId2" imgW="5425560" imgH="47167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6695421" y="1834106"/>
                        <a:ext cx="4658379" cy="4049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808375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5DD8-E6F4-4141-A126-0CE13426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Tools for BPMN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3A72-5762-4463-9EF2-0E4B190F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38BE6-45CD-48FE-97C3-6D1AC18DF248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0FB0A7-E53B-4B41-9D28-ADBC0B5E1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Bizagi Modeler</a:t>
            </a:r>
          </a:p>
        </p:txBody>
      </p:sp>
      <p:pic>
        <p:nvPicPr>
          <p:cNvPr id="1026" name="Picture 2" descr="Modeler &gt; Bizagi Modeler &gt; Desktop Application &gt; Simulation &gt; Simulation in  Bizagi">
            <a:extLst>
              <a:ext uri="{FF2B5EF4-FFF2-40B4-BE49-F238E27FC236}">
                <a16:creationId xmlns:a16="http://schemas.microsoft.com/office/drawing/2014/main" id="{6BC19EAE-0E11-697A-DFE5-18AC8B3285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3003176"/>
            <a:ext cx="7620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26596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1B968-0F63-0BBC-3EE5-D905E61365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E21413-D6C1-19DD-E37C-FEBAC1886A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00B050"/>
                </a:solidFill>
              </a:rPr>
              <a:t>Tools for BPMN modelling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20DCCF-7DED-E49D-57AB-F41885B65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647649F-440D-E4D3-BB5D-B72383DB2B2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B13021FB-9415-EF03-1A1B-0317ABA0E8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bpmn.io</a:t>
            </a:r>
          </a:p>
        </p:txBody>
      </p:sp>
      <p:pic>
        <p:nvPicPr>
          <p:cNvPr id="2050" name="Picture 2" descr="Web-based tooling for BPMN, DMN, CMMN, and Forms | bpmn.io">
            <a:extLst>
              <a:ext uri="{FF2B5EF4-FFF2-40B4-BE49-F238E27FC236}">
                <a16:creationId xmlns:a16="http://schemas.microsoft.com/office/drawing/2014/main" id="{EDF561D8-81F6-84E1-5D2B-CBE440F9AB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4984" y="2782691"/>
            <a:ext cx="6842031" cy="3573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85256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5DD8-E6F4-4141-A126-0CE13426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solidFill>
                  <a:srgbClr val="00B050"/>
                </a:solidFill>
              </a:rPr>
              <a:t>Example – Opening a bank account</a:t>
            </a:r>
            <a:endParaRPr lang="vi-VN" noProof="1">
              <a:solidFill>
                <a:srgbClr val="00B050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598A6D-A4A4-4789-9593-43A14B85DE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GB" noProof="1"/>
              <a:t>The process begins when a request to open an account is received from the customer.</a:t>
            </a:r>
          </a:p>
          <a:p>
            <a:pPr algn="just"/>
            <a:r>
              <a:rPr lang="en-GB" noProof="1"/>
              <a:t>The staff reviews the submitted documents; if any are missing or incomplete, the request is rejected.</a:t>
            </a:r>
          </a:p>
          <a:p>
            <a:pPr algn="just"/>
            <a:r>
              <a:rPr lang="en-GB" noProof="1"/>
              <a:t>If the customer provides all the required paperwork, the staff checks the validity of the documents.</a:t>
            </a:r>
          </a:p>
          <a:p>
            <a:pPr algn="just"/>
            <a:r>
              <a:rPr lang="en-GB" noProof="1"/>
              <a:t>If everything is valid, the system automatically creates an account.</a:t>
            </a:r>
          </a:p>
          <a:p>
            <a:pPr algn="just"/>
            <a:r>
              <a:rPr lang="en-GB" noProof="1"/>
              <a:t>The staff then sends the account information and the ATM card linked to the account to the customer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3A72-5762-4463-9EF2-0E4B190F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vi-VN" noProof="1" smtClean="0"/>
              <a:t>25</a:t>
            </a:fld>
            <a:endParaRPr lang="vi-VN" noProof="1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38BE6-45CD-48FE-97C3-6D1AC18DF248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195470803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7D5DD8-E6F4-4141-A126-0CE1342679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1">
                <a:solidFill>
                  <a:srgbClr val="00B050"/>
                </a:solidFill>
              </a:rPr>
              <a:t>Example – Opening a bank account</a:t>
            </a:r>
            <a:endParaRPr lang="en-US" dirty="0">
              <a:solidFill>
                <a:srgbClr val="00B050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23A72-5762-4463-9EF2-0E4B190FA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138BE6-45CD-48FE-97C3-6D1AC18DF248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80FB0A7-E53B-4B41-9D28-ADBC0B5E1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Suggestion diagram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256F1FF2-D0E6-36C1-AD08-6477503A07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2680896"/>
            <a:ext cx="12192000" cy="3858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09615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D9E38-076A-4AEE-A762-DD9BE3797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Event</a:t>
            </a:r>
          </a:p>
        </p:txBody>
      </p:sp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72B2DE49-E247-412A-8BA5-843D3D895A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55946601"/>
              </p:ext>
            </p:extLst>
          </p:nvPr>
        </p:nvGraphicFramePr>
        <p:xfrm>
          <a:off x="533236" y="1656667"/>
          <a:ext cx="11574554" cy="4785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21934">
                  <a:extLst>
                    <a:ext uri="{9D8B030D-6E8A-4147-A177-3AD203B41FA5}">
                      <a16:colId xmlns:a16="http://schemas.microsoft.com/office/drawing/2014/main" val="1810416438"/>
                    </a:ext>
                  </a:extLst>
                </a:gridCol>
                <a:gridCol w="8152620">
                  <a:extLst>
                    <a:ext uri="{9D8B030D-6E8A-4147-A177-3AD203B41FA5}">
                      <a16:colId xmlns:a16="http://schemas.microsoft.com/office/drawing/2014/main" val="41575819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3249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Message Event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They are used to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wait until a proper message is received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98357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Timer events are events which are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triggered by a defined timer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977915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Error events are elements in the process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referring to defined errors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868697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Escalation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Used to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communicate to a higher flow scope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Unlike an error, an escalation event is non-critical and </a:t>
                      </a:r>
                      <a:r>
                        <a:rPr lang="en-GB" sz="18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execution continues at the location of throwing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18206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Signal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Used if you want to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communicate with multiple listeners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61839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Cancel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cancel end event can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only be used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18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 combination with a transaction </a:t>
                      </a:r>
                      <a:r>
                        <a:rPr lang="en-GB" sz="1800" b="1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subprocess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37099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Conditional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The conditional event defines an event which is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triggered if a given condition is evaluated to true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37116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Link Events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It has no special execution semantics but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serves as a “</a:t>
                      </a:r>
                      <a:r>
                        <a:rPr lang="en-GB" sz="1800" kern="1200" dirty="0" err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GoTo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” to another point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the same process model.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807059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Terminate Event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Signify the </a:t>
                      </a:r>
                      <a:r>
                        <a:rPr lang="en-GB" sz="1800" kern="1200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immediate and complete termination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of a process or subprocess, </a:t>
                      </a:r>
                      <a:r>
                        <a:rPr lang="en-GB" sz="1800" kern="1200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including all active paths within that scope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. </a:t>
                      </a:r>
                      <a:endParaRPr lang="en-US" sz="180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96557641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7984E-77B8-45DB-800D-1CE5E7C1C8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CBEFF36-D6C2-4631-A9D2-7F09CFB71498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748A4CFC-7CEB-21BF-76D6-5665D901442A}"/>
              </a:ext>
            </a:extLst>
          </p:cNvPr>
          <p:cNvGrpSpPr/>
          <p:nvPr/>
        </p:nvGrpSpPr>
        <p:grpSpPr>
          <a:xfrm>
            <a:off x="2860021" y="2027086"/>
            <a:ext cx="335900" cy="4285734"/>
            <a:chOff x="2860021" y="2156293"/>
            <a:chExt cx="335900" cy="4285734"/>
          </a:xfrm>
        </p:grpSpPr>
        <p:pic>
          <p:nvPicPr>
            <p:cNvPr id="11270" name="Picture 6" descr="BPMN Message Symbol">
              <a:extLst>
                <a:ext uri="{FF2B5EF4-FFF2-40B4-BE49-F238E27FC236}">
                  <a16:creationId xmlns:a16="http://schemas.microsoft.com/office/drawing/2014/main" id="{EC943C26-A97D-4C88-BF27-7B358308D83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4" y="2156293"/>
              <a:ext cx="335896" cy="33589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72" name="Picture 8" descr="BPMN Timer Symbol">
              <a:extLst>
                <a:ext uri="{FF2B5EF4-FFF2-40B4-BE49-F238E27FC236}">
                  <a16:creationId xmlns:a16="http://schemas.microsoft.com/office/drawing/2014/main" id="{A38DEEFF-3C1C-403A-8BDA-C890954062A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4" y="2532826"/>
              <a:ext cx="335897" cy="335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74" name="Picture 10" descr="BPMN Error Symbol">
              <a:extLst>
                <a:ext uri="{FF2B5EF4-FFF2-40B4-BE49-F238E27FC236}">
                  <a16:creationId xmlns:a16="http://schemas.microsoft.com/office/drawing/2014/main" id="{CED6F447-D086-4A20-8EE1-383E61344C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3" y="2941303"/>
              <a:ext cx="335897" cy="335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76" name="Picture 12" descr="BPMN Escalation Symbol">
              <a:extLst>
                <a:ext uri="{FF2B5EF4-FFF2-40B4-BE49-F238E27FC236}">
                  <a16:creationId xmlns:a16="http://schemas.microsoft.com/office/drawing/2014/main" id="{B69F7817-FB6F-4197-8069-F67C339B0EE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3" y="3435737"/>
              <a:ext cx="335897" cy="335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78" name="Picture 14" descr="BPMN Signal Symbol">
              <a:extLst>
                <a:ext uri="{FF2B5EF4-FFF2-40B4-BE49-F238E27FC236}">
                  <a16:creationId xmlns:a16="http://schemas.microsoft.com/office/drawing/2014/main" id="{A194BBA5-3181-49E7-8606-AF0CE3481E4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3" y="3933178"/>
              <a:ext cx="335897" cy="335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80" name="Picture 16" descr="BPMN Cancel Symbol">
              <a:extLst>
                <a:ext uri="{FF2B5EF4-FFF2-40B4-BE49-F238E27FC236}">
                  <a16:creationId xmlns:a16="http://schemas.microsoft.com/office/drawing/2014/main" id="{5E3D8D3B-295B-4817-BDED-5298F35A26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3" y="4319477"/>
              <a:ext cx="335898" cy="335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82" name="Picture 18" descr="BPMN Conditional Symbol">
              <a:extLst>
                <a:ext uri="{FF2B5EF4-FFF2-40B4-BE49-F238E27FC236}">
                  <a16:creationId xmlns:a16="http://schemas.microsoft.com/office/drawing/2014/main" id="{0B6E3E4A-F14C-45AE-A3CF-96B1CB72967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2" y="4813911"/>
              <a:ext cx="335897" cy="33589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84" name="Picture 20" descr="BPMN Link Symbol">
              <a:extLst>
                <a:ext uri="{FF2B5EF4-FFF2-40B4-BE49-F238E27FC236}">
                  <a16:creationId xmlns:a16="http://schemas.microsoft.com/office/drawing/2014/main" id="{BFC62389-CDCA-4C62-816C-DA5E7E0FCA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3" y="5454403"/>
              <a:ext cx="335898" cy="335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286" name="Picture 22" descr="BPMN Terminate Symbol">
              <a:extLst>
                <a:ext uri="{FF2B5EF4-FFF2-40B4-BE49-F238E27FC236}">
                  <a16:creationId xmlns:a16="http://schemas.microsoft.com/office/drawing/2014/main" id="{1723E47D-4C76-4E0B-9B69-C6CFF856A7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60021" y="6106129"/>
              <a:ext cx="335898" cy="3358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26386ECA-6651-4509-A782-B53B594C5EEA}"/>
              </a:ext>
            </a:extLst>
          </p:cNvPr>
          <p:cNvSpPr txBox="1"/>
          <p:nvPr/>
        </p:nvSpPr>
        <p:spPr>
          <a:xfrm>
            <a:off x="1807905" y="6401239"/>
            <a:ext cx="90252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See details at https://docs.camunda.org/manual/7.15/reference/bpmn20/events/</a:t>
            </a:r>
          </a:p>
        </p:txBody>
      </p:sp>
    </p:spTree>
    <p:extLst>
      <p:ext uri="{BB962C8B-B14F-4D97-AF65-F5344CB8AC3E}">
        <p14:creationId xmlns:p14="http://schemas.microsoft.com/office/powerpoint/2010/main" val="287160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DD98-285F-4B01-A7B2-6D8B6790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3F87-31B5-4901-83F1-66E7C5FC0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296B-35CD-4C26-8086-7FFF20B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28</a:t>
            </a:fld>
            <a:endParaRPr lang="en-US"/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83731D2A-4656-4F43-9264-1E0033F2D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06924878"/>
              </p:ext>
            </p:extLst>
          </p:nvPr>
        </p:nvGraphicFramePr>
        <p:xfrm>
          <a:off x="1346607" y="2634176"/>
          <a:ext cx="9498786" cy="3417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6355080" imgH="2286000" progId="Paint.Picture.1">
                  <p:embed/>
                </p:oleObj>
              </mc:Choice>
              <mc:Fallback>
                <p:oleObj name="Bitmap Image" r:id="rId2" imgW="6355080" imgH="228600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346607" y="2634176"/>
                        <a:ext cx="9498786" cy="3417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FE6FD6C-089F-4FB4-9671-049249B3D11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386964947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DD98-285F-4B01-A7B2-6D8B6790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3F87-31B5-4901-83F1-66E7C5FC0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296B-35CD-4C26-8086-7FFF20B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29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6FD6C-089F-4FB4-9671-049249B3D11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B74BC62F-C0F4-4465-9F9C-59719DFEC43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5722931"/>
              </p:ext>
            </p:extLst>
          </p:nvPr>
        </p:nvGraphicFramePr>
        <p:xfrm>
          <a:off x="2397692" y="2199084"/>
          <a:ext cx="7396615" cy="360441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128200" imgH="2499480" progId="Paint.Picture.1">
                  <p:embed/>
                </p:oleObj>
              </mc:Choice>
              <mc:Fallback>
                <p:oleObj name="Bitmap Image" r:id="rId2" imgW="5128200" imgH="249948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2397692" y="2199084"/>
                        <a:ext cx="7396615" cy="360441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796065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96DD98-285F-4B01-A7B2-6D8B6790D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8E3F87-31B5-4901-83F1-66E7C5FC07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Example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296B-35CD-4C26-8086-7FFF20B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6FD6C-089F-4FB4-9671-049249B3D11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5" name="Object 4">
            <a:extLst>
              <a:ext uri="{FF2B5EF4-FFF2-40B4-BE49-F238E27FC236}">
                <a16:creationId xmlns:a16="http://schemas.microsoft.com/office/drawing/2014/main" id="{DB92085D-EB3F-4126-A7BA-B2D9A502A9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777505"/>
              </p:ext>
            </p:extLst>
          </p:nvPr>
        </p:nvGraphicFramePr>
        <p:xfrm>
          <a:off x="1657292" y="2633476"/>
          <a:ext cx="8877416" cy="37228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196960" imgH="2179440" progId="Paint.Picture.1">
                  <p:embed/>
                </p:oleObj>
              </mc:Choice>
              <mc:Fallback>
                <p:oleObj name="Bitmap Image" r:id="rId2" imgW="5196960" imgH="217944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657292" y="2633476"/>
                        <a:ext cx="8877416" cy="37228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165326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30296B-35CD-4C26-8086-7FFF20B77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FE6FD6C-089F-4FB4-9671-049249B3D11B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328E5FD-B189-4CD1-B2BB-754FA5758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C16D274-810B-EC41-A550-4B25389828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3794" y="806824"/>
            <a:ext cx="8404411" cy="605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3132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44E-A7E9-4620-A4B7-3061FE3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0851B2-93BE-4EBB-848C-09E2CB844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Sub-process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View: collapsed/expanded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Type: Loop, multiple instance (sequential, parallel), ad-hoc.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Task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Manual, user, service, send, receive, rule, script.</a:t>
            </a:r>
          </a:p>
          <a:p>
            <a:pPr>
              <a:lnSpc>
                <a:spcPct val="120000"/>
              </a:lnSpc>
            </a:pPr>
            <a:r>
              <a:rPr lang="en-US" dirty="0">
                <a:solidFill>
                  <a:srgbClr val="FF0000"/>
                </a:solidFill>
              </a:rPr>
              <a:t>Activity</a:t>
            </a:r>
          </a:p>
          <a:p>
            <a:pPr lvl="1">
              <a:lnSpc>
                <a:spcPct val="120000"/>
              </a:lnSpc>
            </a:pPr>
            <a:r>
              <a:rPr lang="en-US" dirty="0"/>
              <a:t>Call activity.</a:t>
            </a:r>
          </a:p>
          <a:p>
            <a:pPr>
              <a:lnSpc>
                <a:spcPct val="120000"/>
              </a:lnSpc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6C00-DD40-4D82-9A19-7E4067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32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AE90C-D5AF-45C5-A64C-50AF5376611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1039206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44E-A7E9-4620-A4B7-3061FE3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Activity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6C00-DD40-4D82-9A19-7E4067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AE90C-D5AF-45C5-A64C-50AF5376611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8" name="Table 8">
            <a:extLst>
              <a:ext uri="{FF2B5EF4-FFF2-40B4-BE49-F238E27FC236}">
                <a16:creationId xmlns:a16="http://schemas.microsoft.com/office/drawing/2014/main" id="{5E2271F4-2DA1-402C-822F-EFEABE6B5A3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7793577"/>
              </p:ext>
            </p:extLst>
          </p:nvPr>
        </p:nvGraphicFramePr>
        <p:xfrm>
          <a:off x="357809" y="1586588"/>
          <a:ext cx="11571026" cy="4719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95939">
                  <a:extLst>
                    <a:ext uri="{9D8B030D-6E8A-4147-A177-3AD203B41FA5}">
                      <a16:colId xmlns:a16="http://schemas.microsoft.com/office/drawing/2014/main" val="2003463162"/>
                    </a:ext>
                  </a:extLst>
                </a:gridCol>
                <a:gridCol w="9275087">
                  <a:extLst>
                    <a:ext uri="{9D8B030D-6E8A-4147-A177-3AD203B41FA5}">
                      <a16:colId xmlns:a16="http://schemas.microsoft.com/office/drawing/2014/main" val="2566761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Activity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61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Sub-Process indicates that the sub-process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repeats itself in sequence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83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Multi-instance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sub-process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can run with other identical sub-processes simultaneously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3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Ad-hoc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Sub-Process represents a collection of tasks that exist solely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 handling a specific case.</a:t>
                      </a:r>
                      <a:endParaRPr lang="en-US" dirty="0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789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Manual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is performed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without the aid of any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business process execution engine.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1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User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represents that a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human performer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performs the task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the use of a software application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51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Service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that uses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automated application, or other kinds of service in completing the task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734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that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sends a message to another pool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the task is </a:t>
                      </a:r>
                      <a:r>
                        <a:rPr lang="en-GB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completed once the message has been sent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307658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Receive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indicates that the process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has to wait for a message to arrive in order to continue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57540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Rule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It provides a mechanism for a process to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provide input to a Business Rules Engine and then obtain the output provided by the Business Rules Engine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68573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Script task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Task is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executed by a Business process engine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859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 a reusable process definition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that can be reused in other process definitions.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3045505"/>
                  </a:ext>
                </a:extLst>
              </a:tr>
            </a:tbl>
          </a:graphicData>
        </a:graphic>
      </p:graphicFrame>
      <p:grpSp>
        <p:nvGrpSpPr>
          <p:cNvPr id="3" name="Group 2">
            <a:extLst>
              <a:ext uri="{FF2B5EF4-FFF2-40B4-BE49-F238E27FC236}">
                <a16:creationId xmlns:a16="http://schemas.microsoft.com/office/drawing/2014/main" id="{147FB890-ED4E-91CD-F539-190A36A55650}"/>
              </a:ext>
            </a:extLst>
          </p:cNvPr>
          <p:cNvGrpSpPr/>
          <p:nvPr/>
        </p:nvGrpSpPr>
        <p:grpSpPr>
          <a:xfrm>
            <a:off x="1174376" y="1937681"/>
            <a:ext cx="10179424" cy="4818664"/>
            <a:chOff x="1174376" y="2176217"/>
            <a:chExt cx="10179424" cy="4818664"/>
          </a:xfrm>
        </p:grpSpPr>
        <p:pic>
          <p:nvPicPr>
            <p:cNvPr id="1026" name="Picture 2" descr="Loop">
              <a:extLst>
                <a:ext uri="{FF2B5EF4-FFF2-40B4-BE49-F238E27FC236}">
                  <a16:creationId xmlns:a16="http://schemas.microsoft.com/office/drawing/2014/main" id="{929E8280-36AD-44F8-B17E-96A0C287206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44" y="2176217"/>
              <a:ext cx="681319" cy="3575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Multi-instance">
              <a:extLst>
                <a:ext uri="{FF2B5EF4-FFF2-40B4-BE49-F238E27FC236}">
                  <a16:creationId xmlns:a16="http://schemas.microsoft.com/office/drawing/2014/main" id="{C359337C-5C70-4DCF-8A58-5BADC3400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44" y="2554756"/>
              <a:ext cx="681319" cy="357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Ad hoc">
              <a:extLst>
                <a:ext uri="{FF2B5EF4-FFF2-40B4-BE49-F238E27FC236}">
                  <a16:creationId xmlns:a16="http://schemas.microsoft.com/office/drawing/2014/main" id="{C51C0A5B-A3D7-49D1-A445-B90446B7A07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44" y="2923357"/>
              <a:ext cx="681319" cy="35752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Manual Task">
              <a:extLst>
                <a:ext uri="{FF2B5EF4-FFF2-40B4-BE49-F238E27FC236}">
                  <a16:creationId xmlns:a16="http://schemas.microsoft.com/office/drawing/2014/main" id="{60CB4122-2498-46CF-9CDF-626EED6036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44" y="3321810"/>
              <a:ext cx="681319" cy="310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User Task">
              <a:extLst>
                <a:ext uri="{FF2B5EF4-FFF2-40B4-BE49-F238E27FC236}">
                  <a16:creationId xmlns:a16="http://schemas.microsoft.com/office/drawing/2014/main" id="{D4234C52-9DBA-4A4D-A106-A64A4281BC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41" y="3683061"/>
              <a:ext cx="681322" cy="310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Service Task">
              <a:extLst>
                <a:ext uri="{FF2B5EF4-FFF2-40B4-BE49-F238E27FC236}">
                  <a16:creationId xmlns:a16="http://schemas.microsoft.com/office/drawing/2014/main" id="{3F7623E3-B564-45A6-AF98-DEE56B04C6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39" y="4048904"/>
              <a:ext cx="681324" cy="310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8" name="Picture 14" descr="Send Task">
              <a:extLst>
                <a:ext uri="{FF2B5EF4-FFF2-40B4-BE49-F238E27FC236}">
                  <a16:creationId xmlns:a16="http://schemas.microsoft.com/office/drawing/2014/main" id="{208598D7-2B50-461F-9E18-FD536F88FF7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39" y="4430412"/>
              <a:ext cx="681324" cy="310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0" name="Picture 16" descr="Receive Task">
              <a:extLst>
                <a:ext uri="{FF2B5EF4-FFF2-40B4-BE49-F238E27FC236}">
                  <a16:creationId xmlns:a16="http://schemas.microsoft.com/office/drawing/2014/main" id="{9D75A5B4-6BAD-4915-AF7E-A9D4690F20B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39" y="4795399"/>
              <a:ext cx="681319" cy="310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2" name="Picture 18" descr="Business Rule Task">
              <a:extLst>
                <a:ext uri="{FF2B5EF4-FFF2-40B4-BE49-F238E27FC236}">
                  <a16:creationId xmlns:a16="http://schemas.microsoft.com/office/drawing/2014/main" id="{B9BC99C6-64C2-45A3-8679-8C0FF7E3EB9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39" y="5302952"/>
              <a:ext cx="681319" cy="310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44" name="Picture 20" descr="Script Task">
              <a:extLst>
                <a:ext uri="{FF2B5EF4-FFF2-40B4-BE49-F238E27FC236}">
                  <a16:creationId xmlns:a16="http://schemas.microsoft.com/office/drawing/2014/main" id="{1B439CFA-542E-4CCE-9AAF-28D2B97AF4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946236" y="5810501"/>
              <a:ext cx="681322" cy="3103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aphicFrame>
          <p:nvGraphicFramePr>
            <p:cNvPr id="9" name="Object 8">
              <a:extLst>
                <a:ext uri="{FF2B5EF4-FFF2-40B4-BE49-F238E27FC236}">
                  <a16:creationId xmlns:a16="http://schemas.microsoft.com/office/drawing/2014/main" id="{40E61AD9-6F59-415D-AD27-FB7E29D05D38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581922669"/>
                </p:ext>
              </p:extLst>
            </p:nvPr>
          </p:nvGraphicFramePr>
          <p:xfrm>
            <a:off x="1985992" y="6162862"/>
            <a:ext cx="608121" cy="35501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Bitmap Image" r:id="rId12" imgW="586800" imgH="343080" progId="Paint.Picture.1">
                    <p:embed/>
                  </p:oleObj>
                </mc:Choice>
                <mc:Fallback>
                  <p:oleObj name="Bitmap Image" r:id="rId12" imgW="586800" imgH="343080" progId="Paint.Picture.1">
                    <p:embed/>
                    <p:pic>
                      <p:nvPicPr>
                        <p:cNvPr id="0" name=""/>
                        <p:cNvPicPr/>
                        <p:nvPr/>
                      </p:nvPicPr>
                      <p:blipFill>
                        <a:blip r:embed="rId13"/>
                        <a:stretch>
                          <a:fillRect/>
                        </a:stretch>
                      </p:blipFill>
                      <p:spPr>
                        <a:xfrm>
                          <a:off x="1985992" y="6162862"/>
                          <a:ext cx="608121" cy="355011"/>
                        </a:xfrm>
                        <a:prstGeom prst="rect">
                          <a:avLst/>
                        </a:prstGeom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4025AD0A-AA18-4ED3-BCB7-0AA580BFC5CF}"/>
                </a:ext>
              </a:extLst>
            </p:cNvPr>
            <p:cNvSpPr txBox="1"/>
            <p:nvPr/>
          </p:nvSpPr>
          <p:spPr>
            <a:xfrm>
              <a:off x="1174376" y="6656327"/>
              <a:ext cx="10179424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See details at https://www.visual-paradigm.com/guide/bpmn/bpmn-activity-types-explained/#bpmn-script-task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395723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44E-A7E9-4620-A4B7-3061FE3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6C00-DD40-4D82-9A19-7E4067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34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AE90C-D5AF-45C5-A64C-50AF5376611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028EB-06BD-4572-851E-8D398EA6F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432E8FC1-16DE-4959-ABE2-F204DB5A664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89562761"/>
              </p:ext>
            </p:extLst>
          </p:nvPr>
        </p:nvGraphicFramePr>
        <p:xfrm>
          <a:off x="3303587" y="1270000"/>
          <a:ext cx="5584825" cy="4906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5585400" imgH="4907160" progId="Paint.Picture.1">
                  <p:embed/>
                </p:oleObj>
              </mc:Choice>
              <mc:Fallback>
                <p:oleObj name="Bitmap Image" r:id="rId2" imgW="5585400" imgH="490716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303587" y="1270000"/>
                        <a:ext cx="5584825" cy="49069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0741651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44E-A7E9-4620-A4B7-3061FE3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6C00-DD40-4D82-9A19-7E4067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35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AE90C-D5AF-45C5-A64C-50AF5376611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028EB-06BD-4572-851E-8D398EA6F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1B35C15-2152-4513-B694-7B0A565E9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687" y="1289159"/>
            <a:ext cx="5038626" cy="488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108189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37044E-A7E9-4620-A4B7-3061FE36E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16C00-DD40-4D82-9A19-7E4067D2B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36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9AE90C-D5AF-45C5-A64C-50AF53766113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6028EB-06BD-4572-851E-8D398EA6F1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3235C1CA-2B9D-4F0D-87EC-E818D31525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78399232"/>
              </p:ext>
            </p:extLst>
          </p:nvPr>
        </p:nvGraphicFramePr>
        <p:xfrm>
          <a:off x="381000" y="1767354"/>
          <a:ext cx="11430000" cy="4816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tmap Image" r:id="rId2" imgW="11430000" imgH="4815720" progId="Paint.Picture.1">
                  <p:embed/>
                </p:oleObj>
              </mc:Choice>
              <mc:Fallback>
                <p:oleObj name="Bitmap Image" r:id="rId2" imgW="11430000" imgH="4815720" progId="Paint.Picture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381000" y="1767354"/>
                        <a:ext cx="11430000" cy="4816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8393654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B2492B-8D46-4DBA-874C-599FD7231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E08344-EA20-46E3-92B1-7436D16FB2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37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5DDDB4-6EDA-43DC-AE02-352407DF6152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85EB7876-8FE5-784F-2907-6B48B8F0D8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A1DBFBA-E286-CDE7-5FF1-53BF712781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0552"/>
            <a:ext cx="12192000" cy="51164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82982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D3ADDC-B468-4E4E-B113-486C220A5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Gateway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8BA536-B415-44AA-AE8A-E777CC5B8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4381" y="1855691"/>
            <a:ext cx="10515600" cy="435133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A22C5B-DD73-453A-A727-7CA6BCC7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38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0BDD348-71F1-4111-B40C-50B1B40028E5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graphicFrame>
        <p:nvGraphicFramePr>
          <p:cNvPr id="6" name="Table 8">
            <a:extLst>
              <a:ext uri="{FF2B5EF4-FFF2-40B4-BE49-F238E27FC236}">
                <a16:creationId xmlns:a16="http://schemas.microsoft.com/office/drawing/2014/main" id="{63BA036C-D110-4B69-814F-2F118939F94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39249313"/>
              </p:ext>
            </p:extLst>
          </p:nvPr>
        </p:nvGraphicFramePr>
        <p:xfrm>
          <a:off x="596348" y="1914895"/>
          <a:ext cx="11313633" cy="4221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1617">
                  <a:extLst>
                    <a:ext uri="{9D8B030D-6E8A-4147-A177-3AD203B41FA5}">
                      <a16:colId xmlns:a16="http://schemas.microsoft.com/office/drawing/2014/main" val="2003463162"/>
                    </a:ext>
                  </a:extLst>
                </a:gridCol>
                <a:gridCol w="8312016">
                  <a:extLst>
                    <a:ext uri="{9D8B030D-6E8A-4147-A177-3AD203B41FA5}">
                      <a16:colId xmlns:a16="http://schemas.microsoft.com/office/drawing/2014/main" val="256676189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65614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(XOR)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create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paths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within a Process flow.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068373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Fork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into multiple paths of execution, or A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Join</a:t>
                      </a:r>
                      <a:r>
                        <a:rPr lang="en-GB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multiple incoming paths of execution.</a:t>
                      </a:r>
                      <a:endParaRPr lang="en-US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97130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Inclusive (OR)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One or more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of the available paths will be taken.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789207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Exclusive event based</a:t>
                      </a:r>
                    </a:p>
                    <a:p>
                      <a:pPr algn="just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Used to branch a process when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alternative paths are determined by events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(various messages or signals) rather than by conditional flows.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14116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Parallel event based</a:t>
                      </a:r>
                    </a:p>
                    <a:p>
                      <a:pPr algn="just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just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 Parallel Event-Based gateway is similar to a parallel gateway. It does </a:t>
                      </a:r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wait for all of the events to arrive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5193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Complete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GB" dirty="0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Multiple factors, rules, and analyses can all combine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to yield results. The analysis should result in </a:t>
                      </a:r>
                      <a:r>
                        <a:rPr lang="en-GB" dirty="0">
                          <a:solidFill>
                            <a:srgbClr val="0070C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at least one path always being taken</a:t>
                      </a:r>
                      <a:r>
                        <a:rPr lang="en-GB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44734401"/>
                  </a:ext>
                </a:extLst>
              </a:tr>
            </a:tbl>
          </a:graphicData>
        </a:graphic>
      </p:graphicFrame>
      <p:grpSp>
        <p:nvGrpSpPr>
          <p:cNvPr id="7" name="Group 6">
            <a:extLst>
              <a:ext uri="{FF2B5EF4-FFF2-40B4-BE49-F238E27FC236}">
                <a16:creationId xmlns:a16="http://schemas.microsoft.com/office/drawing/2014/main" id="{E4B32F07-83CD-2A7E-A621-728F41C6ED5B}"/>
              </a:ext>
            </a:extLst>
          </p:cNvPr>
          <p:cNvGrpSpPr/>
          <p:nvPr/>
        </p:nvGrpSpPr>
        <p:grpSpPr>
          <a:xfrm>
            <a:off x="2669888" y="2304994"/>
            <a:ext cx="842684" cy="3754522"/>
            <a:chOff x="2669888" y="2304994"/>
            <a:chExt cx="842684" cy="3754522"/>
          </a:xfrm>
        </p:grpSpPr>
        <p:pic>
          <p:nvPicPr>
            <p:cNvPr id="1026" name="Picture 2" descr="exclusive gateway">
              <a:extLst>
                <a:ext uri="{FF2B5EF4-FFF2-40B4-BE49-F238E27FC236}">
                  <a16:creationId xmlns:a16="http://schemas.microsoft.com/office/drawing/2014/main" id="{48C32727-F279-48A2-A475-7704FD972EE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991" y="2304994"/>
              <a:ext cx="344581" cy="38952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Parallel gateway">
              <a:extLst>
                <a:ext uri="{FF2B5EF4-FFF2-40B4-BE49-F238E27FC236}">
                  <a16:creationId xmlns:a16="http://schemas.microsoft.com/office/drawing/2014/main" id="{D38C122A-56CE-4550-954D-60AA6CEC74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991" y="2797419"/>
              <a:ext cx="344581" cy="360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nclusive gateway">
              <a:extLst>
                <a:ext uri="{FF2B5EF4-FFF2-40B4-BE49-F238E27FC236}">
                  <a16:creationId xmlns:a16="http://schemas.microsoft.com/office/drawing/2014/main" id="{0E04B4B6-3F6D-43A3-B8F1-EC0E1A8A6C5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67992" y="3316018"/>
              <a:ext cx="344580" cy="36064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 descr="exclusive event based gateway">
              <a:extLst>
                <a:ext uri="{FF2B5EF4-FFF2-40B4-BE49-F238E27FC236}">
                  <a16:creationId xmlns:a16="http://schemas.microsoft.com/office/drawing/2014/main" id="{B87DE6BD-3055-49A8-B26F-B5381DBBCA2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69888" y="4020118"/>
              <a:ext cx="842684" cy="39124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 descr="Parallel event based gateway">
              <a:extLst>
                <a:ext uri="{FF2B5EF4-FFF2-40B4-BE49-F238E27FC236}">
                  <a16:creationId xmlns:a16="http://schemas.microsoft.com/office/drawing/2014/main" id="{CEF607D9-0A92-4C88-BF68-709DE7DE0F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74688" y="4851961"/>
              <a:ext cx="537884" cy="41132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 descr="complex decision gateway">
              <a:extLst>
                <a:ext uri="{FF2B5EF4-FFF2-40B4-BE49-F238E27FC236}">
                  <a16:creationId xmlns:a16="http://schemas.microsoft.com/office/drawing/2014/main" id="{4C4D1069-7567-4AB1-84A9-F5CA60376A4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5129" y="5562340"/>
              <a:ext cx="507443" cy="4971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9DDD1114-AEFF-4D3D-9A49-81FBA4CF09D7}"/>
              </a:ext>
            </a:extLst>
          </p:cNvPr>
          <p:cNvSpPr txBox="1"/>
          <p:nvPr/>
        </p:nvSpPr>
        <p:spPr>
          <a:xfrm>
            <a:off x="1837765" y="6372032"/>
            <a:ext cx="85164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See details at https://www.visual-paradigm.com/guide/bpmn/bpmn-gateway-types/</a:t>
            </a:r>
          </a:p>
        </p:txBody>
      </p:sp>
    </p:spTree>
    <p:extLst>
      <p:ext uri="{BB962C8B-B14F-4D97-AF65-F5344CB8AC3E}">
        <p14:creationId xmlns:p14="http://schemas.microsoft.com/office/powerpoint/2010/main" val="308783483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397-7FDF-4E11-A091-E38700C1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40ED-0902-4F79-B360-8A95C043C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44B91-5B45-49B2-96D4-03C7FD1B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39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F74B5-93C2-48F8-B11C-9AAE58A11D59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pic>
        <p:nvPicPr>
          <p:cNvPr id="2050" name="Picture 2" descr="exclusive event based gateway-example">
            <a:extLst>
              <a:ext uri="{FF2B5EF4-FFF2-40B4-BE49-F238E27FC236}">
                <a16:creationId xmlns:a16="http://schemas.microsoft.com/office/drawing/2014/main" id="{C6F103E0-538F-4BFF-859B-7A11677D06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6264" y="2649695"/>
            <a:ext cx="9479471" cy="32541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9266433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397-7FDF-4E11-A091-E38700C148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3040ED-0902-4F79-B360-8A95C043C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844B91-5B45-49B2-96D4-03C7FD1B6B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40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4F74B5-93C2-48F8-B11C-9AAE58A11D59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  <p:pic>
        <p:nvPicPr>
          <p:cNvPr id="3074" name="Picture 2" descr="complex decision gateway example">
            <a:extLst>
              <a:ext uri="{FF2B5EF4-FFF2-40B4-BE49-F238E27FC236}">
                <a16:creationId xmlns:a16="http://schemas.microsoft.com/office/drawing/2014/main" id="{456046A6-3F79-4B2D-8F56-72513FC4CE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0928" y="2356559"/>
            <a:ext cx="8170143" cy="3507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3262178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EFD6-787A-44C0-8FA6-3F56E3ED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Object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3CD649-C961-4975-BE4B-30BBA9DB45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544D4-38BB-40C1-98B2-44C62C4C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41</a:t>
            </a:fld>
            <a:endParaRPr lang="en-US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34F05C57-67B2-4601-82CC-F5F1C3F87C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6317" y="2139146"/>
            <a:ext cx="7179365" cy="37242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7948B7-47FB-44C1-A5A0-91C8FB6520CC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9002310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86EFD6-787A-44C0-8FA6-3F56E3ED7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BDAAFA5-EC01-5805-D27B-F15614794F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68573" y="1497357"/>
            <a:ext cx="6654853" cy="5041555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8544D4-38BB-40C1-98B2-44C62C4CC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FF8543-F9CB-4923-BC76-CA5367B4EDBF}" type="slidenum">
              <a:rPr lang="en-US" smtClean="0"/>
              <a:t>42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7948B7-47FB-44C1-A5A0-91C8FB6520CC}"/>
              </a:ext>
            </a:extLst>
          </p:cNvPr>
          <p:cNvSpPr txBox="1"/>
          <p:nvPr/>
        </p:nvSpPr>
        <p:spPr>
          <a:xfrm>
            <a:off x="4697507" y="107577"/>
            <a:ext cx="741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dirty="0"/>
              <a:t>Business Process Model and Notation</a:t>
            </a:r>
          </a:p>
        </p:txBody>
      </p:sp>
    </p:spTree>
    <p:extLst>
      <p:ext uri="{BB962C8B-B14F-4D97-AF65-F5344CB8AC3E}">
        <p14:creationId xmlns:p14="http://schemas.microsoft.com/office/powerpoint/2010/main" val="22060336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5128</TotalTime>
  <Words>1840</Words>
  <Application>Microsoft Office PowerPoint</Application>
  <PresentationFormat>Widescreen</PresentationFormat>
  <Paragraphs>269</Paragraphs>
  <Slides>42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8" baseType="lpstr">
      <vt:lpstr>Arial</vt:lpstr>
      <vt:lpstr>Calibri</vt:lpstr>
      <vt:lpstr>Calibri Light</vt:lpstr>
      <vt:lpstr>Times New Roman</vt:lpstr>
      <vt:lpstr>Office Theme</vt:lpstr>
      <vt:lpstr>Bitmap Image</vt:lpstr>
      <vt:lpstr>System Analysis and Design  Chapter 3: Business Process Modelling</vt:lpstr>
      <vt:lpstr>Basic concepts</vt:lpstr>
      <vt:lpstr>PowerPoint Presentation</vt:lpstr>
      <vt:lpstr>PowerPoint Presentation</vt:lpstr>
      <vt:lpstr>Working with Business process</vt:lpstr>
      <vt:lpstr>PowerPoint Presentation</vt:lpstr>
      <vt:lpstr>Business process modelling</vt:lpstr>
      <vt:lpstr>Business process management life circle</vt:lpstr>
      <vt:lpstr>Tools</vt:lpstr>
      <vt:lpstr>BPMN - Business Process Model and Notation </vt:lpstr>
      <vt:lpstr>Why use BPMN?</vt:lpstr>
      <vt:lpstr>BPMN</vt:lpstr>
      <vt:lpstr>Basis elements</vt:lpstr>
      <vt:lpstr>Describe a business process using BPMN</vt:lpstr>
      <vt:lpstr>Swimlane &amp; Message flow</vt:lpstr>
      <vt:lpstr>Activity &amp; Sequence flow </vt:lpstr>
      <vt:lpstr>Basic types of Activity</vt:lpstr>
      <vt:lpstr>Event</vt:lpstr>
      <vt:lpstr>Basic types of Event</vt:lpstr>
      <vt:lpstr>Gateway</vt:lpstr>
      <vt:lpstr>Basic types of Gateway</vt:lpstr>
      <vt:lpstr>Data &amp; Data association</vt:lpstr>
      <vt:lpstr>Tools for BPMN modelling</vt:lpstr>
      <vt:lpstr>Tools for BPMN modelling</vt:lpstr>
      <vt:lpstr>Example – Opening a bank account</vt:lpstr>
      <vt:lpstr>Example – Opening a bank account</vt:lpstr>
      <vt:lpstr>Types of Event</vt:lpstr>
      <vt:lpstr>PowerPoint Presentation</vt:lpstr>
      <vt:lpstr>PowerPoint Presentation</vt:lpstr>
      <vt:lpstr>PowerPoint Presentation</vt:lpstr>
      <vt:lpstr>PowerPoint Presentation</vt:lpstr>
      <vt:lpstr>Types of Activity</vt:lpstr>
      <vt:lpstr>Types of Activity</vt:lpstr>
      <vt:lpstr>PowerPoint Presentation</vt:lpstr>
      <vt:lpstr>PowerPoint Presentation</vt:lpstr>
      <vt:lpstr>PowerPoint Presentation</vt:lpstr>
      <vt:lpstr>PowerPoint Presentation</vt:lpstr>
      <vt:lpstr>Types of Gateway</vt:lpstr>
      <vt:lpstr>PowerPoint Presentation</vt:lpstr>
      <vt:lpstr>PowerPoint Presentation</vt:lpstr>
      <vt:lpstr>Connecting Object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THIẾT KẾ HỆ THỐNG  Chương 0: Giới thiệu học phần</dc:title>
  <dc:creator>Quoc Dinh Truong</dc:creator>
  <cp:lastModifiedBy>Quoc Dinh Truong</cp:lastModifiedBy>
  <cp:revision>333</cp:revision>
  <dcterms:created xsi:type="dcterms:W3CDTF">2021-07-03T03:36:42Z</dcterms:created>
  <dcterms:modified xsi:type="dcterms:W3CDTF">2025-09-30T03:56:35Z</dcterms:modified>
</cp:coreProperties>
</file>