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sldIdLst>
    <p:sldId id="256" r:id="rId2"/>
    <p:sldId id="310" r:id="rId3"/>
    <p:sldId id="258" r:id="rId4"/>
    <p:sldId id="259" r:id="rId5"/>
    <p:sldId id="260" r:id="rId6"/>
    <p:sldId id="261" r:id="rId7"/>
    <p:sldId id="264" r:id="rId8"/>
    <p:sldId id="265" r:id="rId9"/>
    <p:sldId id="311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312" r:id="rId36"/>
    <p:sldId id="291" r:id="rId37"/>
    <p:sldId id="292" r:id="rId38"/>
    <p:sldId id="293" r:id="rId39"/>
    <p:sldId id="296" r:id="rId40"/>
    <p:sldId id="297" r:id="rId41"/>
    <p:sldId id="298" r:id="rId42"/>
    <p:sldId id="299" r:id="rId43"/>
    <p:sldId id="300" r:id="rId44"/>
    <p:sldId id="301" r:id="rId45"/>
    <p:sldId id="313" r:id="rId46"/>
    <p:sldId id="302" r:id="rId47"/>
    <p:sldId id="303" r:id="rId48"/>
    <p:sldId id="304" r:id="rId49"/>
    <p:sldId id="305" r:id="rId50"/>
    <p:sldId id="306" r:id="rId51"/>
    <p:sldId id="307" r:id="rId52"/>
    <p:sldId id="308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E0B85-1570-42E5-A470-CD60031DA3F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7EB30-CA07-466F-B7CB-64BBF797E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18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537D-F53E-47C4-A83E-CCB095380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F79E6-0FED-429B-80CD-00E2D3D8C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9520F-A019-4EFF-B54D-ABC4699E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13CC-14BB-401F-97C5-EDCE5DFF6FF4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B5711-7F4F-46D9-8673-80AD7EED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03D27-E4BE-4544-81A8-674C728A6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15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56875-0F16-4CD9-A7C9-D91E17E4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4ABBA-62A1-4F0B-B722-4F5777667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C98D5-B3ED-46AF-A9EC-E3D129F5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3683-B418-4383-9D33-3DAAF9B5D79E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475EA-8743-4AF9-BA12-59F32836A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D018E-28F9-4A13-9F22-88FB189D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E1AF00-55A1-400F-9982-9E10DE8F52A5}"/>
              </a:ext>
            </a:extLst>
          </p:cNvPr>
          <p:cNvSpPr/>
          <p:nvPr userDrawn="1"/>
        </p:nvSpPr>
        <p:spPr>
          <a:xfrm>
            <a:off x="0" y="0"/>
            <a:ext cx="12192000" cy="5378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54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52E0-6EF7-4057-AE4B-922D32EB0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C9D60-D1C3-4808-A19B-7F0CE4E48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4C6B9-6AB9-4155-8FFB-684066CB1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B97D-1085-4B64-8C1B-1D2060E561E7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9075C-5965-4646-A2FB-2505EA9E1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2EF72-410D-4D23-8AE1-F6A0EDD7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4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4739-C445-4FDE-85E6-5787B579D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C0CAE-9A0A-45D0-A1C5-4A0798D3D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6A60E-AC76-4700-AD2F-FFF14020A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D22D3-6F16-4E34-95F2-9907D9065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8282-EC73-4E57-8B04-43387C75DB91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ED560-122C-4F4F-9C92-17F4C05C2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7812E-4006-49BF-9EBF-FB31381E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CCDC-7B5A-4933-8968-7F464C0D9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16AF5-CD68-4892-8B8F-98DFE331C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2E97D-A99B-45ED-A321-3021630F7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538EE-5DCF-4BE3-8672-365481007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73FA7-52C4-47A4-A182-7DB50B47A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843564-31A9-4923-857C-4B67BC92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A055-C3F6-4E73-B086-0FD9FCD0C792}" type="datetime1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17A9E-6A08-4145-9BF9-10734AC0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7F86E-3CB0-40FE-BCB9-A248091D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6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7F49F-87CF-485E-801A-360FDB21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C8C38E-A794-46E7-912E-7016EA777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18BFC-7707-419B-8FE2-CC6169DF58AE}" type="datetime1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282E4-49E2-429B-AD93-2F7DC76C6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AA511-86BA-43E7-A9B3-DC2EFA50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9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090C0-CFC1-44AD-93CD-97425ABE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9C33A-9B8A-4129-9955-5D8428B6433D}" type="datetime1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5B4722-8B4D-4D5E-91DA-78E31233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C4D7F-D798-403E-8BE0-D6885250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76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D5E4C-6227-41D7-9C85-ADAF4F40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2A568-5C62-49CC-8F83-5620456F2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5CE71-61F4-43A9-8039-AFCDE3A6C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E808B-9F69-4490-9809-09C688C9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6DA9-C19C-472C-805C-F949BAC7CEA5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5EE49-AEE6-45F5-812F-AA7880E2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5CE85-73F2-468A-A036-9AD3B89F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23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DCEB9-56B2-48EA-A44F-FEAFD490D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10298-534A-4034-9BED-CB5302382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5BDA7-AEF4-4EB5-9FB0-82D499EE2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92B6D-C9F5-421E-BF0F-751A3B68B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D97-9938-4FB5-AAC4-1063A7D8846C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26656-26A9-4687-A7F9-26C27DEF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9E599-31BD-43E2-AE5E-8B0B353D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6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4B50-A9EB-4CFB-93FC-480FD956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BE907-3068-4B23-ACAD-FA2FF8539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8177D-CEDF-408A-8188-3B357259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C1A2A-57AD-41C4-900C-44681F244EE1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CD38-42D3-4249-A35C-34C7D77A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5D8B7-8608-43B2-8040-A05AC9C8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31F88-EF31-4254-BCD6-BDE3B05F8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349AB-9C1F-4AEC-AD90-BE5DBE0B7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71E70-3486-40D4-861D-8D10D258D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7A2A-AEC8-494A-B814-DAA894641699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4E761-AC01-47DD-B8DE-9A5ACE94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710A2-B3EB-4BD2-A463-D8484C63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1B183-9EB6-465D-AF50-80E8E74A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6B928-8695-47CD-948A-87BEA3C65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6EC01-4D9A-40B3-8D28-D946ED04F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9207C-3B04-4B31-8A47-451F19E57622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F8362-5976-4C11-B467-DDC6F3739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7FC8A-BBF9-433F-8635-82EE9570E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8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hyperlink" Target="https://drive.google.com/file/d/1snXsFAsUfBQBhHP2fyuZtOBkq7hk1aMQ/view?usp=sha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NgaewywHymvjP1whUVoQCosxB7W7z-zE/edit?usp=sharing&amp;ouid=107300846974611878794&amp;rtpof=true&amp;sd=true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980CD-E74B-4073-BE9D-31B4AE96C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959" y="714188"/>
            <a:ext cx="10520082" cy="277756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SYSTEM ANALYSIS and DESIGN</a:t>
            </a:r>
            <a:br>
              <a:rPr lang="en-US" sz="4800" dirty="0"/>
            </a:br>
            <a:br>
              <a:rPr lang="en-US" sz="4800" dirty="0"/>
            </a:br>
            <a:r>
              <a:rPr lang="en-US" sz="4400" dirty="0">
                <a:solidFill>
                  <a:schemeClr val="accent6">
                    <a:lumMod val="50000"/>
                  </a:schemeClr>
                </a:solidFill>
              </a:rPr>
              <a:t>Chapter 4: Data modelling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23161-1052-4FF1-9CF5-A66CCD3B7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9188" y="5009496"/>
            <a:ext cx="9493624" cy="1655762"/>
          </a:xfrm>
        </p:spPr>
        <p:txBody>
          <a:bodyPr/>
          <a:lstStyle/>
          <a:p>
            <a:r>
              <a:rPr lang="en-US" dirty="0" err="1"/>
              <a:t>Trương</a:t>
            </a:r>
            <a:r>
              <a:rPr lang="en-US" dirty="0"/>
              <a:t> </a:t>
            </a:r>
            <a:r>
              <a:rPr lang="en-US" dirty="0" err="1"/>
              <a:t>Quốc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r>
              <a:rPr lang="en-US" dirty="0"/>
              <a:t>Faculty of Information Systems – CICT – Can Tho University </a:t>
            </a:r>
          </a:p>
        </p:txBody>
      </p:sp>
    </p:spTree>
    <p:extLst>
      <p:ext uri="{BB962C8B-B14F-4D97-AF65-F5344CB8AC3E}">
        <p14:creationId xmlns:p14="http://schemas.microsoft.com/office/powerpoint/2010/main" val="39646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D2C13-7ACE-3EDB-9A71-C34E1CDC7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Basic concepts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725FF1-05D0-3353-E332-B425BE763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38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D021-398C-4214-A53A-C4DF469F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B5E55-E47C-4F8E-8F37-54D0ABAA3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2812" cy="435133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Data modeling </a:t>
            </a:r>
            <a:r>
              <a:rPr lang="en-US" dirty="0"/>
              <a:t>is the process of creating a </a:t>
            </a:r>
            <a:r>
              <a:rPr lang="en-US" dirty="0">
                <a:solidFill>
                  <a:srgbClr val="00B050"/>
                </a:solidFill>
              </a:rPr>
              <a:t>model (structure)</a:t>
            </a:r>
            <a:r>
              <a:rPr lang="en-US" dirty="0"/>
              <a:t> for the data that will be stored in a database.</a:t>
            </a:r>
            <a:r>
              <a:rPr lang="vi-VN" dirty="0"/>
              <a:t> </a:t>
            </a:r>
            <a:endParaRPr lang="en-US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A data model</a:t>
            </a:r>
            <a:r>
              <a:rPr lang="en-US" dirty="0"/>
              <a:t> is a </a:t>
            </a:r>
            <a:r>
              <a:rPr lang="en-US" dirty="0">
                <a:solidFill>
                  <a:srgbClr val="0070C0"/>
                </a:solidFill>
              </a:rPr>
              <a:t>conceptual representation</a:t>
            </a:r>
            <a:r>
              <a:rPr lang="en-US" dirty="0"/>
              <a:t> of </a:t>
            </a:r>
            <a:r>
              <a:rPr lang="en-US" dirty="0">
                <a:solidFill>
                  <a:srgbClr val="00B050"/>
                </a:solidFill>
              </a:rPr>
              <a:t>data entities, the relationships between those entities, </a:t>
            </a:r>
            <a:r>
              <a:rPr lang="en-US" dirty="0"/>
              <a:t>and</a:t>
            </a:r>
            <a:r>
              <a:rPr lang="en-US" dirty="0">
                <a:solidFill>
                  <a:srgbClr val="00B050"/>
                </a:solidFill>
              </a:rPr>
              <a:t> business rules</a:t>
            </a:r>
            <a:r>
              <a:rPr lang="en-US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Data modeling</a:t>
            </a:r>
            <a:r>
              <a:rPr lang="en-US" dirty="0"/>
              <a:t> helps visualize </a:t>
            </a:r>
            <a:r>
              <a:rPr lang="en-US" dirty="0">
                <a:solidFill>
                  <a:srgbClr val="00B050"/>
                </a:solidFill>
              </a:rPr>
              <a:t>data and business rules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intuitively</a:t>
            </a:r>
            <a:r>
              <a:rPr lang="en-US" dirty="0"/>
              <a:t>.</a:t>
            </a:r>
            <a:r>
              <a:rPr lang="vi-VN" dirty="0"/>
              <a:t> </a:t>
            </a:r>
            <a:endParaRPr lang="en-US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A data model</a:t>
            </a:r>
            <a:r>
              <a:rPr lang="en-US" dirty="0"/>
              <a:t> needs to </a:t>
            </a:r>
            <a:r>
              <a:rPr lang="en-US" dirty="0">
                <a:solidFill>
                  <a:srgbClr val="0070C0"/>
                </a:solidFill>
              </a:rPr>
              <a:t>ensure consistency</a:t>
            </a:r>
            <a:r>
              <a:rPr lang="en-US" dirty="0"/>
              <a:t> in </a:t>
            </a:r>
            <a:r>
              <a:rPr lang="en-US" dirty="0">
                <a:solidFill>
                  <a:srgbClr val="00B050"/>
                </a:solidFill>
              </a:rPr>
              <a:t>naming conventions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default values, semantics, </a:t>
            </a:r>
            <a:r>
              <a:rPr lang="en-US" dirty="0"/>
              <a:t>and</a:t>
            </a:r>
            <a:r>
              <a:rPr lang="en-US" dirty="0">
                <a:solidFill>
                  <a:srgbClr val="00B050"/>
                </a:solidFill>
              </a:rPr>
              <a:t> security</a:t>
            </a:r>
            <a:r>
              <a:rPr lang="en-US" dirty="0"/>
              <a:t> while still maintaining the quality of the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AB654-DEE3-40B8-8389-438D9E519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DDB87-B4BA-4EB0-A888-3A8FB7CD062B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</p:spTree>
    <p:extLst>
      <p:ext uri="{BB962C8B-B14F-4D97-AF65-F5344CB8AC3E}">
        <p14:creationId xmlns:p14="http://schemas.microsoft.com/office/powerpoint/2010/main" val="819039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D021-398C-4214-A53A-C4DF469F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B5E55-E47C-4F8E-8F37-54D0ABAA3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2812" cy="435133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Data modeling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focuses on identifying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what data is essential and how it should be structured</a:t>
            </a:r>
            <a:r>
              <a:rPr lang="en-US" dirty="0"/>
              <a:t>, </a:t>
            </a:r>
            <a:r>
              <a:rPr lang="en-US" strike="sngStrike" dirty="0"/>
              <a:t>rather than detailing the operations that will be performed on it</a:t>
            </a:r>
            <a:r>
              <a:rPr lang="en-US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AB654-DEE3-40B8-8389-438D9E519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DDB87-B4BA-4EB0-A888-3A8FB7CD062B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CC2C2E6-65EC-4D41-A91F-899B3FA28B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076090"/>
              </p:ext>
            </p:extLst>
          </p:nvPr>
        </p:nvGraphicFramePr>
        <p:xfrm>
          <a:off x="1841144" y="3545397"/>
          <a:ext cx="8509712" cy="2872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095880" imgH="2057400" progId="Paint.Picture.1">
                  <p:embed/>
                </p:oleObj>
              </mc:Choice>
              <mc:Fallback>
                <p:oleObj name="Bitmap Image" r:id="rId2" imgW="6095880" imgH="205740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41144" y="3545397"/>
                        <a:ext cx="8509712" cy="28720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661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D021-398C-4214-A53A-C4DF469F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640438" cy="1622321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700" dirty="0"/>
              <a:t>Levels of data model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B5E55-E47C-4F8E-8F37-54D0ABAA3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707532" cy="407894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</a:rPr>
              <a:t>CDM</a:t>
            </a:r>
            <a:r>
              <a:rPr lang="en-US" sz="2400" dirty="0"/>
              <a:t> - Conceptual Data Model,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</a:rPr>
              <a:t>LDM</a:t>
            </a:r>
            <a:r>
              <a:rPr lang="en-US" sz="2400" dirty="0"/>
              <a:t> – Logical Data Model,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</a:rPr>
              <a:t>PDM</a:t>
            </a:r>
            <a:r>
              <a:rPr lang="en-US" sz="2400" dirty="0"/>
              <a:t> – Physical Data Model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onceptual data modeling in ARIS using ER models [Motivation]">
            <a:extLst>
              <a:ext uri="{FF2B5EF4-FFF2-40B4-BE49-F238E27FC236}">
                <a16:creationId xmlns:a16="http://schemas.microsoft.com/office/drawing/2014/main" id="{E28059A4-90A1-405C-BB13-E023CCB51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5862" y="1899972"/>
            <a:ext cx="6019331" cy="305481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AB654-DEE3-40B8-8389-438D9E519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FF8543-F9CB-4923-BC76-CA5367B4EDBF}" type="slidenum">
              <a:rPr lang="en-US">
                <a:solidFill>
                  <a:srgbClr val="303030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30303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C7D82-3812-4672-A751-28F55F2B5216}"/>
              </a:ext>
            </a:extLst>
          </p:cNvPr>
          <p:cNvSpPr txBox="1"/>
          <p:nvPr/>
        </p:nvSpPr>
        <p:spPr>
          <a:xfrm>
            <a:off x="1228165" y="73121"/>
            <a:ext cx="3277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</p:spTree>
    <p:extLst>
      <p:ext uri="{BB962C8B-B14F-4D97-AF65-F5344CB8AC3E}">
        <p14:creationId xmlns:p14="http://schemas.microsoft.com/office/powerpoint/2010/main" val="1085809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C2D3D-55FD-45B5-8FB2-8AC88FE88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9" y="856180"/>
            <a:ext cx="4690133" cy="1128068"/>
          </a:xfrm>
        </p:spPr>
        <p:txBody>
          <a:bodyPr anchor="ctr">
            <a:normAutofit/>
          </a:bodyPr>
          <a:lstStyle/>
          <a:p>
            <a:r>
              <a:rPr lang="en-US" sz="3700" dirty="0"/>
              <a:t>Conceptual Data Model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DA628-551D-42E4-BCA4-67D171843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145433"/>
            <a:ext cx="4559425" cy="4164657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dirty="0">
                <a:solidFill>
                  <a:srgbClr val="FF0000"/>
                </a:solidFill>
              </a:rPr>
              <a:t>A conceptual data model</a:t>
            </a:r>
            <a:r>
              <a:rPr lang="en-US" sz="2000" dirty="0"/>
              <a:t> is a high-level, abstract representation of the data, </a:t>
            </a:r>
            <a:r>
              <a:rPr lang="en-US" sz="2000" dirty="0">
                <a:solidFill>
                  <a:srgbClr val="0070C0"/>
                </a:solidFill>
              </a:rPr>
              <a:t>independent of any specific technology or implementation</a:t>
            </a:r>
            <a:r>
              <a:rPr lang="en-US" sz="2000" dirty="0"/>
              <a:t>.</a:t>
            </a:r>
          </a:p>
          <a:p>
            <a:pPr algn="just"/>
            <a:r>
              <a:rPr lang="en-US" sz="2000" dirty="0"/>
              <a:t>It </a:t>
            </a:r>
            <a:r>
              <a:rPr lang="en-US" sz="2000" dirty="0">
                <a:solidFill>
                  <a:srgbClr val="FF0000"/>
                </a:solidFill>
              </a:rPr>
              <a:t>focuses on</a:t>
            </a:r>
            <a:r>
              <a:rPr lang="en-US" sz="2000" dirty="0"/>
              <a:t> defining </a:t>
            </a:r>
            <a:r>
              <a:rPr lang="en-US" sz="2000" dirty="0">
                <a:solidFill>
                  <a:srgbClr val="00B050"/>
                </a:solidFill>
              </a:rPr>
              <a:t>key business entities, their attributes, and the relationships between them</a:t>
            </a:r>
            <a:r>
              <a:rPr lang="en-US" sz="2000" dirty="0"/>
              <a:t>, providing a shared understanding of the data within a business context. 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Two businessmen standing and talking ... | Stock image | Colourbox">
            <a:extLst>
              <a:ext uri="{FF2B5EF4-FFF2-40B4-BE49-F238E27FC236}">
                <a16:creationId xmlns:a16="http://schemas.microsoft.com/office/drawing/2014/main" id="{E31026CA-6FCF-47A1-ADD7-1B4CF8B809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3065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8A773-B259-489F-9068-2AA78E7A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5070" y="6492240"/>
            <a:ext cx="105571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FF8543-F9CB-4923-BC76-CA5367B4EDB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93E6D-E437-4272-8A02-930DC822E08F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76F67-6766-4D13-AD03-AB5CE23C4B20}"/>
              </a:ext>
            </a:extLst>
          </p:cNvPr>
          <p:cNvSpPr txBox="1"/>
          <p:nvPr/>
        </p:nvSpPr>
        <p:spPr>
          <a:xfrm>
            <a:off x="7900743" y="1690459"/>
            <a:ext cx="173166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ENTITIES???</a:t>
            </a:r>
          </a:p>
          <a:p>
            <a:pPr algn="ctr">
              <a:spcAft>
                <a:spcPts val="600"/>
              </a:spcAft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???</a:t>
            </a:r>
          </a:p>
          <a:p>
            <a:pPr algn="ctr">
              <a:spcAft>
                <a:spcPts val="600"/>
              </a:spcAft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RELATIONSHIPS???</a:t>
            </a:r>
          </a:p>
        </p:txBody>
      </p:sp>
    </p:spTree>
    <p:extLst>
      <p:ext uri="{BB962C8B-B14F-4D97-AF65-F5344CB8AC3E}">
        <p14:creationId xmlns:p14="http://schemas.microsoft.com/office/powerpoint/2010/main" val="1187677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C2D3D-55FD-45B5-8FB2-8AC88FE88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777496" cy="1128068"/>
          </a:xfrm>
        </p:spPr>
        <p:txBody>
          <a:bodyPr anchor="ctr">
            <a:normAutofit/>
          </a:bodyPr>
          <a:lstStyle/>
          <a:p>
            <a:r>
              <a:rPr lang="en-US" sz="3700" dirty="0"/>
              <a:t>Logical Data Model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DA628-551D-42E4-BCA4-67D171843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145433"/>
            <a:ext cx="4559425" cy="4164657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dirty="0"/>
              <a:t>It defines what data is needed, </a:t>
            </a:r>
            <a:r>
              <a:rPr lang="en-US" sz="2000" dirty="0">
                <a:solidFill>
                  <a:srgbClr val="FF0000"/>
                </a:solidFill>
              </a:rPr>
              <a:t>how it's organized</a:t>
            </a:r>
            <a:r>
              <a:rPr lang="en-US" sz="2000" dirty="0"/>
              <a:t>, and </a:t>
            </a:r>
            <a:r>
              <a:rPr lang="en-US" sz="2000" dirty="0">
                <a:solidFill>
                  <a:srgbClr val="FF0000"/>
                </a:solidFill>
              </a:rPr>
              <a:t>how different data elements relate to each other</a:t>
            </a:r>
            <a:r>
              <a:rPr lang="en-US" sz="2000" dirty="0"/>
              <a:t>. </a:t>
            </a:r>
          </a:p>
          <a:p>
            <a:pPr algn="just"/>
            <a:r>
              <a:rPr lang="en-US" sz="2000" dirty="0"/>
              <a:t>Think of it as a blueprint for </a:t>
            </a:r>
            <a:r>
              <a:rPr lang="en-US" sz="2000" dirty="0">
                <a:solidFill>
                  <a:srgbClr val="FF0000"/>
                </a:solidFill>
              </a:rPr>
              <a:t>how data should be structured and managed</a:t>
            </a:r>
            <a:r>
              <a:rPr lang="en-US" sz="2000" dirty="0"/>
              <a:t>, focusing on the logical aspects </a:t>
            </a:r>
            <a:r>
              <a:rPr lang="en-US" sz="2000" strike="sngStrike" dirty="0"/>
              <a:t>rather than the physical implementation details</a:t>
            </a:r>
            <a:r>
              <a:rPr lang="en-US" sz="2000" dirty="0"/>
              <a:t>. 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Two businessmen standing and talking ... | Stock image | Colourbox">
            <a:extLst>
              <a:ext uri="{FF2B5EF4-FFF2-40B4-BE49-F238E27FC236}">
                <a16:creationId xmlns:a16="http://schemas.microsoft.com/office/drawing/2014/main" id="{E31026CA-6FCF-47A1-ADD7-1B4CF8B809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3065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8A773-B259-489F-9068-2AA78E7A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5070" y="6492240"/>
            <a:ext cx="105571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FF8543-F9CB-4923-BC76-CA5367B4EDB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93E6D-E437-4272-8A02-930DC822E08F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76F67-6766-4D13-AD03-AB5CE23C4B20}"/>
              </a:ext>
            </a:extLst>
          </p:cNvPr>
          <p:cNvSpPr txBox="1"/>
          <p:nvPr/>
        </p:nvSpPr>
        <p:spPr>
          <a:xfrm>
            <a:off x="7643462" y="1783795"/>
            <a:ext cx="233116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DATA ELEMENTS???</a:t>
            </a:r>
          </a:p>
          <a:p>
            <a:pPr algn="ctr">
              <a:spcAft>
                <a:spcPts val="600"/>
              </a:spcAft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IS DATA MANAGED???</a:t>
            </a:r>
          </a:p>
        </p:txBody>
      </p:sp>
    </p:spTree>
    <p:extLst>
      <p:ext uri="{BB962C8B-B14F-4D97-AF65-F5344CB8AC3E}">
        <p14:creationId xmlns:p14="http://schemas.microsoft.com/office/powerpoint/2010/main" val="1482794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C2D3D-55FD-45B5-8FB2-8AC88FE88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 dirty="0"/>
              <a:t>Physical Data Model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DA628-551D-42E4-BCA4-67D171843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145433"/>
            <a:ext cx="4559425" cy="4164657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dirty="0">
                <a:solidFill>
                  <a:srgbClr val="FF0000"/>
                </a:solidFill>
              </a:rPr>
              <a:t>A physical data model</a:t>
            </a:r>
            <a:r>
              <a:rPr lang="en-US" sz="2000" dirty="0"/>
              <a:t> is a </a:t>
            </a:r>
            <a:r>
              <a:rPr lang="en-US" sz="2000" dirty="0">
                <a:solidFill>
                  <a:srgbClr val="0070C0"/>
                </a:solidFill>
              </a:rPr>
              <a:t>detailed, database-specific</a:t>
            </a:r>
            <a:r>
              <a:rPr lang="en-US" sz="2000" dirty="0"/>
              <a:t> blueprint that defines </a:t>
            </a:r>
            <a:r>
              <a:rPr lang="en-US" sz="2000" dirty="0">
                <a:solidFill>
                  <a:srgbClr val="00B050"/>
                </a:solidFill>
              </a:rPr>
              <a:t>how data will be physically stored and accessed</a:t>
            </a:r>
            <a:r>
              <a:rPr lang="en-US" sz="2000" dirty="0"/>
              <a:t> within a database management system (DBMS).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Two businessmen standing and talking ... | Stock image | Colourbox">
            <a:extLst>
              <a:ext uri="{FF2B5EF4-FFF2-40B4-BE49-F238E27FC236}">
                <a16:creationId xmlns:a16="http://schemas.microsoft.com/office/drawing/2014/main" id="{E31026CA-6FCF-47A1-ADD7-1B4CF8B809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3065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8A773-B259-489F-9068-2AA78E7A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5070" y="6492240"/>
            <a:ext cx="105571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FF8543-F9CB-4923-BC76-CA5367B4EDB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93E6D-E437-4272-8A02-930DC822E08F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76F67-6766-4D13-AD03-AB5CE23C4B20}"/>
              </a:ext>
            </a:extLst>
          </p:cNvPr>
          <p:cNvSpPr txBox="1"/>
          <p:nvPr/>
        </p:nvSpPr>
        <p:spPr>
          <a:xfrm>
            <a:off x="7855648" y="1756944"/>
            <a:ext cx="1880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IMPLEMENTATION???</a:t>
            </a:r>
          </a:p>
        </p:txBody>
      </p:sp>
    </p:spTree>
    <p:extLst>
      <p:ext uri="{BB962C8B-B14F-4D97-AF65-F5344CB8AC3E}">
        <p14:creationId xmlns:p14="http://schemas.microsoft.com/office/powerpoint/2010/main" val="590016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00788-63F2-AABE-FA10-33D86D55C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4DE81-FB42-D408-C5CD-7B29E2DD2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ENTITY – RELATIONSHIP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164432-0B80-CCC0-AD62-5149D542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02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09941-33C5-4118-B5E4-BFD5FA025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of ERD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1B9B1-BB95-4A34-A211-B17124D2D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Often used</a:t>
            </a:r>
            <a:r>
              <a:rPr lang="en-US" dirty="0"/>
              <a:t> to represent </a:t>
            </a:r>
            <a:r>
              <a:rPr lang="en-US" dirty="0">
                <a:solidFill>
                  <a:srgbClr val="0070C0"/>
                </a:solidFill>
              </a:rPr>
              <a:t>Conceptual Data Model</a:t>
            </a:r>
            <a:r>
              <a:rPr lang="en-US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It provides a </a:t>
            </a:r>
            <a:r>
              <a:rPr lang="en-US" dirty="0">
                <a:solidFill>
                  <a:srgbClr val="0070C0"/>
                </a:solidFill>
              </a:rPr>
              <a:t>comprehensive view</a:t>
            </a:r>
            <a:r>
              <a:rPr lang="en-US" dirty="0"/>
              <a:t> illustrating how a business system creates, stores, and uses data/information.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It supports the </a:t>
            </a:r>
            <a:r>
              <a:rPr lang="en-US" dirty="0">
                <a:solidFill>
                  <a:srgbClr val="0070C0"/>
                </a:solidFill>
              </a:rPr>
              <a:t>representation of business rules</a:t>
            </a:r>
            <a:r>
              <a:rPr lang="en-US" dirty="0"/>
              <a:t> at a high level of abstraction.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It depicts the </a:t>
            </a:r>
            <a:r>
              <a:rPr lang="en-US" dirty="0">
                <a:solidFill>
                  <a:srgbClr val="0070C0"/>
                </a:solidFill>
              </a:rPr>
              <a:t>relationships among sets of entities</a:t>
            </a:r>
            <a:r>
              <a:rPr lang="en-US" dirty="0"/>
              <a:t>.</a:t>
            </a:r>
            <a:endParaRPr lang="vi-VN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60AEA-A40C-458A-8AB8-E5CEE7E7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D99C8-DDC6-43E6-BC1E-C7965BCF2030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1090599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1991C-1E75-44E3-9BBA-14CE6CEF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AA12C-D7DD-42B3-BDAC-D279E6069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ERD notations: Chen, </a:t>
            </a:r>
            <a:r>
              <a:rPr lang="en-US" b="1" dirty="0">
                <a:solidFill>
                  <a:srgbClr val="FF0000"/>
                </a:solidFill>
              </a:rPr>
              <a:t>Crow’s foot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0F7D8-9062-4937-B0F4-623D6938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2BF65-A19A-4597-B8A6-1CB6BC95F1C5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pic>
        <p:nvPicPr>
          <p:cNvPr id="1026" name="Picture 2" descr="Chen's ERD, week key attribute, weak entity, relationship, multivalue attribute, key attribute, identifying relationship, entity, derived attribute, attribute, associative entity,">
            <a:extLst>
              <a:ext uri="{FF2B5EF4-FFF2-40B4-BE49-F238E27FC236}">
                <a16:creationId xmlns:a16="http://schemas.microsoft.com/office/drawing/2014/main" id="{4BA0FD4A-17FF-4CA1-BD4E-9C6C2DAE1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77" y="2950508"/>
            <a:ext cx="60960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row's foot ERD, entity,">
            <a:extLst>
              <a:ext uri="{FF2B5EF4-FFF2-40B4-BE49-F238E27FC236}">
                <a16:creationId xmlns:a16="http://schemas.microsoft.com/office/drawing/2014/main" id="{08CA4486-42EB-4570-8C01-0C20DADAC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903" y="2893895"/>
            <a:ext cx="5213931" cy="337276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24033379-00D2-48E8-B377-0A8E996F0CA2}"/>
              </a:ext>
            </a:extLst>
          </p:cNvPr>
          <p:cNvSpPr/>
          <p:nvPr/>
        </p:nvSpPr>
        <p:spPr>
          <a:xfrm>
            <a:off x="8539402" y="611846"/>
            <a:ext cx="3065166" cy="1531820"/>
          </a:xfrm>
          <a:prstGeom prst="cloudCallout">
            <a:avLst>
              <a:gd name="adj1" fmla="val -89463"/>
              <a:gd name="adj2" fmla="val 450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notation will be used.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AA4B1E-7D31-4B14-8A4A-D8C980A71060}"/>
              </a:ext>
            </a:extLst>
          </p:cNvPr>
          <p:cNvSpPr/>
          <p:nvPr/>
        </p:nvSpPr>
        <p:spPr>
          <a:xfrm rot="19343631">
            <a:off x="9787425" y="4141818"/>
            <a:ext cx="2369302" cy="64633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Crow’s foot</a:t>
            </a:r>
          </a:p>
        </p:txBody>
      </p:sp>
    </p:spTree>
    <p:extLst>
      <p:ext uri="{BB962C8B-B14F-4D97-AF65-F5344CB8AC3E}">
        <p14:creationId xmlns:p14="http://schemas.microsoft.com/office/powerpoint/2010/main" val="2228283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1991C-1E75-44E3-9BBA-14CE6CEF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AA12C-D7DD-42B3-BDAC-D279E6069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0F7D8-9062-4937-B0F4-623D6938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2BF65-A19A-4597-B8A6-1CB6BC95F1C5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pic>
        <p:nvPicPr>
          <p:cNvPr id="2050" name="Picture 2" descr="Doctor and Patient (Chen ER Diagram) - Software Ideas Modeler">
            <a:extLst>
              <a:ext uri="{FF2B5EF4-FFF2-40B4-BE49-F238E27FC236}">
                <a16:creationId xmlns:a16="http://schemas.microsoft.com/office/drawing/2014/main" id="{0E7D8424-1216-41CA-8258-065731C76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2924028"/>
            <a:ext cx="5457825" cy="351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R-diagram of the subject domain (Crow&amp;#39;s Foot notation) | Download  Scientific Diagram">
            <a:extLst>
              <a:ext uri="{FF2B5EF4-FFF2-40B4-BE49-F238E27FC236}">
                <a16:creationId xmlns:a16="http://schemas.microsoft.com/office/drawing/2014/main" id="{5B09851C-2D58-4BF5-A00B-FF5E081CC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993" y="2956233"/>
            <a:ext cx="3319462" cy="358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066E502-6051-47FD-B5B7-F8CFA0D2A8FB}"/>
              </a:ext>
            </a:extLst>
          </p:cNvPr>
          <p:cNvSpPr/>
          <p:nvPr/>
        </p:nvSpPr>
        <p:spPr>
          <a:xfrm rot="19343631">
            <a:off x="9372973" y="4084765"/>
            <a:ext cx="2369302" cy="64633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Crow’s foot</a:t>
            </a: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6A2DB3E7-55E9-ECB1-6FCA-80E572DDAFBE}"/>
              </a:ext>
            </a:extLst>
          </p:cNvPr>
          <p:cNvSpPr/>
          <p:nvPr/>
        </p:nvSpPr>
        <p:spPr>
          <a:xfrm>
            <a:off x="8628173" y="924778"/>
            <a:ext cx="3065166" cy="1531820"/>
          </a:xfrm>
          <a:prstGeom prst="cloudCallout">
            <a:avLst>
              <a:gd name="adj1" fmla="val -23561"/>
              <a:gd name="adj2" fmla="val 1562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notation will be used.</a:t>
            </a:r>
          </a:p>
        </p:txBody>
      </p:sp>
    </p:spTree>
    <p:extLst>
      <p:ext uri="{BB962C8B-B14F-4D97-AF65-F5344CB8AC3E}">
        <p14:creationId xmlns:p14="http://schemas.microsoft.com/office/powerpoint/2010/main" val="2438874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64D56-B802-4FA4-B358-B0D0ABA5B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18B24-D789-46E6-A675-EE9F33517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FF0000"/>
                </a:solidFill>
              </a:rPr>
              <a:t>An entity</a:t>
            </a:r>
            <a:r>
              <a:rPr lang="en-US" dirty="0"/>
              <a:t> is an element in the model that corresponds to </a:t>
            </a:r>
            <a:r>
              <a:rPr lang="en-US" dirty="0">
                <a:solidFill>
                  <a:srgbClr val="FF0000"/>
                </a:solidFill>
              </a:rPr>
              <a:t>a class of objects </a:t>
            </a:r>
            <a:r>
              <a:rPr lang="en-US" dirty="0">
                <a:solidFill>
                  <a:srgbClr val="0070C0"/>
                </a:solidFill>
              </a:rPr>
              <a:t>belonging to the organization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being modeled</a:t>
            </a:r>
            <a:r>
              <a:rPr lang="en-US" dirty="0"/>
              <a:t>.</a:t>
            </a:r>
          </a:p>
          <a:p>
            <a:pPr lvl="1" algn="just">
              <a:lnSpc>
                <a:spcPct val="120000"/>
              </a:lnSpc>
            </a:pPr>
            <a:r>
              <a:rPr lang="en-US" dirty="0"/>
              <a:t>It may be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 person (e.g., Student)</a:t>
            </a:r>
            <a:r>
              <a:rPr lang="en-US" dirty="0"/>
              <a:t>,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 location (e.g., District)</a:t>
            </a:r>
            <a:r>
              <a:rPr lang="en-US" dirty="0"/>
              <a:t>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an event (e.g., Conference) …</a:t>
            </a:r>
            <a:r>
              <a:rPr lang="en-US" dirty="0"/>
              <a:t> all sharing common characteristics.</a:t>
            </a:r>
          </a:p>
          <a:p>
            <a:pPr lvl="1" algn="just">
              <a:lnSpc>
                <a:spcPct val="120000"/>
              </a:lnSpc>
            </a:pPr>
            <a:r>
              <a:rPr lang="en-US" dirty="0"/>
              <a:t>It is </a:t>
            </a:r>
            <a:r>
              <a:rPr lang="en-US" dirty="0">
                <a:solidFill>
                  <a:srgbClr val="0070C0"/>
                </a:solidFill>
              </a:rPr>
              <a:t>identified by a name </a:t>
            </a:r>
            <a:r>
              <a:rPr lang="en-US" dirty="0"/>
              <a:t>and is typically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expressed as a noun</a:t>
            </a:r>
            <a:r>
              <a:rPr lang="en-US" dirty="0"/>
              <a:t>.</a:t>
            </a:r>
          </a:p>
          <a:p>
            <a:pPr lvl="1" algn="just">
              <a:lnSpc>
                <a:spcPct val="120000"/>
              </a:lnSpc>
            </a:pPr>
            <a:r>
              <a:rPr lang="en-US" dirty="0"/>
              <a:t>An entity must have </a:t>
            </a:r>
            <a:r>
              <a:rPr lang="en-US" dirty="0">
                <a:solidFill>
                  <a:srgbClr val="00B050"/>
                </a:solidFill>
              </a:rPr>
              <a:t>multiple instances</a:t>
            </a:r>
            <a:r>
              <a:rPr lang="en-US" dirty="0"/>
              <a:t>.</a:t>
            </a:r>
            <a:endParaRPr lang="vi-VN" dirty="0"/>
          </a:p>
          <a:p>
            <a:pPr lvl="1" algn="just">
              <a:lnSpc>
                <a:spcPct val="120000"/>
              </a:lnSpc>
            </a:pPr>
            <a:endParaRPr lang="vi-VN" dirty="0"/>
          </a:p>
          <a:p>
            <a:pPr algn="just"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939B7-D5A4-4DB9-9A10-2A16B02E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B49E06-FABD-4C1A-8CE2-7D756AF6B436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84FBBA-EAC5-0F6A-9762-7B67264A46C8}"/>
              </a:ext>
            </a:extLst>
          </p:cNvPr>
          <p:cNvGrpSpPr/>
          <p:nvPr/>
        </p:nvGrpSpPr>
        <p:grpSpPr>
          <a:xfrm>
            <a:off x="9925563" y="3586178"/>
            <a:ext cx="1428237" cy="2590785"/>
            <a:chOff x="9925563" y="3537086"/>
            <a:chExt cx="1428237" cy="259078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8DDB104-5368-4894-A43F-FA4BC6ADA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25563" y="3537086"/>
              <a:ext cx="1428237" cy="12072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7A72985-4444-2EE0-C66D-A285D7EBF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25563" y="4923672"/>
              <a:ext cx="1428236" cy="12041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8445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DE280-B599-43F2-979A-DF54FE1C5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of an 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6E8EB-D6C7-4597-858D-6626E0C37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An Attribute</a:t>
            </a:r>
            <a:r>
              <a:rPr lang="en-US" dirty="0"/>
              <a:t> is an element of the model that corresponds to </a:t>
            </a:r>
            <a:r>
              <a:rPr lang="en-US" dirty="0">
                <a:solidFill>
                  <a:srgbClr val="00B050"/>
                </a:solidFill>
              </a:rPr>
              <a:t>a characteristic of an Entity</a:t>
            </a:r>
            <a:r>
              <a:rPr lang="en-US" dirty="0"/>
              <a:t> that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needs to be represented</a:t>
            </a:r>
            <a:r>
              <a:rPr lang="en-US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It is </a:t>
            </a:r>
            <a:r>
              <a:rPr lang="en-US" dirty="0">
                <a:solidFill>
                  <a:srgbClr val="0070C0"/>
                </a:solidFill>
              </a:rPr>
              <a:t>identified by a name</a:t>
            </a:r>
            <a:r>
              <a:rPr lang="en-US" dirty="0"/>
              <a:t>, typically a </a:t>
            </a:r>
            <a:r>
              <a:rPr lang="en-US" b="1" dirty="0">
                <a:solidFill>
                  <a:srgbClr val="FF0000"/>
                </a:solidFill>
              </a:rPr>
              <a:t>noun</a:t>
            </a:r>
            <a:r>
              <a:rPr lang="en-US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B050"/>
                </a:solidFill>
              </a:rPr>
              <a:t>Different attributes</a:t>
            </a:r>
            <a:r>
              <a:rPr lang="en-US" dirty="0"/>
              <a:t> must have </a:t>
            </a:r>
            <a:r>
              <a:rPr lang="en-US" dirty="0">
                <a:solidFill>
                  <a:srgbClr val="00B050"/>
                </a:solidFill>
              </a:rPr>
              <a:t>distinct names</a:t>
            </a:r>
            <a:r>
              <a:rPr lang="en-US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Each attribute has a specific data type (conceptual).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Attributes take on values from an appropriate set of valid values.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/>
              <a:t>Attributes are written inside, below the name of the entity.</a:t>
            </a:r>
          </a:p>
          <a:p>
            <a:pPr algn="just"/>
            <a:endParaRPr lang="vi-VN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98A7C-3B5D-4E90-9255-06A1DEF6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03096-AF18-4D1B-9855-A08777D0880B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C2D85D-4DCD-BA18-87EE-9C8027E19930}"/>
              </a:ext>
            </a:extLst>
          </p:cNvPr>
          <p:cNvGrpSpPr/>
          <p:nvPr/>
        </p:nvGrpSpPr>
        <p:grpSpPr>
          <a:xfrm>
            <a:off x="9807061" y="2883706"/>
            <a:ext cx="2117770" cy="2590523"/>
            <a:chOff x="9807061" y="2883706"/>
            <a:chExt cx="2117770" cy="259052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2B2DD30-6356-0AE9-C830-68CF61831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07061" y="4383641"/>
              <a:ext cx="2117770" cy="109058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9A44608-00E8-B403-8F7A-A6A6815B2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07061" y="2883706"/>
              <a:ext cx="1293487" cy="10905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3898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2EC4F-8C89-4491-954D-BD2AF0369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of an 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5F0B2-FCFB-407D-844D-D915EB860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Example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📝 </a:t>
            </a:r>
            <a:r>
              <a:rPr lang="en-US" dirty="0">
                <a:solidFill>
                  <a:srgbClr val="00B050"/>
                </a:solidFill>
              </a:rPr>
              <a:t>Full Name</a:t>
            </a:r>
            <a:r>
              <a:rPr lang="en-US" dirty="0"/>
              <a:t>: variable-length character string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📅 </a:t>
            </a:r>
            <a:r>
              <a:rPr lang="en-US" dirty="0">
                <a:solidFill>
                  <a:srgbClr val="00B050"/>
                </a:solidFill>
              </a:rPr>
              <a:t>Year of Birth</a:t>
            </a:r>
            <a:r>
              <a:rPr lang="en-US" dirty="0"/>
              <a:t>: integer, with valid range [1965, 2007]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⚧️ </a:t>
            </a:r>
            <a:r>
              <a:rPr lang="en-US" dirty="0">
                <a:solidFill>
                  <a:srgbClr val="00B050"/>
                </a:solidFill>
              </a:rPr>
              <a:t>Gender</a:t>
            </a:r>
            <a:r>
              <a:rPr lang="en-US" dirty="0"/>
              <a:t>: Yes/No type, also represented as a string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C9F8F-8B34-408F-9FCF-4C16DF00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1455E0-EAAC-4E3C-A4C8-7481359626A2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2124798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B3DDA-FD5C-4BEF-997E-951E113FF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instances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87A6D-F44B-43AC-85AD-AABAD27A5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An instance of an entity is an element belonging to a class of objects of the modeled organization.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An instance of an entity is a </a:t>
            </a:r>
            <a:r>
              <a:rPr lang="en-US" dirty="0">
                <a:solidFill>
                  <a:srgbClr val="0070C0"/>
                </a:solidFill>
              </a:rPr>
              <a:t>logical combination of the values of that entity's attributes</a:t>
            </a:r>
            <a:r>
              <a:rPr lang="en-US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vi-VN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BD682-D9D4-42D7-8D41-93DC7ADC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85171-0D9E-44AB-B6D7-17B74354675F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5B27C-0236-42F5-ABDE-51F9AEF394DE}"/>
              </a:ext>
            </a:extLst>
          </p:cNvPr>
          <p:cNvSpPr txBox="1"/>
          <p:nvPr/>
        </p:nvSpPr>
        <p:spPr>
          <a:xfrm>
            <a:off x="4698505" y="5225533"/>
            <a:ext cx="5899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Instance:</a:t>
            </a:r>
            <a:r>
              <a:rPr lang="en-US" dirty="0"/>
              <a:t> </a:t>
            </a:r>
            <a:r>
              <a:rPr lang="en-US" dirty="0" err="1"/>
              <a:t>SV_MaSV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‘1960547’</a:t>
            </a:r>
            <a:r>
              <a:rPr lang="en-US" dirty="0"/>
              <a:t>, </a:t>
            </a:r>
            <a:r>
              <a:rPr lang="en-US" dirty="0" err="1"/>
              <a:t>SV_HoTen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‘Nguyễn Văn A’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591193-5C4B-83BC-F1CC-65D9D00DB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781" y="4504278"/>
            <a:ext cx="1293487" cy="10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960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6EA9-718F-48CE-A216-36425C7BA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BE0FE-C5A5-4531-8199-C23049E7B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It is </a:t>
            </a:r>
            <a:r>
              <a:rPr lang="en-GB" dirty="0">
                <a:solidFill>
                  <a:srgbClr val="FF0000"/>
                </a:solidFill>
              </a:rPr>
              <a:t>an attribute</a:t>
            </a:r>
            <a:r>
              <a:rPr lang="en-GB" dirty="0"/>
              <a:t> such that a </a:t>
            </a:r>
            <a:r>
              <a:rPr lang="en-GB" dirty="0">
                <a:solidFill>
                  <a:srgbClr val="FF0000"/>
                </a:solidFill>
              </a:rPr>
              <a:t>value of this attribute</a:t>
            </a:r>
            <a:r>
              <a:rPr lang="en-GB" dirty="0"/>
              <a:t> </a:t>
            </a:r>
            <a:r>
              <a:rPr lang="en-GB" dirty="0">
                <a:solidFill>
                  <a:srgbClr val="0070C0"/>
                </a:solidFill>
              </a:rPr>
              <a:t>uniquely identifies an instance of an entity</a:t>
            </a:r>
            <a:r>
              <a:rPr lang="en-GB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In many cases</a:t>
            </a:r>
            <a:r>
              <a:rPr lang="en-GB" dirty="0"/>
              <a:t>, an identifier may be ‘artificial’, such as creating an ID number.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The identifier</a:t>
            </a:r>
            <a:r>
              <a:rPr lang="en-GB" dirty="0"/>
              <a:t> of an entity </a:t>
            </a:r>
            <a:r>
              <a:rPr lang="en-GB" b="1" dirty="0">
                <a:solidFill>
                  <a:srgbClr val="FF0000"/>
                </a:solidFill>
              </a:rPr>
              <a:t>must be underlined</a:t>
            </a:r>
            <a:r>
              <a:rPr lang="en-GB" dirty="0"/>
              <a:t> and is </a:t>
            </a:r>
            <a:r>
              <a:rPr lang="en-GB" dirty="0">
                <a:solidFill>
                  <a:srgbClr val="00B050"/>
                </a:solidFill>
              </a:rPr>
              <a:t>typically placed in the first position</a:t>
            </a:r>
            <a:r>
              <a:rPr lang="en-GB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vi-VN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B254E-C092-42E0-A296-5DFAD197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8C1E21-3BF7-4FDD-AC48-99BB56519D31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95D957-466B-482C-B85F-450C3F024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301" y="835912"/>
            <a:ext cx="1064811" cy="90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40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5B10-AA09-4CDF-A8B4-2397EF175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 -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23EEA-EFC0-44AC-A6C3-F7385E8D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Generalization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B050"/>
                </a:solidFill>
              </a:rPr>
              <a:t>Two or more entities</a:t>
            </a:r>
            <a:r>
              <a:rPr lang="en-GB" dirty="0"/>
              <a:t> can be generalized into a </a:t>
            </a:r>
            <a:r>
              <a:rPr lang="en-GB" dirty="0">
                <a:solidFill>
                  <a:srgbClr val="0070C0"/>
                </a:solidFill>
              </a:rPr>
              <a:t>higher-level entity</a:t>
            </a:r>
            <a:r>
              <a:rPr lang="en-GB" dirty="0"/>
              <a:t> if they </a:t>
            </a:r>
            <a:r>
              <a:rPr lang="en-GB" dirty="0">
                <a:solidFill>
                  <a:srgbClr val="00B050"/>
                </a:solidFill>
              </a:rPr>
              <a:t>share some common attribute</a:t>
            </a:r>
            <a:r>
              <a:rPr lang="en-GB" dirty="0"/>
              <a:t>s.</a:t>
            </a:r>
            <a:endParaRPr lang="en-US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Specialization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An entity can be specialized into two or more lower-level entities if </a:t>
            </a:r>
            <a:r>
              <a:rPr lang="en-GB" dirty="0">
                <a:solidFill>
                  <a:srgbClr val="0070C0"/>
                </a:solidFill>
              </a:rPr>
              <a:t>the lower-level entities have different attributes</a:t>
            </a:r>
            <a:r>
              <a:rPr lang="en-GB" dirty="0"/>
              <a:t>.</a:t>
            </a:r>
            <a:endParaRPr lang="en-US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A higher-level entity is a generalized entity, </a:t>
            </a:r>
            <a:r>
              <a:rPr lang="en-GB" dirty="0">
                <a:solidFill>
                  <a:srgbClr val="00B050"/>
                </a:solidFill>
              </a:rPr>
              <a:t>while lower-level entities are specialized entities</a:t>
            </a:r>
            <a:r>
              <a:rPr lang="en-US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i="1" dirty="0"/>
              <a:t>Specialized entities must differ either in attributes or in relationships (to be discussed later) with other entities.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9F57A-5AFC-44CD-951E-0E5BB84B5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A8B07-BD62-420F-A796-40CDA6D0BE68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2697748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01A9-43AA-4BB5-85C5-AD72033AE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 -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AC958-DD6A-4101-BC86-33F9CA80F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46C17-BCB7-4855-A85A-7DF00B750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2E0632-626B-4808-91FB-47587BF59921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98B636-2BF6-32BE-5535-35E11A62A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833" y="2277560"/>
            <a:ext cx="4532334" cy="344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020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CA45-35DF-41C0-8ED7-D18D529A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CDDEB-8B85-4710-BD2A-BE86BBB38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It is the </a:t>
            </a:r>
            <a:r>
              <a:rPr lang="en-GB" dirty="0">
                <a:solidFill>
                  <a:srgbClr val="FF0000"/>
                </a:solidFill>
              </a:rPr>
              <a:t>association between</a:t>
            </a:r>
            <a:r>
              <a:rPr lang="en-GB" dirty="0"/>
              <a:t> </a:t>
            </a:r>
            <a:r>
              <a:rPr lang="en-GB" dirty="0">
                <a:solidFill>
                  <a:srgbClr val="0070C0"/>
                </a:solidFill>
              </a:rPr>
              <a:t>the instances of two entities</a:t>
            </a:r>
            <a:r>
              <a:rPr lang="en-GB" dirty="0"/>
              <a:t>.</a:t>
            </a:r>
            <a:endParaRPr lang="vi-VN" dirty="0">
              <a:solidFill>
                <a:srgbClr val="00B050"/>
              </a:solidFill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Relationships should have </a:t>
            </a:r>
            <a:r>
              <a:rPr lang="en-GB" b="1" dirty="0">
                <a:solidFill>
                  <a:srgbClr val="FF0000"/>
                </a:solidFill>
              </a:rPr>
              <a:t>active verb names</a:t>
            </a:r>
            <a:r>
              <a:rPr lang="vi-VN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Cardinality</a:t>
            </a:r>
            <a:r>
              <a:rPr lang="en-GB" dirty="0"/>
              <a:t> is an </a:t>
            </a:r>
            <a:r>
              <a:rPr lang="en-GB" dirty="0">
                <a:solidFill>
                  <a:srgbClr val="0070C0"/>
                </a:solidFill>
              </a:rPr>
              <a:t>indispensable part</a:t>
            </a:r>
            <a:r>
              <a:rPr lang="en-GB" dirty="0"/>
              <a:t> of a relationship</a:t>
            </a:r>
            <a:r>
              <a:rPr lang="en-US" dirty="0"/>
              <a:t>.</a:t>
            </a:r>
            <a:endParaRPr lang="vi-VN" dirty="0"/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6A818-40AE-46F5-9980-B6E5DED76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45F2C-29DE-4F18-BB9E-BCFDAB80C314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1757334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2E3C-ADD7-4DAD-B515-1CE4C5AC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96F51-6509-4BBE-9682-60A6B7A4A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Refers to the </a:t>
            </a:r>
            <a:r>
              <a:rPr lang="en-GB" dirty="0">
                <a:solidFill>
                  <a:srgbClr val="FF0000"/>
                </a:solidFill>
              </a:rPr>
              <a:t>number of times instances in one entity</a:t>
            </a:r>
            <a:r>
              <a:rPr lang="en-GB" dirty="0"/>
              <a:t> </a:t>
            </a:r>
            <a:r>
              <a:rPr lang="en-GB" dirty="0">
                <a:solidFill>
                  <a:srgbClr val="0070C0"/>
                </a:solidFill>
              </a:rPr>
              <a:t>can be related to instances in another entity</a:t>
            </a:r>
            <a:r>
              <a:rPr lang="en-GB" dirty="0"/>
              <a:t>.</a:t>
            </a:r>
            <a:endParaRPr lang="vi-VN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Cardinality consists of </a:t>
            </a:r>
            <a:r>
              <a:rPr lang="en-GB" dirty="0">
                <a:solidFill>
                  <a:srgbClr val="FF0000"/>
                </a:solidFill>
              </a:rPr>
              <a:t>two components</a:t>
            </a:r>
            <a:r>
              <a:rPr lang="en-GB" dirty="0"/>
              <a:t>:</a:t>
            </a:r>
            <a:endParaRPr lang="vi-VN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Minimum cardinality: 0 or 1</a:t>
            </a:r>
            <a:r>
              <a:rPr lang="en-GB" dirty="0"/>
              <a:t> – </a:t>
            </a:r>
            <a:r>
              <a:rPr lang="en-GB" dirty="0">
                <a:solidFill>
                  <a:srgbClr val="0070C0"/>
                </a:solidFill>
              </a:rPr>
              <a:t>the</a:t>
            </a:r>
            <a:r>
              <a:rPr lang="en-GB" dirty="0"/>
              <a:t> </a:t>
            </a:r>
            <a:r>
              <a:rPr lang="en-GB" dirty="0">
                <a:solidFill>
                  <a:srgbClr val="0070C0"/>
                </a:solidFill>
              </a:rPr>
              <a:t>minimum number of instances</a:t>
            </a:r>
            <a:r>
              <a:rPr lang="en-GB" dirty="0"/>
              <a:t> of an entity that can be associated with one instance of another entity.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Indicates whether participation in the relationship is </a:t>
            </a:r>
            <a:r>
              <a:rPr lang="en-GB" dirty="0">
                <a:solidFill>
                  <a:srgbClr val="00B050"/>
                </a:solidFill>
              </a:rPr>
              <a:t>optional (0) or mandatory (1)</a:t>
            </a:r>
            <a:r>
              <a:rPr lang="en-GB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Maximum cardinality: 1 or n</a:t>
            </a:r>
            <a:r>
              <a:rPr lang="en-GB" dirty="0"/>
              <a:t> – </a:t>
            </a:r>
            <a:r>
              <a:rPr lang="en-GB" dirty="0">
                <a:solidFill>
                  <a:srgbClr val="0070C0"/>
                </a:solidFill>
              </a:rPr>
              <a:t>the maximum number of instances</a:t>
            </a:r>
            <a:r>
              <a:rPr lang="en-GB" dirty="0"/>
              <a:t> of an entity that can be associated with one instance of another entity.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Indicates the </a:t>
            </a:r>
            <a:r>
              <a:rPr lang="en-GB" dirty="0">
                <a:solidFill>
                  <a:srgbClr val="00B050"/>
                </a:solidFill>
              </a:rPr>
              <a:t>upper limit of entity instances</a:t>
            </a:r>
            <a:r>
              <a:rPr lang="en-GB" dirty="0"/>
              <a:t> that may participate (either 1 or many (n)).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53063-1AD1-4479-8FB4-521CFE44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0BE12-A802-4B4F-8F63-AEAA2BBAFE35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504683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8080-864B-4B5A-90F5-34CB52184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symbols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EB032-AF80-4290-9FF9-BDEAFDABD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4CF45-0802-4187-8CFB-FA1CFC251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2" descr="http://science.kennesaw.edu/~bsetzer/3310fa10/build/notes/supplement/Chapter05/Fig5-8.JPG">
            <a:extLst>
              <a:ext uri="{FF2B5EF4-FFF2-40B4-BE49-F238E27FC236}">
                <a16:creationId xmlns:a16="http://schemas.microsoft.com/office/drawing/2014/main" id="{7D03CC7B-B484-4B11-AA02-96C6E5C14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647" y="1812596"/>
            <a:ext cx="4392706" cy="4364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3459BF-0DE7-45E6-B4EE-34EFEB601558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3562868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5A5D-4517-415F-943B-FFF2287D6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AF011-DE4A-4D54-BFE2-44A558730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72D21-7FFA-4ABE-B734-39B68DA9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5D495B-043C-4D4A-90E6-C936F825B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668" y="2104744"/>
            <a:ext cx="7064663" cy="11584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694B06-67CF-4BE5-ADD5-B258B2DF2658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027CBE-CE5A-4C50-BC78-53694A3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195" y="4630830"/>
            <a:ext cx="6950629" cy="14203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73CAE4E7-1C72-4458-A730-3B19084C5E8F}"/>
              </a:ext>
            </a:extLst>
          </p:cNvPr>
          <p:cNvSpPr/>
          <p:nvPr/>
        </p:nvSpPr>
        <p:spPr>
          <a:xfrm>
            <a:off x="2287225" y="3394262"/>
            <a:ext cx="3339133" cy="883864"/>
          </a:xfrm>
          <a:prstGeom prst="cloudCallout">
            <a:avLst>
              <a:gd name="adj1" fmla="val 56984"/>
              <a:gd name="adj2" fmla="val 1820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Is there anything that doesn’t make sense?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75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5A5D-4517-415F-943B-FFF2287D6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AF011-DE4A-4D54-BFE2-44A558730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72D21-7FFA-4ABE-B734-39B68DA9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94B06-67CF-4BE5-ADD5-B258B2DF2658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5D58DC-AC76-4CD7-9D37-51482A5C7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978" y="3689535"/>
            <a:ext cx="8778844" cy="17520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EF06F65F-3688-48AB-AE41-132A09F1ACBF}"/>
              </a:ext>
            </a:extLst>
          </p:cNvPr>
          <p:cNvSpPr/>
          <p:nvPr/>
        </p:nvSpPr>
        <p:spPr>
          <a:xfrm>
            <a:off x="3407813" y="1954307"/>
            <a:ext cx="3702113" cy="1367584"/>
          </a:xfrm>
          <a:prstGeom prst="cloudCallout">
            <a:avLst>
              <a:gd name="adj1" fmla="val 22657"/>
              <a:gd name="adj2" fmla="val 1568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Adjustments will need to be made at the logical model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141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F546-6266-472C-9BE4-30533D28E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68834-A523-4174-8C90-6AAC84DBA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It’s a relationship </a:t>
            </a:r>
            <a:r>
              <a:rPr lang="en-GB" dirty="0">
                <a:solidFill>
                  <a:srgbClr val="FF0000"/>
                </a:solidFill>
              </a:rPr>
              <a:t>with the same entity</a:t>
            </a:r>
            <a:r>
              <a:rPr lang="en-GB" dirty="0"/>
              <a:t>.</a:t>
            </a:r>
            <a:endParaRPr lang="en-US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u="sng" dirty="0"/>
              <a:t>Exercise</a:t>
            </a:r>
            <a:r>
              <a:rPr lang="en-US" dirty="0"/>
              <a:t>: Design a data model to represent a </a:t>
            </a:r>
            <a:r>
              <a:rPr lang="en-US" dirty="0">
                <a:solidFill>
                  <a:srgbClr val="FF0000"/>
                </a:solidFill>
              </a:rPr>
              <a:t>genealogical hierarchies</a:t>
            </a:r>
            <a:r>
              <a:rPr lang="en-US" dirty="0"/>
              <a:t>, </a:t>
            </a:r>
            <a:r>
              <a:rPr lang="en-GB" dirty="0"/>
              <a:t>focus solely on </a:t>
            </a:r>
            <a:r>
              <a:rPr lang="en-GB" dirty="0">
                <a:solidFill>
                  <a:srgbClr val="0070C0"/>
                </a:solidFill>
              </a:rPr>
              <a:t>father–child relational links</a:t>
            </a:r>
            <a:r>
              <a:rPr lang="en-US" dirty="0"/>
              <a:t>.</a:t>
            </a:r>
            <a:endParaRPr lang="vi-V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B7BFF-C6F8-4E15-AB6B-C873BC34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F7489-786E-4217-8815-F1ECE3A243BF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0F6013-23DB-443D-B250-10F15B263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978" y="2469736"/>
            <a:ext cx="3894044" cy="275553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EB04D059-4F6C-44A0-8F06-3F213F75ABDB}"/>
              </a:ext>
            </a:extLst>
          </p:cNvPr>
          <p:cNvSpPr/>
          <p:nvPr/>
        </p:nvSpPr>
        <p:spPr>
          <a:xfrm>
            <a:off x="8748310" y="1690688"/>
            <a:ext cx="2840586" cy="1367584"/>
          </a:xfrm>
          <a:prstGeom prst="cloudCallout">
            <a:avLst>
              <a:gd name="adj1" fmla="val -88732"/>
              <a:gd name="adj2" fmla="val 996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Express the significance of the relationship</a:t>
            </a:r>
          </a:p>
        </p:txBody>
      </p:sp>
    </p:spTree>
    <p:extLst>
      <p:ext uri="{BB962C8B-B14F-4D97-AF65-F5344CB8AC3E}">
        <p14:creationId xmlns:p14="http://schemas.microsoft.com/office/powerpoint/2010/main" val="216160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5A3A8-EE42-4D90-9BC4-CA0771E46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A2310-0892-47CA-9CBE-FA426E561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The value of the identifier</a:t>
            </a:r>
            <a:r>
              <a:rPr lang="en-GB" dirty="0"/>
              <a:t> of a weak entity is </a:t>
            </a:r>
            <a:r>
              <a:rPr lang="en-GB" dirty="0">
                <a:solidFill>
                  <a:srgbClr val="0070C0"/>
                </a:solidFill>
              </a:rPr>
              <a:t>insufficient to uniquely identify its instances</a:t>
            </a:r>
            <a:r>
              <a:rPr lang="en-GB" dirty="0"/>
              <a:t> (meaning that identifier values may be duplicated).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A </a:t>
            </a:r>
            <a:r>
              <a:rPr lang="en-GB" dirty="0">
                <a:solidFill>
                  <a:srgbClr val="0070C0"/>
                </a:solidFill>
              </a:rPr>
              <a:t>weak entity</a:t>
            </a:r>
            <a:r>
              <a:rPr lang="en-GB" dirty="0"/>
              <a:t> must </a:t>
            </a:r>
            <a:r>
              <a:rPr lang="en-GB" dirty="0">
                <a:solidFill>
                  <a:srgbClr val="0070C0"/>
                </a:solidFill>
              </a:rPr>
              <a:t>depend on other entities</a:t>
            </a:r>
            <a:r>
              <a:rPr lang="en-GB" dirty="0"/>
              <a:t>. 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B050"/>
                </a:solidFill>
              </a:rPr>
              <a:t>Its identifier</a:t>
            </a:r>
            <a:r>
              <a:rPr lang="en-GB" dirty="0"/>
              <a:t> is formed by </a:t>
            </a:r>
            <a:r>
              <a:rPr lang="en-GB" dirty="0">
                <a:solidFill>
                  <a:srgbClr val="00B050"/>
                </a:solidFill>
              </a:rPr>
              <a:t>combining with the identifiers of related entities</a:t>
            </a:r>
            <a:r>
              <a:rPr lang="en-GB" dirty="0"/>
              <a:t>.</a:t>
            </a:r>
            <a:endParaRPr lang="en-US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26E6A-6AC6-48F0-A687-1CF04EED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222088-584B-4D30-90F2-6EC432E3709C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2026918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5A3A8-EE42-4D90-9BC4-CA0771E46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A2310-0892-47CA-9CBE-FA426E561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26E6A-6AC6-48F0-A687-1CF04EED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222088-584B-4D30-90F2-6EC432E3709C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6C3ED9-9244-4B27-96AF-D1EF0EB83831}"/>
              </a:ext>
            </a:extLst>
          </p:cNvPr>
          <p:cNvSpPr/>
          <p:nvPr/>
        </p:nvSpPr>
        <p:spPr>
          <a:xfrm>
            <a:off x="7225553" y="2608729"/>
            <a:ext cx="726141" cy="555812"/>
          </a:xfrm>
          <a:prstGeom prst="ellipse">
            <a:avLst/>
          </a:prstGeom>
          <a:gradFill>
            <a:gsLst>
              <a:gs pos="44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FA428582-5CCB-4E66-AC00-E60331F192C8}"/>
              </a:ext>
            </a:extLst>
          </p:cNvPr>
          <p:cNvSpPr/>
          <p:nvPr/>
        </p:nvSpPr>
        <p:spPr>
          <a:xfrm>
            <a:off x="7664824" y="656296"/>
            <a:ext cx="3541058" cy="1434353"/>
          </a:xfrm>
          <a:prstGeom prst="cloudCallout">
            <a:avLst>
              <a:gd name="adj1" fmla="val -55263"/>
              <a:gd name="adj2" fmla="val 831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Cardinality: (1, n), depend 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4E44B6-6B35-A9EE-7B84-D09FCA67E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863" y="2455701"/>
            <a:ext cx="7174961" cy="97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306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3DFD8-7406-4D21-B479-D7A8F2DCC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5AC99-4106-47CA-BB65-11203CAEB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A data model that </a:t>
            </a:r>
            <a:r>
              <a:rPr lang="en-GB" dirty="0">
                <a:solidFill>
                  <a:srgbClr val="0070C0"/>
                </a:solidFill>
              </a:rPr>
              <a:t>captures which products are recorded in purchase invoices </a:t>
            </a:r>
            <a:r>
              <a:rPr lang="it-IT" dirty="0"/>
              <a:t>(e.g., rice, milk, salt)</a:t>
            </a:r>
            <a:r>
              <a:rPr lang="en-US" b="1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226CD-EBC7-4A59-A13D-AD69207A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B5AA9-C13A-4FE2-B667-84F408AE380C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01B71B-3A49-EA43-D1FB-32CD48535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844" y="3528234"/>
            <a:ext cx="7496312" cy="110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72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3DFD8-7406-4D21-B479-D7A8F2DCC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5AC99-4106-47CA-BB65-11203CAEB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A data model that represents purchase invoices along with the corresponding </a:t>
            </a:r>
            <a:r>
              <a:rPr lang="en-GB" dirty="0">
                <a:solidFill>
                  <a:srgbClr val="0070C0"/>
                </a:solidFill>
              </a:rPr>
              <a:t>quantities of products</a:t>
            </a:r>
            <a:r>
              <a:rPr lang="en-GB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C00000"/>
                </a:solidFill>
              </a:rPr>
              <a:t>Invoice HD00012654</a:t>
            </a:r>
            <a:r>
              <a:rPr lang="en-GB" dirty="0"/>
              <a:t> includes the purchase of </a:t>
            </a:r>
            <a:r>
              <a:rPr lang="en-GB" dirty="0">
                <a:solidFill>
                  <a:srgbClr val="00B050"/>
                </a:solidFill>
              </a:rPr>
              <a:t>2kg of ST25 rice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1kg of sugar</a:t>
            </a:r>
            <a:r>
              <a:rPr lang="en-GB" dirty="0"/>
              <a:t>, and </a:t>
            </a:r>
            <a:r>
              <a:rPr lang="en-GB" dirty="0">
                <a:solidFill>
                  <a:srgbClr val="00B050"/>
                </a:solidFill>
              </a:rPr>
              <a:t>1 bottle of cooking oil</a:t>
            </a:r>
            <a:r>
              <a:rPr lang="en-GB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C00000"/>
                </a:solidFill>
              </a:rPr>
              <a:t>Invoice HD00012666</a:t>
            </a:r>
            <a:r>
              <a:rPr lang="en-GB" dirty="0"/>
              <a:t> includes </a:t>
            </a:r>
            <a:r>
              <a:rPr lang="en-GB" dirty="0">
                <a:solidFill>
                  <a:srgbClr val="00B050"/>
                </a:solidFill>
              </a:rPr>
              <a:t>3kg of ST25 ric</a:t>
            </a:r>
            <a:r>
              <a:rPr lang="en-GB" dirty="0"/>
              <a:t>e and </a:t>
            </a:r>
            <a:r>
              <a:rPr lang="en-GB" dirty="0">
                <a:solidFill>
                  <a:srgbClr val="00B050"/>
                </a:solidFill>
              </a:rPr>
              <a:t>2 bottles of cooking oil</a:t>
            </a:r>
            <a:r>
              <a:rPr lang="en-GB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Each invoice</a:t>
            </a:r>
            <a:r>
              <a:rPr lang="en-GB" dirty="0"/>
              <a:t> may contain </a:t>
            </a:r>
            <a:r>
              <a:rPr lang="en-GB" dirty="0">
                <a:solidFill>
                  <a:srgbClr val="00B050"/>
                </a:solidFill>
              </a:rPr>
              <a:t>multiple products, with varying quantities for each product</a:t>
            </a:r>
            <a:r>
              <a:rPr lang="en-GB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Similarly, </a:t>
            </a:r>
            <a:r>
              <a:rPr lang="en-GB" dirty="0">
                <a:solidFill>
                  <a:srgbClr val="0070C0"/>
                </a:solidFill>
              </a:rPr>
              <a:t>a product</a:t>
            </a:r>
            <a:r>
              <a:rPr lang="en-GB" dirty="0"/>
              <a:t> can be purchased in </a:t>
            </a:r>
            <a:r>
              <a:rPr lang="en-GB" dirty="0">
                <a:solidFill>
                  <a:srgbClr val="00B050"/>
                </a:solidFill>
              </a:rPr>
              <a:t>different invoices with different quantities</a:t>
            </a:r>
            <a:r>
              <a:rPr lang="en-GB" dirty="0"/>
              <a:t>.</a:t>
            </a: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dirty="0"/>
              <a:t>👉 Therefore, </a:t>
            </a:r>
            <a:r>
              <a:rPr lang="en-GB" dirty="0">
                <a:solidFill>
                  <a:srgbClr val="FF0000"/>
                </a:solidFill>
              </a:rPr>
              <a:t>quantity is an attribute dependent on both the product and the invoice</a:t>
            </a:r>
            <a:r>
              <a:rPr lang="en-GB" dirty="0"/>
              <a:t>, and should be modelled as an attribute of the relationship between invoice and product.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226CD-EBC7-4A59-A13D-AD69207A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B5AA9-C13A-4FE2-B667-84F408AE380C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1112964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3DFD8-7406-4D21-B479-D7A8F2DCC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5AC99-4106-47CA-BB65-11203CAEB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The Crow's Foot notation does not support representing relationships with attributes.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Relationships that have attributes must be converted: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A weak entity with the attribute</a:t>
            </a:r>
            <a:r>
              <a:rPr lang="en-GB" dirty="0"/>
              <a:t> (the attribute of the relationship).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The weak entity depends on the two entities</a:t>
            </a:r>
            <a:r>
              <a:rPr lang="en-GB" dirty="0"/>
              <a:t> involved in the examined relationship.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226CD-EBC7-4A59-A13D-AD69207A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B5AA9-C13A-4FE2-B667-84F408AE380C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2838259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3DFD8-7406-4D21-B479-D7A8F2DCC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relationship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226CD-EBC7-4A59-A13D-AD69207A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B5AA9-C13A-4FE2-B667-84F408AE380C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1124F5-A206-2658-4642-A88DC9F92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686067-EDFC-2A8C-F9BD-8AE5F2156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348" y="3404669"/>
            <a:ext cx="9293304" cy="119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43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A027-DE1A-4CF7-A571-E7D38C303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824"/>
            <a:ext cx="10744200" cy="883864"/>
          </a:xfrm>
        </p:spPr>
        <p:txBody>
          <a:bodyPr>
            <a:normAutofit/>
          </a:bodyPr>
          <a:lstStyle/>
          <a:p>
            <a:r>
              <a:rPr lang="en-US" dirty="0"/>
              <a:t>N-</a:t>
            </a:r>
            <a:r>
              <a:rPr lang="en-US" dirty="0" err="1"/>
              <a:t>ary</a:t>
            </a:r>
            <a:r>
              <a:rPr lang="en-US" dirty="0"/>
              <a:t>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84682-ED3F-45DF-9576-B22B65FED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59" y="1827728"/>
            <a:ext cx="10515600" cy="4351338"/>
          </a:xfrm>
        </p:spPr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Suppose we need to manage student grade data. The management requirement is to identify which </a:t>
            </a:r>
            <a:r>
              <a:rPr lang="en-GB" dirty="0">
                <a:solidFill>
                  <a:srgbClr val="FF0000"/>
                </a:solidFill>
              </a:rPr>
              <a:t>student</a:t>
            </a:r>
            <a:r>
              <a:rPr lang="en-GB" dirty="0"/>
              <a:t> enrolled in which </a:t>
            </a:r>
            <a:r>
              <a:rPr lang="en-GB" dirty="0">
                <a:solidFill>
                  <a:srgbClr val="FF0000"/>
                </a:solidFill>
              </a:rPr>
              <a:t>course</a:t>
            </a:r>
            <a:r>
              <a:rPr lang="en-GB" dirty="0"/>
              <a:t>, in which </a:t>
            </a:r>
            <a:r>
              <a:rPr lang="en-GB" dirty="0">
                <a:solidFill>
                  <a:srgbClr val="FF0000"/>
                </a:solidFill>
              </a:rPr>
              <a:t>semester and academic year</a:t>
            </a:r>
            <a:r>
              <a:rPr lang="en-GB" dirty="0"/>
              <a:t>.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13DF3-2A2C-4C28-9797-419128CF3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B3554-268C-45DD-8259-3A2B7300CE7F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B440D4-80A4-4256-880F-11DE45F76421}"/>
              </a:ext>
            </a:extLst>
          </p:cNvPr>
          <p:cNvGrpSpPr/>
          <p:nvPr/>
        </p:nvGrpSpPr>
        <p:grpSpPr>
          <a:xfrm>
            <a:off x="1038543" y="3789294"/>
            <a:ext cx="4550392" cy="2884380"/>
            <a:chOff x="384119" y="3947929"/>
            <a:chExt cx="4550392" cy="2884380"/>
          </a:xfrm>
        </p:grpSpPr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704C7D99-9337-4C4A-AA90-9CB817998FD6}"/>
                </a:ext>
              </a:extLst>
            </p:cNvPr>
            <p:cNvSpPr/>
            <p:nvPr/>
          </p:nvSpPr>
          <p:spPr>
            <a:xfrm>
              <a:off x="384119" y="3947929"/>
              <a:ext cx="797858" cy="73510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1400" dirty="0"/>
                <a:t>Student</a:t>
              </a: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07E2D0F9-705B-46A5-8358-7DAB11BB29CF}"/>
                </a:ext>
              </a:extLst>
            </p:cNvPr>
            <p:cNvSpPr/>
            <p:nvPr/>
          </p:nvSpPr>
          <p:spPr>
            <a:xfrm>
              <a:off x="4136653" y="3966431"/>
              <a:ext cx="797858" cy="73510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Course</a:t>
              </a: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4D9D9809-53DC-4421-9A40-CDD330BC3E8D}"/>
                </a:ext>
              </a:extLst>
            </p:cNvPr>
            <p:cNvSpPr/>
            <p:nvPr/>
          </p:nvSpPr>
          <p:spPr>
            <a:xfrm>
              <a:off x="2253502" y="5962441"/>
              <a:ext cx="992269" cy="86986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Semester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18F2196-45F6-4180-BB0B-E98104361AEC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1181977" y="4315482"/>
              <a:ext cx="2954676" cy="1850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DAB6E9F-BFDD-4F62-9FD6-8CD3A495961C}"/>
                </a:ext>
              </a:extLst>
            </p:cNvPr>
            <p:cNvCxnSpPr>
              <a:cxnSpLocks/>
              <a:stCxn id="6" idx="4"/>
              <a:endCxn id="8" idx="2"/>
            </p:cNvCxnSpPr>
            <p:nvPr/>
          </p:nvCxnSpPr>
          <p:spPr>
            <a:xfrm>
              <a:off x="783048" y="4683035"/>
              <a:ext cx="1470454" cy="171434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590E162-AEA7-4270-B888-F58339A49EA7}"/>
                </a:ext>
              </a:extLst>
            </p:cNvPr>
            <p:cNvCxnSpPr>
              <a:cxnSpLocks/>
              <a:stCxn id="8" idx="6"/>
              <a:endCxn id="7" idx="4"/>
            </p:cNvCxnSpPr>
            <p:nvPr/>
          </p:nvCxnSpPr>
          <p:spPr>
            <a:xfrm flipV="1">
              <a:off x="3245771" y="4701537"/>
              <a:ext cx="1289811" cy="169583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Multiplication Sign 37">
            <a:extLst>
              <a:ext uri="{FF2B5EF4-FFF2-40B4-BE49-F238E27FC236}">
                <a16:creationId xmlns:a16="http://schemas.microsoft.com/office/drawing/2014/main" id="{0DDC3165-327D-4D0E-B274-799D98D8166E}"/>
              </a:ext>
            </a:extLst>
          </p:cNvPr>
          <p:cNvSpPr/>
          <p:nvPr/>
        </p:nvSpPr>
        <p:spPr>
          <a:xfrm>
            <a:off x="1437472" y="3321423"/>
            <a:ext cx="3819523" cy="329247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900963C-5A7D-486C-AD5B-7122D96458E3}"/>
              </a:ext>
            </a:extLst>
          </p:cNvPr>
          <p:cNvGrpSpPr/>
          <p:nvPr/>
        </p:nvGrpSpPr>
        <p:grpSpPr>
          <a:xfrm>
            <a:off x="7689501" y="3806143"/>
            <a:ext cx="3428487" cy="2807755"/>
            <a:chOff x="7689501" y="3806143"/>
            <a:chExt cx="3428487" cy="2807755"/>
          </a:xfrm>
        </p:grpSpPr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C66A4576-F5AB-4261-9926-9A1B3469C383}"/>
                </a:ext>
              </a:extLst>
            </p:cNvPr>
            <p:cNvSpPr/>
            <p:nvPr/>
          </p:nvSpPr>
          <p:spPr>
            <a:xfrm>
              <a:off x="7689501" y="3807796"/>
              <a:ext cx="797858" cy="73510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1400" dirty="0"/>
                <a:t>Student</a:t>
              </a:r>
            </a:p>
          </p:txBody>
        </p:sp>
        <p:sp>
          <p:nvSpPr>
            <p:cNvPr id="40" name="Flowchart: Connector 39">
              <a:extLst>
                <a:ext uri="{FF2B5EF4-FFF2-40B4-BE49-F238E27FC236}">
                  <a16:creationId xmlns:a16="http://schemas.microsoft.com/office/drawing/2014/main" id="{DA7AB15C-828F-4249-A87F-A78CEA6A2754}"/>
                </a:ext>
              </a:extLst>
            </p:cNvPr>
            <p:cNvSpPr/>
            <p:nvPr/>
          </p:nvSpPr>
          <p:spPr>
            <a:xfrm>
              <a:off x="10320130" y="3806143"/>
              <a:ext cx="797858" cy="73510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Course</a:t>
              </a:r>
            </a:p>
          </p:txBody>
        </p:sp>
        <p:sp>
          <p:nvSpPr>
            <p:cNvPr id="41" name="Flowchart: Connector 40">
              <a:extLst>
                <a:ext uri="{FF2B5EF4-FFF2-40B4-BE49-F238E27FC236}">
                  <a16:creationId xmlns:a16="http://schemas.microsoft.com/office/drawing/2014/main" id="{29E4880D-1FE2-4D77-B1A0-42E2DC24754D}"/>
                </a:ext>
              </a:extLst>
            </p:cNvPr>
            <p:cNvSpPr/>
            <p:nvPr/>
          </p:nvSpPr>
          <p:spPr>
            <a:xfrm>
              <a:off x="9016583" y="5621244"/>
              <a:ext cx="975166" cy="992654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Semester</a:t>
              </a:r>
            </a:p>
          </p:txBody>
        </p:sp>
        <p:sp>
          <p:nvSpPr>
            <p:cNvPr id="42" name="Flowchart: Connector 41">
              <a:extLst>
                <a:ext uri="{FF2B5EF4-FFF2-40B4-BE49-F238E27FC236}">
                  <a16:creationId xmlns:a16="http://schemas.microsoft.com/office/drawing/2014/main" id="{99E4C597-06E5-4552-B639-72A7AEC3DB9B}"/>
                </a:ext>
              </a:extLst>
            </p:cNvPr>
            <p:cNvSpPr/>
            <p:nvPr/>
          </p:nvSpPr>
          <p:spPr>
            <a:xfrm>
              <a:off x="9326012" y="4662860"/>
              <a:ext cx="349623" cy="322729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3D4AE40-A3E7-49A6-93C7-AFFC26F935D1}"/>
                </a:ext>
              </a:extLst>
            </p:cNvPr>
            <p:cNvCxnSpPr>
              <a:cxnSpLocks/>
              <a:stCxn id="42" idx="4"/>
              <a:endCxn id="41" idx="0"/>
            </p:cNvCxnSpPr>
            <p:nvPr/>
          </p:nvCxnSpPr>
          <p:spPr>
            <a:xfrm>
              <a:off x="9500824" y="4985589"/>
              <a:ext cx="3342" cy="63565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D88155-D2CB-4C58-9357-DF843EEB0F1C}"/>
                </a:ext>
              </a:extLst>
            </p:cNvPr>
            <p:cNvCxnSpPr>
              <a:cxnSpLocks/>
              <a:stCxn id="42" idx="7"/>
              <a:endCxn id="40" idx="2"/>
            </p:cNvCxnSpPr>
            <p:nvPr/>
          </p:nvCxnSpPr>
          <p:spPr>
            <a:xfrm flipV="1">
              <a:off x="9624434" y="4173696"/>
              <a:ext cx="695696" cy="53642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A092D03-DD42-4A2D-B567-EE3D96D3E0E1}"/>
                </a:ext>
              </a:extLst>
            </p:cNvPr>
            <p:cNvCxnSpPr>
              <a:stCxn id="42" idx="1"/>
              <a:endCxn id="39" idx="6"/>
            </p:cNvCxnSpPr>
            <p:nvPr/>
          </p:nvCxnSpPr>
          <p:spPr>
            <a:xfrm flipH="1" flipV="1">
              <a:off x="8487359" y="4175349"/>
              <a:ext cx="889854" cy="53477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415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A027-DE1A-4CF7-A571-E7D38C303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sz="3200" dirty="0"/>
              <a:t>N-</a:t>
            </a:r>
            <a:r>
              <a:rPr lang="en-US" sz="3200" dirty="0" err="1"/>
              <a:t>ary</a:t>
            </a:r>
            <a:r>
              <a:rPr lang="en-US" sz="3200" dirty="0"/>
              <a:t> relationship</a:t>
            </a:r>
            <a:endParaRPr lang="en-US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84682-ED3F-45DF-9576-B22B65FED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3694553" cy="3785419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A N-</a:t>
            </a:r>
            <a:r>
              <a:rPr lang="en-GB" sz="2400" dirty="0" err="1"/>
              <a:t>ary</a:t>
            </a:r>
            <a:r>
              <a:rPr lang="en-GB" sz="2400" dirty="0"/>
              <a:t> relationship is converted: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</a:pPr>
            <a:r>
              <a:rPr lang="en-GB" sz="2000" dirty="0">
                <a:solidFill>
                  <a:srgbClr val="FF0000"/>
                </a:solidFill>
              </a:rPr>
              <a:t>A weak entity</a:t>
            </a:r>
            <a:r>
              <a:rPr lang="en-GB" sz="2000" dirty="0"/>
              <a:t> </a:t>
            </a:r>
            <a:r>
              <a:rPr lang="en-GB" sz="2000" dirty="0">
                <a:solidFill>
                  <a:srgbClr val="0070C0"/>
                </a:solidFill>
              </a:rPr>
              <a:t>without attributes</a:t>
            </a:r>
            <a:r>
              <a:rPr lang="en-GB" sz="2000" dirty="0"/>
              <a:t>,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</a:pPr>
            <a:r>
              <a:rPr lang="en-GB" sz="2000" dirty="0">
                <a:solidFill>
                  <a:srgbClr val="FF0000"/>
                </a:solidFill>
              </a:rPr>
              <a:t>This weak entity</a:t>
            </a:r>
            <a:r>
              <a:rPr lang="en-GB" sz="2000" dirty="0"/>
              <a:t> </a:t>
            </a:r>
            <a:r>
              <a:rPr lang="en-GB" sz="2000" dirty="0">
                <a:solidFill>
                  <a:srgbClr val="0070C0"/>
                </a:solidFill>
              </a:rPr>
              <a:t>depends on all the entities</a:t>
            </a:r>
            <a:r>
              <a:rPr lang="en-GB" sz="2000" dirty="0"/>
              <a:t> involved in the relationship being modelled.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13DF3-2A2C-4C28-9797-419128CF3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FF8543-F9CB-4923-BC76-CA5367B4EDBF}" type="slidenum">
              <a:rPr lang="en-US">
                <a:solidFill>
                  <a:srgbClr val="303030"/>
                </a:solidFill>
              </a:rPr>
              <a:pPr>
                <a:spcAft>
                  <a:spcPts val="600"/>
                </a:spcAft>
              </a:pPr>
              <a:t>33</a:t>
            </a:fld>
            <a:endParaRPr lang="en-US">
              <a:solidFill>
                <a:srgbClr val="30303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B3554-268C-45DD-8259-3A2B7300CE7F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639B9D-BB66-3FB1-27A5-31DA9758C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487" y="1627540"/>
            <a:ext cx="6194583" cy="359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202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9F45-B362-48B9-A919-51C3F36D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6584B-CB72-4213-A4F5-9E71C29E7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Identify the inconsistencies in the following diagrams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GB" dirty="0"/>
              <a:t>Design the ERD for the following system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https://drive.google.com/file/d/1snXsFAsUfBQBhHP2fyuZtOBkq7hk1aMQ/view?usp=sharing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8BFE7-71AE-4A29-8E77-35472303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81FA01-15F0-4C62-936E-65AAA5E4A5D5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ENTITY – RELATIONSHIP DIAGRAM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425EBAA-B60C-41D5-849E-7A9798AEE799}"/>
              </a:ext>
            </a:extLst>
          </p:cNvPr>
          <p:cNvGrpSpPr/>
          <p:nvPr/>
        </p:nvGrpSpPr>
        <p:grpSpPr>
          <a:xfrm>
            <a:off x="1962570" y="2420471"/>
            <a:ext cx="8586844" cy="1595717"/>
            <a:chOff x="1962570" y="2420471"/>
            <a:chExt cx="8586844" cy="159571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2C3E4B5-5ED2-4258-84E7-CA2833888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2570" y="2486521"/>
              <a:ext cx="1202672" cy="133001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86BDF51-8D8F-4164-AB8F-68E9D948D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34539" y="2730685"/>
              <a:ext cx="4714875" cy="1085850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C722B7A-EE22-4C6D-B066-EFF5CED1112F}"/>
                </a:ext>
              </a:extLst>
            </p:cNvPr>
            <p:cNvCxnSpPr/>
            <p:nvPr/>
          </p:nvCxnSpPr>
          <p:spPr>
            <a:xfrm>
              <a:off x="4428565" y="2420471"/>
              <a:ext cx="0" cy="15957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1265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8BD42-1976-C0F0-B72B-F550A1789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311D0-B3B0-D069-F430-EE3EED626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LOGICAL DATA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1E4F06-0F04-0A87-3C43-A87A02174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44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8B45-8504-4085-B020-98C441524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 Logical Data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D85A1-9F1B-40BB-93E8-79CA6A35B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Within the scope of the course, the </a:t>
            </a:r>
            <a:r>
              <a:rPr lang="en-GB" dirty="0">
                <a:solidFill>
                  <a:srgbClr val="FF0000"/>
                </a:solidFill>
              </a:rPr>
              <a:t>relational data model</a:t>
            </a:r>
            <a:r>
              <a:rPr lang="en-GB" dirty="0"/>
              <a:t> is used to represent data at the logical level.</a:t>
            </a: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dirty="0"/>
              <a:t>➡️ </a:t>
            </a:r>
            <a:r>
              <a:rPr lang="en-GB" dirty="0">
                <a:solidFill>
                  <a:srgbClr val="FF0000"/>
                </a:solidFill>
              </a:rPr>
              <a:t>Convert</a:t>
            </a:r>
            <a:r>
              <a:rPr lang="en-GB" dirty="0">
                <a:solidFill>
                  <a:srgbClr val="0070C0"/>
                </a:solidFill>
              </a:rPr>
              <a:t> the Entity-Relationship model </a:t>
            </a:r>
            <a:r>
              <a:rPr lang="en-GB" dirty="0">
                <a:solidFill>
                  <a:srgbClr val="00B050"/>
                </a:solidFill>
              </a:rPr>
              <a:t>to the Relational data model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12A67-5229-40E7-BD9D-1A9136AC4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DA3FD-51DA-46CC-876E-EA69630AB12C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LOGICAL DATA MODEL</a:t>
            </a:r>
          </a:p>
        </p:txBody>
      </p:sp>
    </p:spTree>
    <p:extLst>
      <p:ext uri="{BB962C8B-B14F-4D97-AF65-F5344CB8AC3E}">
        <p14:creationId xmlns:p14="http://schemas.microsoft.com/office/powerpoint/2010/main" val="14035870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39F6-FEE0-4EA4-9770-BAC84F6B8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Rule 1: Mapping regular 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AE135-4545-41BA-A607-8C75BAA35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For each regular entity, </a:t>
            </a:r>
            <a:r>
              <a:rPr lang="en-GB" dirty="0"/>
              <a:t>create a new relational </a:t>
            </a:r>
            <a:r>
              <a:rPr lang="en-GB" dirty="0">
                <a:solidFill>
                  <a:srgbClr val="0070C0"/>
                </a:solidFill>
              </a:rPr>
              <a:t>independent table that includes all attributes as column</a:t>
            </a:r>
            <a:r>
              <a:rPr lang="en-GB" dirty="0"/>
              <a:t>.</a:t>
            </a:r>
            <a:endParaRPr lang="en-US" dirty="0"/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BF394-2774-414A-8FE4-C75099DD4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E261E-C77E-41CC-8E18-4DA44DE13DCE}"/>
              </a:ext>
            </a:extLst>
          </p:cNvPr>
          <p:cNvSpPr txBox="1"/>
          <p:nvPr/>
        </p:nvSpPr>
        <p:spPr>
          <a:xfrm>
            <a:off x="5235389" y="107577"/>
            <a:ext cx="687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LOGICAL DATA MODEL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A09EFD3-4BD6-437B-A795-3D646E538246}"/>
              </a:ext>
            </a:extLst>
          </p:cNvPr>
          <p:cNvGrpSpPr/>
          <p:nvPr/>
        </p:nvGrpSpPr>
        <p:grpSpPr>
          <a:xfrm>
            <a:off x="2888877" y="4111870"/>
            <a:ext cx="6414246" cy="1090589"/>
            <a:chOff x="1098177" y="4165658"/>
            <a:chExt cx="6414246" cy="109058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A719F03-8A22-43D7-B31A-B7EBBF547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8177" y="4165658"/>
              <a:ext cx="1290274" cy="109058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EB0E3D-552B-4E8B-8735-759514160DE9}"/>
                </a:ext>
              </a:extLst>
            </p:cNvPr>
            <p:cNvSpPr txBox="1"/>
            <p:nvPr/>
          </p:nvSpPr>
          <p:spPr>
            <a:xfrm>
              <a:off x="2648428" y="4526286"/>
              <a:ext cx="4863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 	SINH_VIEN (</a:t>
              </a:r>
              <a:r>
                <a:rPr lang="en-US" b="1" dirty="0" err="1">
                  <a:sym typeface="Wingdings" panose="05000000000000000000" pitchFamily="2" charset="2"/>
                </a:rPr>
                <a:t>SV_MaSV</a:t>
              </a:r>
              <a:r>
                <a:rPr lang="en-US" dirty="0">
                  <a:sym typeface="Wingdings" panose="05000000000000000000" pitchFamily="2" charset="2"/>
                </a:rPr>
                <a:t>, </a:t>
              </a:r>
              <a:r>
                <a:rPr lang="en-US" dirty="0" err="1">
                  <a:sym typeface="Wingdings" panose="05000000000000000000" pitchFamily="2" charset="2"/>
                </a:rPr>
                <a:t>SV_HoTen</a:t>
              </a:r>
              <a:r>
                <a:rPr lang="en-US" dirty="0">
                  <a:sym typeface="Wingdings" panose="05000000000000000000" pitchFamily="2" charset="2"/>
                </a:rPr>
                <a:t>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424621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B4EBF-D3D5-4C63-9B4F-FF0981043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65" y="806824"/>
            <a:ext cx="10515600" cy="883864"/>
          </a:xfrm>
        </p:spPr>
        <p:txBody>
          <a:bodyPr>
            <a:normAutofit fontScale="90000"/>
          </a:bodyPr>
          <a:lstStyle/>
          <a:p>
            <a:r>
              <a:rPr lang="en-US" dirty="0"/>
              <a:t>Rule 2: Converting Generalization Hierarchies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5B86E-8220-4467-96B9-82BAC6AC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965" y="1825625"/>
            <a:ext cx="5867400" cy="435133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GB" dirty="0"/>
              <a:t>Convert </a:t>
            </a:r>
            <a:r>
              <a:rPr lang="en-GB" dirty="0">
                <a:solidFill>
                  <a:srgbClr val="0070C0"/>
                </a:solidFill>
              </a:rPr>
              <a:t>each entity of a generalization hierarchy </a:t>
            </a:r>
            <a:r>
              <a:rPr lang="en-GB" dirty="0">
                <a:solidFill>
                  <a:srgbClr val="FF0000"/>
                </a:solidFill>
              </a:rPr>
              <a:t>into a table</a:t>
            </a:r>
            <a:r>
              <a:rPr lang="en-GB" dirty="0"/>
              <a:t>. 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only column appearing that are different</a:t>
            </a:r>
            <a:r>
              <a:rPr lang="en-GB" dirty="0"/>
              <a:t> from attributes in the associated ERD is the </a:t>
            </a:r>
            <a:r>
              <a:rPr lang="en-GB" dirty="0">
                <a:solidFill>
                  <a:srgbClr val="FF0000"/>
                </a:solidFill>
              </a:rPr>
              <a:t>inherited Identifier</a:t>
            </a:r>
            <a:r>
              <a:rPr lang="en-GB" dirty="0"/>
              <a:t>.</a:t>
            </a:r>
            <a:endParaRPr lang="en-US" dirty="0"/>
          </a:p>
          <a:p>
            <a:pPr algn="just">
              <a:lnSpc>
                <a:spcPct val="12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20510-9783-4AC8-810E-11CF5618D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830" y="6293305"/>
            <a:ext cx="2743200" cy="365125"/>
          </a:xfrm>
        </p:spPr>
        <p:txBody>
          <a:bodyPr/>
          <a:lstStyle/>
          <a:p>
            <a:fld id="{AFFF8543-F9CB-4923-BC76-CA5367B4EDBF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D3393-A957-4081-846F-227552AB752A}"/>
              </a:ext>
            </a:extLst>
          </p:cNvPr>
          <p:cNvSpPr txBox="1"/>
          <p:nvPr/>
        </p:nvSpPr>
        <p:spPr>
          <a:xfrm>
            <a:off x="5235389" y="107577"/>
            <a:ext cx="687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LOGICAL DATA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5BFF65-CCD1-4D60-9913-AEF4A67A3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852" y="1690688"/>
            <a:ext cx="3621906" cy="32171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9A2B66-6955-4CCF-5F7B-235BDF6F9789}"/>
              </a:ext>
            </a:extLst>
          </p:cNvPr>
          <p:cNvSpPr txBox="1"/>
          <p:nvPr/>
        </p:nvSpPr>
        <p:spPr>
          <a:xfrm>
            <a:off x="3728110" y="4988461"/>
            <a:ext cx="728045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NHAN_VIEN 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NV_MaNV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NV_HoTen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NV_GioiTinh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NV_NgaySinh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NV_CMND)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HANH_CHINH 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NV_MaNV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TAI_XE 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NV_MaNV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TX_SoHieuBangLai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954312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30C6-7B2E-489A-8C34-81B20A4C6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3: Mapping weak 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C6790-7AE5-4971-A802-9DB0D29DA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Convert </a:t>
            </a:r>
            <a:r>
              <a:rPr lang="en-GB" dirty="0">
                <a:solidFill>
                  <a:srgbClr val="FF0000"/>
                </a:solidFill>
              </a:rPr>
              <a:t>every weak entity set into a table</a:t>
            </a:r>
            <a:r>
              <a:rPr lang="en-GB" dirty="0"/>
              <a:t> where: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we take the discrimination attribute of the weak entity set and takes the </a:t>
            </a:r>
            <a:r>
              <a:rPr lang="en-GB" dirty="0">
                <a:solidFill>
                  <a:srgbClr val="0070C0"/>
                </a:solidFill>
              </a:rPr>
              <a:t>identifier of the strong entity set as a foreign key</a:t>
            </a:r>
            <a:r>
              <a:rPr lang="en-GB" dirty="0"/>
              <a:t>,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and then declared the </a:t>
            </a:r>
            <a:r>
              <a:rPr lang="en-GB" dirty="0">
                <a:solidFill>
                  <a:srgbClr val="FF0000"/>
                </a:solidFill>
              </a:rPr>
              <a:t>combination of discriminator attribute and foreign key as a primary key</a:t>
            </a:r>
            <a:r>
              <a:rPr lang="en-GB" dirty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675CD-526C-46AE-BE10-CCDFBDB6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0110D-87BC-4483-BFCF-90BDD5894F5E}"/>
              </a:ext>
            </a:extLst>
          </p:cNvPr>
          <p:cNvSpPr txBox="1"/>
          <p:nvPr/>
        </p:nvSpPr>
        <p:spPr>
          <a:xfrm>
            <a:off x="5235389" y="107577"/>
            <a:ext cx="687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LOGICAL DATA MODEL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868E8E-4D68-9825-FBE9-B64F51B5311D}"/>
              </a:ext>
            </a:extLst>
          </p:cNvPr>
          <p:cNvGrpSpPr/>
          <p:nvPr/>
        </p:nvGrpSpPr>
        <p:grpSpPr>
          <a:xfrm>
            <a:off x="2269740" y="4741999"/>
            <a:ext cx="7652518" cy="1665796"/>
            <a:chOff x="2269740" y="4741999"/>
            <a:chExt cx="7652518" cy="166579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CD88F84-BEC3-41D9-9F1B-0370188F1750}"/>
                </a:ext>
              </a:extLst>
            </p:cNvPr>
            <p:cNvSpPr txBox="1"/>
            <p:nvPr/>
          </p:nvSpPr>
          <p:spPr>
            <a:xfrm>
              <a:off x="2269740" y="5761464"/>
              <a:ext cx="76525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ð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BUILDING (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BUILDING_No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,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BUILDING_Address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,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BUILDING_Name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)</a:t>
              </a:r>
            </a:p>
            <a:p>
              <a:pPr marL="285750" indent="-285750">
                <a:buFont typeface="Wingdings" panose="05000000000000000000" pitchFamily="2" charset="2"/>
                <a:buChar char="ð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APARTMENT (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APARTMENT_No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BUILDING_No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APARTMENT_Floor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28D1ABB-9C90-102A-1E58-717A91965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8519" y="4741999"/>
              <a:ext cx="7174961" cy="9732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8198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5FE9-30BF-462D-8D5A-2C0E05620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Rule 4: Mapping Strong Dependency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1E8CD-38FC-4F1B-88B1-8F1B379F7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Strong Dependency (one </a:t>
            </a:r>
            <a:r>
              <a:rPr lang="en-GB" dirty="0"/>
              <a:t>cardinality of the relationship is {1, 1}</a:t>
            </a:r>
            <a:r>
              <a:rPr lang="en-US" dirty="0"/>
              <a:t>)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Represents a relationship where the </a:t>
            </a:r>
            <a:r>
              <a:rPr lang="en-GB" dirty="0">
                <a:solidFill>
                  <a:srgbClr val="FF0000"/>
                </a:solidFill>
              </a:rPr>
              <a:t>source entity</a:t>
            </a:r>
            <a:r>
              <a:rPr lang="en-GB" dirty="0"/>
              <a:t> </a:t>
            </a:r>
            <a:r>
              <a:rPr lang="en-GB" dirty="0">
                <a:solidFill>
                  <a:srgbClr val="0070C0"/>
                </a:solidFill>
              </a:rPr>
              <a:t>completely depends</a:t>
            </a:r>
            <a:r>
              <a:rPr lang="en-GB" dirty="0"/>
              <a:t> on the </a:t>
            </a:r>
            <a:r>
              <a:rPr lang="en-GB" dirty="0">
                <a:solidFill>
                  <a:srgbClr val="00B050"/>
                </a:solidFill>
              </a:rPr>
              <a:t>target entity</a:t>
            </a:r>
            <a:r>
              <a:rPr lang="en-GB" dirty="0"/>
              <a:t> for its existence.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B050"/>
                </a:solidFill>
              </a:rPr>
              <a:t>The target entity</a:t>
            </a:r>
            <a:r>
              <a:rPr lang="en-GB" dirty="0"/>
              <a:t> is transformed into a table using Rule 1.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0070C0"/>
                </a:solidFill>
              </a:rPr>
              <a:t>The source entity</a:t>
            </a:r>
            <a:r>
              <a:rPr lang="en-GB" dirty="0"/>
              <a:t> becomes a table, including: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</a:pPr>
            <a:r>
              <a:rPr lang="en-GB" dirty="0"/>
              <a:t>All attributes from the source entity.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The identifier of the target entity</a:t>
            </a:r>
            <a:r>
              <a:rPr lang="en-GB" dirty="0"/>
              <a:t>, which becomes a </a:t>
            </a:r>
            <a:r>
              <a:rPr lang="en-GB" dirty="0">
                <a:solidFill>
                  <a:srgbClr val="FF0000"/>
                </a:solidFill>
              </a:rPr>
              <a:t>foreign key in the source table</a:t>
            </a:r>
            <a:r>
              <a:rPr lang="en-GB" dirty="0"/>
              <a:t>.</a:t>
            </a:r>
            <a:endParaRPr lang="en-US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0B20B-861E-4DEC-A5FA-DD0521783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3655D-CEF9-4CAC-A105-46BFA1178B00}"/>
              </a:ext>
            </a:extLst>
          </p:cNvPr>
          <p:cNvSpPr txBox="1"/>
          <p:nvPr/>
        </p:nvSpPr>
        <p:spPr>
          <a:xfrm>
            <a:off x="5235389" y="107577"/>
            <a:ext cx="687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LOGICAL DATA MODEL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9B1BE11-5786-49F0-8FA1-61132A51936E}"/>
              </a:ext>
            </a:extLst>
          </p:cNvPr>
          <p:cNvGrpSpPr/>
          <p:nvPr/>
        </p:nvGrpSpPr>
        <p:grpSpPr>
          <a:xfrm>
            <a:off x="200815" y="5573609"/>
            <a:ext cx="11790369" cy="1147866"/>
            <a:chOff x="209846" y="4761958"/>
            <a:chExt cx="11790369" cy="114786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F08DA21-C62D-4B7F-B47C-A8B74BA11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9846" y="4761958"/>
              <a:ext cx="5617213" cy="114786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7465C3-296A-4001-B710-3D28443AE26C}"/>
                </a:ext>
              </a:extLst>
            </p:cNvPr>
            <p:cNvSpPr txBox="1"/>
            <p:nvPr/>
          </p:nvSpPr>
          <p:spPr>
            <a:xfrm>
              <a:off x="6096000" y="5074281"/>
              <a:ext cx="59042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ð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THUEBAO_DIENTHOAI (</a:t>
              </a:r>
              <a:r>
                <a:rPr lang="en-US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TB_SoThueBao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, </a:t>
              </a:r>
              <a:r>
                <a:rPr lang="en-US" sz="14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CD_CMND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)</a:t>
              </a:r>
            </a:p>
            <a:p>
              <a:pPr marL="285750" indent="-285750">
                <a:buFont typeface="Wingdings" panose="05000000000000000000" pitchFamily="2" charset="2"/>
                <a:buChar char="ð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CONGDAN (</a:t>
              </a:r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CD_CMND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CD_HoTen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CD_NgaySinh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CD_GioiTinh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07526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5FE9-30BF-462D-8D5A-2C0E05620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1E8CD-38FC-4F1B-88B1-8F1B379F7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0B20B-861E-4DEC-A5FA-DD0521783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3655D-CEF9-4CAC-A105-46BFA1178B00}"/>
              </a:ext>
            </a:extLst>
          </p:cNvPr>
          <p:cNvSpPr txBox="1"/>
          <p:nvPr/>
        </p:nvSpPr>
        <p:spPr>
          <a:xfrm>
            <a:off x="5235389" y="107577"/>
            <a:ext cx="687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LOGICAL DATA MODEL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5D4719-CE9A-46BF-BE62-DF179BDE0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495" y="2455146"/>
            <a:ext cx="7795010" cy="155569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76C53F-1E48-4E56-A643-5DD4D2E4B9B1}"/>
              </a:ext>
            </a:extLst>
          </p:cNvPr>
          <p:cNvSpPr txBox="1"/>
          <p:nvPr/>
        </p:nvSpPr>
        <p:spPr>
          <a:xfrm>
            <a:off x="2052918" y="5859498"/>
            <a:ext cx="8086164" cy="584775"/>
          </a:xfrm>
          <a:prstGeom prst="rect">
            <a:avLst/>
          </a:prstGeom>
          <a:pattFill prst="dkHorz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ð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SINH_VIEN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SV_MSSV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SV_HoTen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SV_NgaySinh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SV_GioiTinh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16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TK_TenNguoiDung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ð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TAIKHOAN_MAYTINH 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TK_TenNguoiDung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TK_MatKhau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SV_MSSV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2F40F4B6-9A92-4344-884F-A26A25B74043}"/>
              </a:ext>
            </a:extLst>
          </p:cNvPr>
          <p:cNvSpPr/>
          <p:nvPr/>
        </p:nvSpPr>
        <p:spPr>
          <a:xfrm>
            <a:off x="8916772" y="4010838"/>
            <a:ext cx="2444619" cy="1862872"/>
          </a:xfrm>
          <a:prstGeom prst="cloudCallout">
            <a:avLst>
              <a:gd name="adj1" fmla="val -146208"/>
              <a:gd name="adj2" fmla="val 433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dirty="0"/>
              <a:t>Is something wrong?</a:t>
            </a:r>
          </a:p>
        </p:txBody>
      </p:sp>
    </p:spTree>
    <p:extLst>
      <p:ext uri="{BB962C8B-B14F-4D97-AF65-F5344CB8AC3E}">
        <p14:creationId xmlns:p14="http://schemas.microsoft.com/office/powerpoint/2010/main" val="107073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7EAF3-B223-4A56-B617-DF94E4065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5: Mapping Weak Dependency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27228-CEA9-40D4-A9BC-FE59C687D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Weak Dependency (one cardinality of the relationship is {0, 1})</a:t>
            </a:r>
            <a:r>
              <a:rPr lang="en-US" dirty="0"/>
              <a:t>:</a:t>
            </a:r>
            <a:endParaRPr lang="vi-VN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Create a new table</a:t>
            </a:r>
            <a:r>
              <a:rPr lang="en-GB" dirty="0"/>
              <a:t> (table name is the name of the weak dependency), consisting of two attributes which are the identifiers of the two corresponding entities. 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solidFill>
                  <a:srgbClr val="FF0000"/>
                </a:solidFill>
              </a:rPr>
              <a:t>The primary key</a:t>
            </a:r>
            <a:r>
              <a:rPr lang="en-GB" dirty="0"/>
              <a:t> of the new table is </a:t>
            </a:r>
            <a:r>
              <a:rPr lang="en-GB" dirty="0">
                <a:solidFill>
                  <a:srgbClr val="0070C0"/>
                </a:solidFill>
              </a:rPr>
              <a:t>these two attributes</a:t>
            </a:r>
            <a:r>
              <a:rPr lang="en-GB" dirty="0"/>
              <a:t>.</a:t>
            </a:r>
            <a:endParaRPr lang="vi-VN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DA55B-ED63-4E6C-ABA3-F4C1485D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90C1D-0B93-4A25-9141-32E75D52A56F}"/>
              </a:ext>
            </a:extLst>
          </p:cNvPr>
          <p:cNvSpPr txBox="1"/>
          <p:nvPr/>
        </p:nvSpPr>
        <p:spPr>
          <a:xfrm>
            <a:off x="5235389" y="107577"/>
            <a:ext cx="687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LOGICAL DATA MODEL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7E0945-5B97-4168-B5CE-26E74DA3B27B}"/>
              </a:ext>
            </a:extLst>
          </p:cNvPr>
          <p:cNvGrpSpPr/>
          <p:nvPr/>
        </p:nvGrpSpPr>
        <p:grpSpPr>
          <a:xfrm>
            <a:off x="1209998" y="4806924"/>
            <a:ext cx="10551697" cy="973155"/>
            <a:chOff x="654186" y="4892767"/>
            <a:chExt cx="10551697" cy="97315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9B6385-E7F5-47A5-822C-F530F8FE5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4186" y="4892767"/>
              <a:ext cx="5934874" cy="97315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B670E5-59FD-4F67-A9DF-F81E45AE5DED}"/>
                </a:ext>
              </a:extLst>
            </p:cNvPr>
            <p:cNvSpPr txBox="1"/>
            <p:nvPr/>
          </p:nvSpPr>
          <p:spPr>
            <a:xfrm>
              <a:off x="7602072" y="5010012"/>
              <a:ext cx="360381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ð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KHOA (</a:t>
              </a:r>
              <a:r>
                <a:rPr lang="en-US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KHOA_Ma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,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KHOA_Ten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)</a:t>
              </a:r>
            </a:p>
            <a:p>
              <a:pPr marL="285750" indent="-285750">
                <a:buFont typeface="Wingdings" panose="05000000000000000000" pitchFamily="2" charset="2"/>
                <a:buChar char="ð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BO_MON (</a:t>
              </a:r>
              <a:r>
                <a:rPr lang="en-US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BM_Ma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BM_Ten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85750" indent="-285750">
                <a:buFont typeface="Wingdings" panose="05000000000000000000" pitchFamily="2" charset="2"/>
                <a:buChar char="ð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BAO_GOM (</a:t>
              </a:r>
              <a:r>
                <a:rPr lang="en-US" sz="1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KHOA_Ma</a:t>
              </a:r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BM_Ma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2432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39EB1-0B9C-43AC-B35F-B742CFCA8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6: Mapping N, N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CFC05-65D0-414E-B6F2-58A19CD77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Create a new table include in the new relation: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The primary key of the table will be the combination of identifiers of participating entities.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AD8F3-E6FB-49A0-BE6F-90344C8B4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7F9364-67F1-4019-9A2A-355EC07892D9}"/>
              </a:ext>
            </a:extLst>
          </p:cNvPr>
          <p:cNvSpPr txBox="1"/>
          <p:nvPr/>
        </p:nvSpPr>
        <p:spPr>
          <a:xfrm>
            <a:off x="5235389" y="107577"/>
            <a:ext cx="687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LOGICAL DATA MODEL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87DECC6-2076-4C6F-93E6-760F25711FD3}"/>
              </a:ext>
            </a:extLst>
          </p:cNvPr>
          <p:cNvGrpSpPr/>
          <p:nvPr/>
        </p:nvGrpSpPr>
        <p:grpSpPr>
          <a:xfrm>
            <a:off x="520876" y="3701827"/>
            <a:ext cx="11150247" cy="1986757"/>
            <a:chOff x="957544" y="4560243"/>
            <a:chExt cx="11150247" cy="198675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30BB7DA-833C-4723-999D-9C7CAC59E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7544" y="4560243"/>
              <a:ext cx="2807633" cy="1986757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F4EB0F6-ED4E-4C61-A210-E58641287422}"/>
                </a:ext>
              </a:extLst>
            </p:cNvPr>
            <p:cNvSpPr txBox="1"/>
            <p:nvPr/>
          </p:nvSpPr>
          <p:spPr>
            <a:xfrm>
              <a:off x="4084379" y="5292011"/>
              <a:ext cx="80234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ð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HOC_PHAN (</a:t>
              </a:r>
              <a:r>
                <a:rPr lang="en-US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HP_MaHP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,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HP_TenHP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,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HP_SoTC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,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HP_SoTC_LyThuyet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,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HP_SoTC_ThucHanh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)</a:t>
              </a:r>
            </a:p>
            <a:p>
              <a:pPr marL="285750" indent="-285750">
                <a:buFont typeface="Wingdings" panose="05000000000000000000" pitchFamily="2" charset="2"/>
                <a:buChar char="ð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CO_MON_TIEN_QUYET (</a:t>
              </a:r>
              <a:r>
                <a:rPr lang="en-US" sz="1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HP_MaHP</a:t>
              </a:r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HP_MaHP_TienQuyet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67170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F81E4-53C5-4D41-98CF-A433BBCD5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2560B-4F61-4846-9409-04CCB9FF7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Design the ERD for the following system</a:t>
            </a:r>
          </a:p>
          <a:p>
            <a:pPr lvl="1"/>
            <a:r>
              <a:rPr lang="en-US" dirty="0">
                <a:hlinkClick r:id="rId2"/>
              </a:rPr>
              <a:t>https://docs.google.com/document/d/1NgaewywHymvjP1whUVoQCosxB7W7z-zE/edit?usp=sharing&amp;ouid=107300846974611878794&amp;rtpof=true&amp;sd=true</a:t>
            </a:r>
            <a:endParaRPr lang="en-US" dirty="0"/>
          </a:p>
          <a:p>
            <a:r>
              <a:rPr lang="en-US" dirty="0"/>
              <a:t>Convert the designing ERD to Relation Data model.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5E97B-3E18-446C-A9D6-853080E9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D6D14C-D6D4-4161-925F-A83ECD1E5B3B}"/>
              </a:ext>
            </a:extLst>
          </p:cNvPr>
          <p:cNvSpPr txBox="1"/>
          <p:nvPr/>
        </p:nvSpPr>
        <p:spPr>
          <a:xfrm>
            <a:off x="5235389" y="107577"/>
            <a:ext cx="687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LOGICAL DATA MODEL</a:t>
            </a:r>
          </a:p>
        </p:txBody>
      </p:sp>
    </p:spTree>
    <p:extLst>
      <p:ext uri="{BB962C8B-B14F-4D97-AF65-F5344CB8AC3E}">
        <p14:creationId xmlns:p14="http://schemas.microsoft.com/office/powerpoint/2010/main" val="39263091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7BDF5-183D-18A8-920B-F7728F8A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54FA4-7C02-2571-003D-D0998B0CE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PHYSICAL DATA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411568-FCF2-741D-D761-30020EA94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521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2F9B3-4A07-4149-A511-A7E752565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 Physical Data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95D25-0237-4694-8D03-A9F15E8EC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The database structure is based on the relational schema obtained during the logical-level data model design phase.</a:t>
            </a:r>
            <a:endParaRPr lang="en-US" dirty="0"/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B050"/>
                </a:solidFill>
              </a:rPr>
              <a:t>Choosing a suitable database management system (DBMS)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6BF84-D723-4907-8822-1A63542D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2C973-B888-4644-A509-122550CB6CDC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PHYSICAL DATA MODEL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BDD4D1-EBBB-3376-B552-180B39B68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880" y="3623906"/>
            <a:ext cx="5537719" cy="28322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0C8482-3FA8-6F27-C06F-10E4BECA5652}"/>
              </a:ext>
            </a:extLst>
          </p:cNvPr>
          <p:cNvSpPr txBox="1"/>
          <p:nvPr/>
        </p:nvSpPr>
        <p:spPr>
          <a:xfrm>
            <a:off x="3272702" y="6456175"/>
            <a:ext cx="513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https://db-engines.com/en/ranking/relational+dbms</a:t>
            </a:r>
          </a:p>
        </p:txBody>
      </p:sp>
    </p:spTree>
    <p:extLst>
      <p:ext uri="{BB962C8B-B14F-4D97-AF65-F5344CB8AC3E}">
        <p14:creationId xmlns:p14="http://schemas.microsoft.com/office/powerpoint/2010/main" val="3700186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B685F-4DD1-4A01-8E82-EB759CFC4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 Physical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92285-B399-4CC3-90FD-BEDE17BB7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873759" cy="4351338"/>
          </a:xfrm>
        </p:spPr>
        <p:txBody>
          <a:bodyPr>
            <a:normAutofit fontScale="92500"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Select the storage format for each attribute in the physical database model: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data type, minimum and maximum storage space, length, number of decimal digits, minimum value, maximum value …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8DA2C-C43C-4B2D-9BC6-9F96455A8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BBA5C-266F-4CA5-8017-487912E20D97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PHYSICAL DATA MODEL</a:t>
            </a:r>
          </a:p>
        </p:txBody>
      </p:sp>
      <p:pic>
        <p:nvPicPr>
          <p:cNvPr id="1026" name="Picture 2" descr="pgModeler">
            <a:extLst>
              <a:ext uri="{FF2B5EF4-FFF2-40B4-BE49-F238E27FC236}">
                <a16:creationId xmlns:a16="http://schemas.microsoft.com/office/drawing/2014/main" id="{446FF006-6399-31F5-F9E3-62AD339AE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278721"/>
            <a:ext cx="6096000" cy="286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7617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419C-B285-4206-96D1-46AA1CE87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08640-A210-45B2-80BB-C5200B1C4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Reference Data</a:t>
            </a:r>
            <a:r>
              <a:rPr lang="en-US" dirty="0"/>
              <a:t> (persistence data)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B050"/>
                </a:solidFill>
              </a:rPr>
              <a:t>Transactional Data 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</a:rPr>
              <a:t>Temporal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959F4-37F9-4E83-B9A0-7BDD34CF6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49F803-5922-47DC-A698-84553E272A75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PHYSICAL DATA MODEL</a:t>
            </a:r>
          </a:p>
        </p:txBody>
      </p:sp>
    </p:spTree>
    <p:extLst>
      <p:ext uri="{BB962C8B-B14F-4D97-AF65-F5344CB8AC3E}">
        <p14:creationId xmlns:p14="http://schemas.microsoft.com/office/powerpoint/2010/main" val="38504889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F6ABA-834D-4475-9731-48B86FE0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53A1B-150E-4AFF-A75C-E5F639EAA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Reference data is a </a:t>
            </a:r>
            <a:r>
              <a:rPr lang="en-GB" dirty="0">
                <a:solidFill>
                  <a:srgbClr val="FF0000"/>
                </a:solidFill>
              </a:rPr>
              <a:t>set of standardized, fixed values</a:t>
            </a:r>
            <a:r>
              <a:rPr lang="en-GB" dirty="0"/>
              <a:t> used to classify, categorize, or provide context to other data across systems and processes.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Typically </a:t>
            </a:r>
            <a:r>
              <a:rPr lang="en-GB" dirty="0">
                <a:solidFill>
                  <a:srgbClr val="FF0000"/>
                </a:solidFill>
              </a:rPr>
              <a:t>static or slow-changing over time</a:t>
            </a:r>
            <a:r>
              <a:rPr lang="en-GB" dirty="0"/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Used for validation, classification, and data consistency.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Often stored in lookup tables or controlled vocabularies.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i="1" dirty="0"/>
              <a:t>Examples include: country codes, currency codes, product categories, …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62D36-75C8-47B7-A09D-5A728655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8341B1-5C3A-42B5-B54E-2FB3C8845CB5}"/>
              </a:ext>
            </a:extLst>
          </p:cNvPr>
          <p:cNvSpPr txBox="1"/>
          <p:nvPr/>
        </p:nvSpPr>
        <p:spPr>
          <a:xfrm>
            <a:off x="5280213" y="107577"/>
            <a:ext cx="6827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PHYSICAL DATA MODEL</a:t>
            </a:r>
          </a:p>
        </p:txBody>
      </p:sp>
    </p:spTree>
    <p:extLst>
      <p:ext uri="{BB962C8B-B14F-4D97-AF65-F5344CB8AC3E}">
        <p14:creationId xmlns:p14="http://schemas.microsoft.com/office/powerpoint/2010/main" val="31249513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89B1A-E085-40BC-BA52-405A5FCB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A0FB1-8227-40AB-8F1F-309883F0E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</p:spPr>
        <p:txBody>
          <a:bodyPr>
            <a:normAutofit fontScale="925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Transactional data</a:t>
            </a:r>
            <a:r>
              <a:rPr lang="en-GB" dirty="0"/>
              <a:t> refers to </a:t>
            </a:r>
            <a:r>
              <a:rPr lang="en-GB" dirty="0">
                <a:solidFill>
                  <a:srgbClr val="0070C0"/>
                </a:solidFill>
              </a:rPr>
              <a:t>the data generated during business operations</a:t>
            </a:r>
            <a:r>
              <a:rPr lang="en-GB" dirty="0"/>
              <a:t>, capturing specific events such as purchases, payments, orders, or system interactions …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Dynamic and time-sensitive</a:t>
            </a:r>
            <a:r>
              <a:rPr lang="en-GB" dirty="0"/>
              <a:t>, constantly updated as transactions occur.</a:t>
            </a:r>
            <a:r>
              <a:rPr lang="en-US" dirty="0"/>
              <a:t>	</a:t>
            </a:r>
            <a:endParaRPr lang="vi-VN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70C0"/>
                </a:solidFill>
              </a:rPr>
              <a:t>Storage method</a:t>
            </a:r>
            <a:r>
              <a:rPr lang="en-GB" dirty="0"/>
              <a:t>: Centralized or distributed?</a:t>
            </a:r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7EB0B-3218-4FF9-BABC-4087B6139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50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CD948-4EF0-4059-AA8B-87E538C2052E}"/>
              </a:ext>
            </a:extLst>
          </p:cNvPr>
          <p:cNvSpPr txBox="1"/>
          <p:nvPr/>
        </p:nvSpPr>
        <p:spPr>
          <a:xfrm>
            <a:off x="5280213" y="107577"/>
            <a:ext cx="6827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PHYSICAL DATA MODEL</a:t>
            </a:r>
          </a:p>
        </p:txBody>
      </p:sp>
      <p:pic>
        <p:nvPicPr>
          <p:cNvPr id="2050" name="Picture 2" descr="University enterprise systems showing the integration of some of the... |  Download Scientific Diagram">
            <a:extLst>
              <a:ext uri="{FF2B5EF4-FFF2-40B4-BE49-F238E27FC236}">
                <a16:creationId xmlns:a16="http://schemas.microsoft.com/office/drawing/2014/main" id="{82B8D8D7-3387-41E0-B68E-BEA1C7480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585" y="1616363"/>
            <a:ext cx="3551985" cy="2386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a Distributed Database? {Features, Benefits &amp;amp; Drawbacks}">
            <a:extLst>
              <a:ext uri="{FF2B5EF4-FFF2-40B4-BE49-F238E27FC236}">
                <a16:creationId xmlns:a16="http://schemas.microsoft.com/office/drawing/2014/main" id="{D593D92E-DA32-46A0-BECF-99A711216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585" y="4258180"/>
            <a:ext cx="3551985" cy="202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2734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D2A8-1904-496A-B8A4-0A09567AC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D64F-B95D-4F57-897E-3E6C78AA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Used only for a certain period of time; </a:t>
            </a:r>
            <a:r>
              <a:rPr lang="en-GB" dirty="0">
                <a:solidFill>
                  <a:srgbClr val="0070C0"/>
                </a:solidFill>
              </a:rPr>
              <a:t>can be deleted when no longer needed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CD6EC-E41E-42A1-8572-971CDE11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51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695A7A-9247-4770-AB94-F42450BD663E}"/>
              </a:ext>
            </a:extLst>
          </p:cNvPr>
          <p:cNvSpPr txBox="1"/>
          <p:nvPr/>
        </p:nvSpPr>
        <p:spPr>
          <a:xfrm>
            <a:off x="5280213" y="107577"/>
            <a:ext cx="6827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PHYSICAL DATA MODEL</a:t>
            </a:r>
          </a:p>
        </p:txBody>
      </p:sp>
      <p:pic>
        <p:nvPicPr>
          <p:cNvPr id="6146" name="Picture 2" descr="Creating and Publishing Crystal Reports">
            <a:extLst>
              <a:ext uri="{FF2B5EF4-FFF2-40B4-BE49-F238E27FC236}">
                <a16:creationId xmlns:a16="http://schemas.microsoft.com/office/drawing/2014/main" id="{464F2AC9-5170-4A43-990E-D36F71463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541" y="2713223"/>
            <a:ext cx="5100918" cy="382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5400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E4B25-0CB3-43E4-9FEC-D2B2704B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description template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BC2FD04-5AF3-41CA-8B6D-0A9265E8C8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5376813"/>
              </p:ext>
            </p:extLst>
          </p:nvPr>
        </p:nvGraphicFramePr>
        <p:xfrm>
          <a:off x="304800" y="2020603"/>
          <a:ext cx="11519647" cy="390271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30331">
                  <a:extLst>
                    <a:ext uri="{9D8B030D-6E8A-4147-A177-3AD203B41FA5}">
                      <a16:colId xmlns:a16="http://schemas.microsoft.com/office/drawing/2014/main" val="744947456"/>
                    </a:ext>
                  </a:extLst>
                </a:gridCol>
                <a:gridCol w="1506161">
                  <a:extLst>
                    <a:ext uri="{9D8B030D-6E8A-4147-A177-3AD203B41FA5}">
                      <a16:colId xmlns:a16="http://schemas.microsoft.com/office/drawing/2014/main" val="1289621390"/>
                    </a:ext>
                  </a:extLst>
                </a:gridCol>
                <a:gridCol w="695151">
                  <a:extLst>
                    <a:ext uri="{9D8B030D-6E8A-4147-A177-3AD203B41FA5}">
                      <a16:colId xmlns:a16="http://schemas.microsoft.com/office/drawing/2014/main" val="1566816253"/>
                    </a:ext>
                  </a:extLst>
                </a:gridCol>
                <a:gridCol w="678599">
                  <a:extLst>
                    <a:ext uri="{9D8B030D-6E8A-4147-A177-3AD203B41FA5}">
                      <a16:colId xmlns:a16="http://schemas.microsoft.com/office/drawing/2014/main" val="2853873158"/>
                    </a:ext>
                  </a:extLst>
                </a:gridCol>
                <a:gridCol w="397229">
                  <a:extLst>
                    <a:ext uri="{9D8B030D-6E8A-4147-A177-3AD203B41FA5}">
                      <a16:colId xmlns:a16="http://schemas.microsoft.com/office/drawing/2014/main" val="2302757984"/>
                    </a:ext>
                  </a:extLst>
                </a:gridCol>
                <a:gridCol w="628947">
                  <a:extLst>
                    <a:ext uri="{9D8B030D-6E8A-4147-A177-3AD203B41FA5}">
                      <a16:colId xmlns:a16="http://schemas.microsoft.com/office/drawing/2014/main" val="796397597"/>
                    </a:ext>
                  </a:extLst>
                </a:gridCol>
                <a:gridCol w="711703">
                  <a:extLst>
                    <a:ext uri="{9D8B030D-6E8A-4147-A177-3AD203B41FA5}">
                      <a16:colId xmlns:a16="http://schemas.microsoft.com/office/drawing/2014/main" val="702033671"/>
                    </a:ext>
                  </a:extLst>
                </a:gridCol>
                <a:gridCol w="595843">
                  <a:extLst>
                    <a:ext uri="{9D8B030D-6E8A-4147-A177-3AD203B41FA5}">
                      <a16:colId xmlns:a16="http://schemas.microsoft.com/office/drawing/2014/main" val="2284062484"/>
                    </a:ext>
                  </a:extLst>
                </a:gridCol>
                <a:gridCol w="645497">
                  <a:extLst>
                    <a:ext uri="{9D8B030D-6E8A-4147-A177-3AD203B41FA5}">
                      <a16:colId xmlns:a16="http://schemas.microsoft.com/office/drawing/2014/main" val="1415809650"/>
                    </a:ext>
                  </a:extLst>
                </a:gridCol>
                <a:gridCol w="662049">
                  <a:extLst>
                    <a:ext uri="{9D8B030D-6E8A-4147-A177-3AD203B41FA5}">
                      <a16:colId xmlns:a16="http://schemas.microsoft.com/office/drawing/2014/main" val="907759842"/>
                    </a:ext>
                  </a:extLst>
                </a:gridCol>
                <a:gridCol w="579293">
                  <a:extLst>
                    <a:ext uri="{9D8B030D-6E8A-4147-A177-3AD203B41FA5}">
                      <a16:colId xmlns:a16="http://schemas.microsoft.com/office/drawing/2014/main" val="2560445265"/>
                    </a:ext>
                  </a:extLst>
                </a:gridCol>
                <a:gridCol w="695151">
                  <a:extLst>
                    <a:ext uri="{9D8B030D-6E8A-4147-A177-3AD203B41FA5}">
                      <a16:colId xmlns:a16="http://schemas.microsoft.com/office/drawing/2014/main" val="2818979627"/>
                    </a:ext>
                  </a:extLst>
                </a:gridCol>
                <a:gridCol w="777907">
                  <a:extLst>
                    <a:ext uri="{9D8B030D-6E8A-4147-A177-3AD203B41FA5}">
                      <a16:colId xmlns:a16="http://schemas.microsoft.com/office/drawing/2014/main" val="922613348"/>
                    </a:ext>
                  </a:extLst>
                </a:gridCol>
                <a:gridCol w="794459">
                  <a:extLst>
                    <a:ext uri="{9D8B030D-6E8A-4147-A177-3AD203B41FA5}">
                      <a16:colId xmlns:a16="http://schemas.microsoft.com/office/drawing/2014/main" val="1601300183"/>
                    </a:ext>
                  </a:extLst>
                </a:gridCol>
                <a:gridCol w="1721327">
                  <a:extLst>
                    <a:ext uri="{9D8B030D-6E8A-4147-A177-3AD203B41FA5}">
                      <a16:colId xmlns:a16="http://schemas.microsoft.com/office/drawing/2014/main" val="1269261775"/>
                    </a:ext>
                  </a:extLst>
                </a:gridCol>
              </a:tblGrid>
              <a:tr h="9867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Kiểu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Kích</a:t>
                      </a: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thước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lẻ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Miền</a:t>
                      </a: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mặc</a:t>
                      </a: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nhiên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Khóa</a:t>
                      </a: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Duy</a:t>
                      </a: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nhất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NULL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RB TV </a:t>
                      </a: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Luận</a:t>
                      </a: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RBTV </a:t>
                      </a: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Khóa</a:t>
                      </a: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ngoại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Diễn</a:t>
                      </a: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giải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extLst>
                  <a:ext uri="{0D108BD9-81ED-4DB2-BD59-A6C34878D82A}">
                    <a16:rowId xmlns:a16="http://schemas.microsoft.com/office/drawing/2014/main" val="295808367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CD_STT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[1, </a:t>
                      </a: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Kiểu số tự tăng dùng làm khóa chính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extLst>
                  <a:ext uri="{0D108BD9-81ED-4DB2-BD59-A6C34878D82A}">
                    <a16:rowId xmlns:a16="http://schemas.microsoft.com/office/drawing/2014/main" val="203248562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CD_CMND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chứng minh nhân dân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extLst>
                  <a:ext uri="{0D108BD9-81ED-4DB2-BD59-A6C34878D82A}">
                    <a16:rowId xmlns:a16="http://schemas.microsoft.com/office/drawing/2014/main" val="12546794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CD_HoTen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 tên công dân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extLst>
                  <a:ext uri="{0D108BD9-81ED-4DB2-BD59-A6C34878D82A}">
                    <a16:rowId xmlns:a16="http://schemas.microsoft.com/office/drawing/2014/main" val="3944114062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CD_GioiTinh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Giới tính, lưu nam hoặc nữ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extLst>
                  <a:ext uri="{0D108BD9-81ED-4DB2-BD59-A6C34878D82A}">
                    <a16:rowId xmlns:a16="http://schemas.microsoft.com/office/drawing/2014/main" val="2793555039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CD_NgaySinh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18 tuổi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 sinh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extLst>
                  <a:ext uri="{0D108BD9-81ED-4DB2-BD59-A6C34878D82A}">
                    <a16:rowId xmlns:a16="http://schemas.microsoft.com/office/drawing/2014/main" val="3005070420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CD_SoDienThoai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điện thoại di động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extLst>
                  <a:ext uri="{0D108BD9-81ED-4DB2-BD59-A6C34878D82A}">
                    <a16:rowId xmlns:a16="http://schemas.microsoft.com/office/drawing/2014/main" val="3665785253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CD_TrinhDoVanHoa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[1, 12]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văn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hóa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/>
                </a:tc>
                <a:extLst>
                  <a:ext uri="{0D108BD9-81ED-4DB2-BD59-A6C34878D82A}">
                    <a16:rowId xmlns:a16="http://schemas.microsoft.com/office/drawing/2014/main" val="413824935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53BED-9BFB-4E00-BAB6-710DEDBD4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52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E5AAB6-45F9-4EF2-910F-A40467BDD40C}"/>
              </a:ext>
            </a:extLst>
          </p:cNvPr>
          <p:cNvSpPr txBox="1"/>
          <p:nvPr/>
        </p:nvSpPr>
        <p:spPr>
          <a:xfrm>
            <a:off x="5280213" y="107577"/>
            <a:ext cx="6827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PHYSICAL DATA MODEL</a:t>
            </a:r>
          </a:p>
        </p:txBody>
      </p:sp>
    </p:spTree>
    <p:extLst>
      <p:ext uri="{BB962C8B-B14F-4D97-AF65-F5344CB8AC3E}">
        <p14:creationId xmlns:p14="http://schemas.microsoft.com/office/powerpoint/2010/main" val="1351425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5924</TotalTime>
  <Words>2602</Words>
  <Application>Microsoft Office PowerPoint</Application>
  <PresentationFormat>Widescreen</PresentationFormat>
  <Paragraphs>439</Paragraphs>
  <Slides>52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Calibri</vt:lpstr>
      <vt:lpstr>Calibri Light</vt:lpstr>
      <vt:lpstr>Times New Roman</vt:lpstr>
      <vt:lpstr>Wingdings</vt:lpstr>
      <vt:lpstr>Office Theme</vt:lpstr>
      <vt:lpstr>Bitmap Image</vt:lpstr>
      <vt:lpstr>SYSTEM ANALYSIS and DESIGN  Chapter 4: Data modelling</vt:lpstr>
      <vt:lpstr>Basic concepts</vt:lpstr>
      <vt:lpstr>PowerPoint Presentation</vt:lpstr>
      <vt:lpstr>PowerPoint Presentation</vt:lpstr>
      <vt:lpstr>Levels of data model abstraction</vt:lpstr>
      <vt:lpstr>Conceptual Data Model</vt:lpstr>
      <vt:lpstr>Logical Data Model</vt:lpstr>
      <vt:lpstr>Physical Data Model</vt:lpstr>
      <vt:lpstr>ENTITY – RELATIONSHIP DIAGRAM</vt:lpstr>
      <vt:lpstr>Roles of ERD</vt:lpstr>
      <vt:lpstr>ERD notation</vt:lpstr>
      <vt:lpstr>ERD notation</vt:lpstr>
      <vt:lpstr>Entity</vt:lpstr>
      <vt:lpstr>Attribute of an entity</vt:lpstr>
      <vt:lpstr>Attribute of an entity</vt:lpstr>
      <vt:lpstr>Entity instances</vt:lpstr>
      <vt:lpstr>Identifiers</vt:lpstr>
      <vt:lpstr>Generalization - Specialization</vt:lpstr>
      <vt:lpstr>Generalization - Specialization</vt:lpstr>
      <vt:lpstr>Relationships</vt:lpstr>
      <vt:lpstr>Cardinality</vt:lpstr>
      <vt:lpstr>Cardinality symbols</vt:lpstr>
      <vt:lpstr>Cardinality - Example</vt:lpstr>
      <vt:lpstr>Cardinality - Example</vt:lpstr>
      <vt:lpstr>Recursive Relationship</vt:lpstr>
      <vt:lpstr>Weak entity</vt:lpstr>
      <vt:lpstr>Weak entity</vt:lpstr>
      <vt:lpstr>Attribute relationship</vt:lpstr>
      <vt:lpstr>Attribute relationship</vt:lpstr>
      <vt:lpstr>Attribute relationship</vt:lpstr>
      <vt:lpstr>Attribute relationship</vt:lpstr>
      <vt:lpstr>N-ary relationship</vt:lpstr>
      <vt:lpstr>N-ary relationship</vt:lpstr>
      <vt:lpstr>Exercise</vt:lpstr>
      <vt:lpstr>LOGICAL DATA MODEL</vt:lpstr>
      <vt:lpstr>Design a Logical Data Model </vt:lpstr>
      <vt:lpstr>Rule 1: Mapping regular entity</vt:lpstr>
      <vt:lpstr>Rule 2: Converting Generalization Hierarchies</vt:lpstr>
      <vt:lpstr>Rule 3: Mapping weak entity</vt:lpstr>
      <vt:lpstr>Rule 4: Mapping Strong Dependency </vt:lpstr>
      <vt:lpstr>Rule 4</vt:lpstr>
      <vt:lpstr>Rule 5: Mapping Weak Dependency </vt:lpstr>
      <vt:lpstr>Rule 6: Mapping N, N Relationship</vt:lpstr>
      <vt:lpstr>Exercise 2</vt:lpstr>
      <vt:lpstr>PHYSICAL DATA MODEL</vt:lpstr>
      <vt:lpstr>Design a Physical Data Model </vt:lpstr>
      <vt:lpstr>Design a Physical Data Model</vt:lpstr>
      <vt:lpstr>Types of data</vt:lpstr>
      <vt:lpstr>Reference Data</vt:lpstr>
      <vt:lpstr>Transactional Data</vt:lpstr>
      <vt:lpstr>Temporal data</vt:lpstr>
      <vt:lpstr>Table description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THIẾT KẾ HỆ THỐNG  Chương 0: Giới thiệu học phần</dc:title>
  <dc:creator>Quoc Dinh Truong</dc:creator>
  <cp:lastModifiedBy>Quoc Dinh Truong</cp:lastModifiedBy>
  <cp:revision>458</cp:revision>
  <dcterms:created xsi:type="dcterms:W3CDTF">2021-07-03T03:36:42Z</dcterms:created>
  <dcterms:modified xsi:type="dcterms:W3CDTF">2025-10-21T00:26:20Z</dcterms:modified>
</cp:coreProperties>
</file>